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Default Extension="jpeg" ContentType="image/jpeg"/>
  <Override PartName="/ppt/slideLayouts/slideLayout2.xml" ContentType="application/vnd.openxmlformats-officedocument.presentationml.slideLayout+xml"/>
  <Override PartName="/ppt/slideLayouts/slideLayout3.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Default Extension="png" ContentType="image/pn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sldIdLst>
    <p:sldId id="256" r:id="rId2"/>
    <p:sldId id="257" r:id="rId3"/>
    <p:sldId id="258" r:id="rId4"/>
    <p:sldId id="261" r:id="rId5"/>
    <p:sldId id="262" r:id="rId6"/>
    <p:sldId id="259" r:id="rId7"/>
    <p:sldId id="260"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10" d="100"/>
          <a:sy n="110" d="100"/>
        </p:scale>
        <p:origin x="-1644" y="-90"/>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533400" y="1371600"/>
            <a:ext cx="7851648" cy="1828800"/>
          </a:xfrm>
          <a:ln>
            <a:noFill/>
          </a:ln>
        </p:spPr>
        <p:txBody>
          <a:bodyPr vert="horz" tIns="0" rIns="18288"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smtClean="0"/>
              <a:t>Click to edit Master title style</a:t>
            </a:r>
            <a:endParaRPr kumimoji="0" lang="en-US"/>
          </a:p>
        </p:txBody>
      </p:sp>
      <p:sp>
        <p:nvSpPr>
          <p:cNvPr id="17" name="Subtitle 16"/>
          <p:cNvSpPr>
            <a:spLocks noGrp="1"/>
          </p:cNvSpPr>
          <p:nvPr>
            <p:ph type="subTitle" idx="1"/>
          </p:nvPr>
        </p:nvSpPr>
        <p:spPr>
          <a:xfrm>
            <a:off x="533400" y="3228536"/>
            <a:ext cx="7854696" cy="1752600"/>
          </a:xfrm>
        </p:spPr>
        <p:txBody>
          <a:bodyPr lIns="0" rIns="18288"/>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30" name="Date Placeholder 29"/>
          <p:cNvSpPr>
            <a:spLocks noGrp="1"/>
          </p:cNvSpPr>
          <p:nvPr>
            <p:ph type="dt" sz="half" idx="10"/>
          </p:nvPr>
        </p:nvSpPr>
        <p:spPr/>
        <p:txBody>
          <a:bodyPr/>
          <a:lstStyle/>
          <a:p>
            <a:fld id="{1D8BD707-D9CF-40AE-B4C6-C98DA3205C09}" type="datetimeFigureOut">
              <a:rPr lang="en-US" smtClean="0"/>
              <a:pPr/>
              <a:t>7/28/2026</a:t>
            </a:fld>
            <a:endParaRPr lang="en-US"/>
          </a:p>
        </p:txBody>
      </p:sp>
      <p:sp>
        <p:nvSpPr>
          <p:cNvPr id="19" name="Footer Placeholder 18"/>
          <p:cNvSpPr>
            <a:spLocks noGrp="1"/>
          </p:cNvSpPr>
          <p:nvPr>
            <p:ph type="ftr" sz="quarter" idx="11"/>
          </p:nvPr>
        </p:nvSpPr>
        <p:spPr/>
        <p:txBody>
          <a:bodyPr/>
          <a:lstStyle/>
          <a:p>
            <a:endParaRPr lang="en-US"/>
          </a:p>
        </p:txBody>
      </p:sp>
      <p:sp>
        <p:nvSpPr>
          <p:cNvPr id="27" name="Slide Number Placeholder 26"/>
          <p:cNvSpPr>
            <a:spLocks noGrp="1"/>
          </p:cNvSpPr>
          <p:nvPr>
            <p:ph type="sldNum" sz="quarter" idx="12"/>
          </p:nvPr>
        </p:nvSpPr>
        <p:spPr/>
        <p:txBody>
          <a:bodyPr/>
          <a:lstStyle/>
          <a:p>
            <a:fld id="{B6F15528-21DE-4FAA-801E-634DDDAF4B2B}"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Content Placeholder 2"/>
          <p:cNvSpPr>
            <a:spLocks noGrp="1"/>
          </p:cNvSpPr>
          <p:nvPr>
            <p:ph idx="1"/>
          </p:nvPr>
        </p:nvSpPr>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530352" y="1316736"/>
            <a:ext cx="7772400" cy="1362456"/>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530352" y="2704664"/>
            <a:ext cx="7772400" cy="1509712"/>
          </a:xfrm>
        </p:spPr>
        <p:txBody>
          <a:bodyPr lIns="45720" rIns="4572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a:lstStyle/>
          <a:p>
            <a:r>
              <a:rPr kumimoji="0" lang="en-US" smtClean="0"/>
              <a:t>Click to edit Master title style</a:t>
            </a:r>
            <a:endParaRPr kumimoji="0" lang="en-US"/>
          </a:p>
        </p:txBody>
      </p:sp>
      <p:sp>
        <p:nvSpPr>
          <p:cNvPr id="3" name="Content Placeholder 2"/>
          <p:cNvSpPr>
            <a:spLocks noGrp="1"/>
          </p:cNvSpPr>
          <p:nvPr>
            <p:ph sz="half" idx="1"/>
          </p:nvPr>
        </p:nvSpPr>
        <p:spPr>
          <a:xfrm>
            <a:off x="457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4648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tIns="45720" anchor="b"/>
          <a:lstStyle>
            <a:lvl1pPr>
              <a:defRPr/>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1855248"/>
            <a:ext cx="4040188" cy="659352"/>
          </a:xfrm>
        </p:spPr>
        <p:txBody>
          <a:bodyPr lIns="45720" tIns="0" rIns="45720" bIns="0" anchor="ctr">
            <a:noAutofit/>
          </a:bodyP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645025" y="1859757"/>
            <a:ext cx="4041775" cy="654843"/>
          </a:xfrm>
        </p:spPr>
        <p:txBody>
          <a:bodyPr lIns="45720" tIns="0" rIns="45720" bIns="0" anchor="ct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457200" y="2514600"/>
            <a:ext cx="4040188"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645025" y="2514600"/>
            <a:ext cx="4041775"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p>
            <a:fld id="{1D8BD707-D9CF-40AE-B4C6-C98DA3205C09}" type="datetimeFigureOut">
              <a:rPr lang="en-US" smtClean="0"/>
              <a:pPr/>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305800" cy="1143000"/>
          </a:xfrm>
        </p:spPr>
        <p:txBody>
          <a:bodyPr vert="horz" tIns="45720"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j-lt"/>
                <a:ea typeface="+mj-ea"/>
                <a:cs typeface="+mj-cs"/>
              </a:defRPr>
            </a:lvl1pPr>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p>
            <a:fld id="{1D8BD707-D9CF-40AE-B4C6-C98DA3205C09}" type="datetimeFigureOut">
              <a:rPr lang="en-US" smtClean="0"/>
              <a:pPr/>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514352"/>
            <a:ext cx="2743200" cy="1162050"/>
          </a:xfrm>
        </p:spPr>
        <p:txBody>
          <a:bodyPr lIns="0" anchor="b">
            <a:noAutofit/>
          </a:bodyPr>
          <a:lstStyle>
            <a:lvl1pPr algn="l" rtl="0">
              <a:spcBef>
                <a:spcPct val="0"/>
              </a:spcBef>
              <a:buNone/>
              <a:defRPr sz="2600" b="0">
                <a:ln>
                  <a:noFill/>
                </a:ln>
                <a:solidFill>
                  <a:schemeClr val="tx2"/>
                </a:solidFill>
                <a:effectLst/>
                <a:latin typeface="+mj-lt"/>
                <a:ea typeface="+mj-ea"/>
                <a:cs typeface="+mj-cs"/>
              </a:defRPr>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685800" y="1676400"/>
            <a:ext cx="2743200" cy="4572000"/>
          </a:xfrm>
        </p:spPr>
        <p:txBody>
          <a:bodyPr lIns="18288" rIns="18288"/>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3575050" y="1676400"/>
            <a:ext cx="5111750" cy="4572000"/>
          </a:xfrm>
        </p:spPr>
        <p:txBody>
          <a:bodyPr tIns="0"/>
          <a:lstStyle>
            <a:lvl1pPr>
              <a:defRPr sz="2800"/>
            </a:lvl1pPr>
            <a:lvl2pPr>
              <a:defRPr sz="2600"/>
            </a:lvl2pPr>
            <a:lvl3pPr>
              <a:defRPr sz="2400"/>
            </a:lvl3pPr>
            <a:lvl4pPr>
              <a:defRPr sz="20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3165753" y="1108077"/>
            <a:ext cx="52578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ight Triangle 11"/>
          <p:cNvSpPr/>
          <p:nvPr/>
        </p:nvSpPr>
        <p:spPr>
          <a:xfrm rot="420000" flipV="1">
            <a:off x="8004134" y="5359769"/>
            <a:ext cx="155448"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609600" y="1176996"/>
            <a:ext cx="2212848" cy="1582621"/>
          </a:xfrm>
        </p:spPr>
        <p:txBody>
          <a:bodyPr vert="horz" lIns="45720" tIns="45720" rIns="45720" bIns="45720" anchor="b"/>
          <a:lstStyle>
            <a:lvl1pPr algn="l">
              <a:buNone/>
              <a:defRPr sz="2000" b="1">
                <a:solidFill>
                  <a:schemeClr val="tx2"/>
                </a:solidFill>
              </a:defRPr>
            </a:lvl1pPr>
          </a:lstStyle>
          <a:p>
            <a:r>
              <a:rPr kumimoji="0" lang="en-US" smtClean="0"/>
              <a:t>Click to edit Master title style</a:t>
            </a:r>
            <a:endParaRPr kumimoji="0" lang="en-US"/>
          </a:p>
        </p:txBody>
      </p:sp>
      <p:sp>
        <p:nvSpPr>
          <p:cNvPr id="4" name="Text Placeholder 3"/>
          <p:cNvSpPr>
            <a:spLocks noGrp="1"/>
          </p:cNvSpPr>
          <p:nvPr>
            <p:ph type="body" sz="half" idx="2"/>
          </p:nvPr>
        </p:nvSpPr>
        <p:spPr>
          <a:xfrm>
            <a:off x="609600" y="2828785"/>
            <a:ext cx="2209800" cy="2179320"/>
          </a:xfrm>
        </p:spPr>
        <p:txBody>
          <a:bodyPr lIns="64008" rIns="45720" bIns="45720" anchor="t"/>
          <a:lstStyle>
            <a:lvl1pPr marL="0" indent="0" algn="l">
              <a:spcBef>
                <a:spcPts val="250"/>
              </a:spcBef>
              <a:buFontTx/>
              <a:buNone/>
              <a:defRPr sz="1300"/>
            </a:lvl1pPr>
            <a:lvl2pPr>
              <a:defRPr sz="1200"/>
            </a:lvl2pPr>
            <a:lvl3pPr>
              <a:defRPr sz="1000"/>
            </a:lvl3pPr>
            <a:lvl4pPr>
              <a:defRPr sz="900"/>
            </a:lvl4pPr>
            <a:lvl5pPr>
              <a:defRPr sz="900"/>
            </a:lvl5pPr>
          </a:lstStyle>
          <a:p>
            <a:pPr lvl="0" eaLnBrk="1" latinLnBrk="0" hangingPunct="1"/>
            <a:r>
              <a:rPr kumimoji="0"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8077200" y="6356350"/>
            <a:ext cx="609600" cy="365125"/>
          </a:xfrm>
        </p:spPr>
        <p:txBody>
          <a:bodyPr/>
          <a:lstStyle/>
          <a:p>
            <a:fld id="{B6F15528-21DE-4FAA-801E-634DDDAF4B2B}" type="slidenum">
              <a:rPr lang="en-US" smtClean="0"/>
              <a:pPr/>
              <a:t>‹#›</a:t>
            </a:fld>
            <a:endParaRPr lang="en-US"/>
          </a:p>
        </p:txBody>
      </p:sp>
      <p:sp>
        <p:nvSpPr>
          <p:cNvPr id="3" name="Picture Placeholder 2"/>
          <p:cNvSpPr>
            <a:spLocks noGrp="1"/>
          </p:cNvSpPr>
          <p:nvPr>
            <p:ph type="pic" idx="1"/>
          </p:nvPr>
        </p:nvSpPr>
        <p:spPr>
          <a:xfrm rot="420000">
            <a:off x="3485793" y="1199517"/>
            <a:ext cx="4617720" cy="3931920"/>
          </a:xfrm>
          <a:prstGeom prst="rect">
            <a:avLst/>
          </a:prstGeom>
          <a:solidFill>
            <a:schemeClr val="bg2"/>
          </a:solidFill>
          <a:ln w="3000" cap="rnd">
            <a:solidFill>
              <a:srgbClr val="C0C0C0"/>
            </a:solidFill>
            <a:round/>
          </a:ln>
          <a:effectLst/>
        </p:spPr>
        <p:txBody>
          <a:bodyPr/>
          <a:lstStyle>
            <a:lvl1pPr marL="0" indent="0">
              <a:buNone/>
              <a:defRPr sz="3200"/>
            </a:lvl1pPr>
          </a:lstStyle>
          <a:p>
            <a:r>
              <a:rPr kumimoji="0" lang="en-US" smtClean="0"/>
              <a:t>Click icon to add picture</a:t>
            </a:r>
            <a:endParaRPr kumimoji="0" lang="en-US" dirty="0"/>
          </a:p>
        </p:txBody>
      </p:sp>
      <p:sp>
        <p:nvSpPr>
          <p:cNvPr id="10" name="Freeform 9"/>
          <p:cNvSpPr>
            <a:spLocks/>
          </p:cNvSpPr>
          <p:nvPr/>
        </p:nvSpPr>
        <p:spPr bwMode="auto">
          <a:xfrm flipV="1">
            <a:off x="-9525" y="5816600"/>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11" name="Freeform 10"/>
          <p:cNvSpPr>
            <a:spLocks/>
          </p:cNvSpPr>
          <p:nvPr/>
        </p:nvSpPr>
        <p:spPr bwMode="auto">
          <a:xfrm flipV="1">
            <a:off x="4381500" y="6219825"/>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914401"/>
            <a:ext cx="2057400" cy="5211763"/>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914401"/>
            <a:ext cx="6019800" cy="5211763"/>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9525" y="-7144"/>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8" name="Freeform 7"/>
          <p:cNvSpPr>
            <a:spLocks/>
          </p:cNvSpPr>
          <p:nvPr/>
        </p:nvSpPr>
        <p:spPr bwMode="auto">
          <a:xfrm>
            <a:off x="4381500" y="-7144"/>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9" name="Title Placeholder 8"/>
          <p:cNvSpPr>
            <a:spLocks noGrp="1"/>
          </p:cNvSpPr>
          <p:nvPr>
            <p:ph type="title"/>
          </p:nvPr>
        </p:nvSpPr>
        <p:spPr>
          <a:xfrm>
            <a:off x="457200" y="704088"/>
            <a:ext cx="8229600" cy="1143000"/>
          </a:xfrm>
          <a:prstGeom prst="rect">
            <a:avLst/>
          </a:prstGeom>
        </p:spPr>
        <p:txBody>
          <a:bodyPr vert="horz" lIns="0" rIns="0" bIns="0" anchor="b">
            <a:normAutofit/>
          </a:bodyPr>
          <a:lstStyle/>
          <a:p>
            <a:r>
              <a:rPr kumimoji="0" lang="en-US" smtClean="0"/>
              <a:t>Click to edit Master title style</a:t>
            </a:r>
            <a:endParaRPr kumimoji="0" lang="en-US"/>
          </a:p>
        </p:txBody>
      </p:sp>
      <p:sp>
        <p:nvSpPr>
          <p:cNvPr id="30" name="Text Placeholder 29"/>
          <p:cNvSpPr>
            <a:spLocks noGrp="1"/>
          </p:cNvSpPr>
          <p:nvPr>
            <p:ph type="body" idx="1"/>
          </p:nvPr>
        </p:nvSpPr>
        <p:spPr>
          <a:xfrm>
            <a:off x="457200" y="1935480"/>
            <a:ext cx="8229600" cy="438912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10" name="Date Placeholder 9"/>
          <p:cNvSpPr>
            <a:spLocks noGrp="1"/>
          </p:cNvSpPr>
          <p:nvPr>
            <p:ph type="dt" sz="half" idx="2"/>
          </p:nvPr>
        </p:nvSpPr>
        <p:spPr>
          <a:xfrm>
            <a:off x="457200" y="6356350"/>
            <a:ext cx="21336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fld id="{1D8BD707-D9CF-40AE-B4C6-C98DA3205C09}" type="datetimeFigureOut">
              <a:rPr lang="en-US" smtClean="0"/>
              <a:pPr/>
              <a:t>7/28/2026</a:t>
            </a:fld>
            <a:endParaRPr lang="en-US"/>
          </a:p>
        </p:txBody>
      </p:sp>
      <p:sp>
        <p:nvSpPr>
          <p:cNvPr id="22" name="Footer Placeholder 21"/>
          <p:cNvSpPr>
            <a:spLocks noGrp="1"/>
          </p:cNvSpPr>
          <p:nvPr>
            <p:ph type="ftr" sz="quarter" idx="3"/>
          </p:nvPr>
        </p:nvSpPr>
        <p:spPr>
          <a:xfrm>
            <a:off x="2667000" y="6356350"/>
            <a:ext cx="33528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endParaRPr lang="en-US"/>
          </a:p>
        </p:txBody>
      </p:sp>
      <p:sp>
        <p:nvSpPr>
          <p:cNvPr id="18" name="Slide Number Placeholder 17"/>
          <p:cNvSpPr>
            <a:spLocks noGrp="1"/>
          </p:cNvSpPr>
          <p:nvPr>
            <p:ph type="sldNum" sz="quarter" idx="4"/>
          </p:nvPr>
        </p:nvSpPr>
        <p:spPr>
          <a:xfrm>
            <a:off x="7924800" y="6356350"/>
            <a:ext cx="762000" cy="365125"/>
          </a:xfrm>
          <a:prstGeom prst="rect">
            <a:avLst/>
          </a:prstGeom>
        </p:spPr>
        <p:txBody>
          <a:bodyPr vert="horz" lIns="0" tIns="0" rIns="0" bIns="0" anchor="b"/>
          <a:lstStyle>
            <a:lvl1pPr algn="r" eaLnBrk="1" latinLnBrk="0" hangingPunct="1">
              <a:defRPr kumimoji="0" sz="1200">
                <a:solidFill>
                  <a:schemeClr val="tx2">
                    <a:shade val="90000"/>
                  </a:schemeClr>
                </a:solidFill>
              </a:defRPr>
            </a:lvl1pPr>
          </a:lstStyle>
          <a:p>
            <a:fld id="{B6F15528-21DE-4FAA-801E-634DDDAF4B2B}" type="slidenum">
              <a:rPr lang="en-US" smtClean="0"/>
              <a:pPr/>
              <a:t>‹#›</a:t>
            </a:fld>
            <a:endParaRPr lang="en-US"/>
          </a:p>
        </p:txBody>
      </p:sp>
      <p:grpSp>
        <p:nvGrpSpPr>
          <p:cNvPr id="2" name="Group 1"/>
          <p:cNvGrpSpPr/>
          <p:nvPr/>
        </p:nvGrpSpPr>
        <p:grpSpPr>
          <a:xfrm>
            <a:off x="-19017" y="202408"/>
            <a:ext cx="9180548" cy="649224"/>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gr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rtl="0" eaLnBrk="1" latinLnBrk="0" hangingPunct="1">
        <a:spcBef>
          <a:spcPct val="0"/>
        </a:spcBef>
        <a:buNone/>
        <a:defRPr kumimoji="0" sz="5000" b="0" kern="1200">
          <a:ln>
            <a:noFill/>
          </a:ln>
          <a:solidFill>
            <a:schemeClr val="tx2"/>
          </a:solidFill>
          <a:effectLst/>
          <a:latin typeface="+mj-lt"/>
          <a:ea typeface="+mj-ea"/>
          <a:cs typeface="+mj-cs"/>
        </a:defRPr>
      </a:lvl1pPr>
    </p:titleStyle>
    <p:body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geeksforgeeks.org/dsa/tree-traversals-inorder-preorder-and-postorder/"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geeksforgeeks.org/dsa/how-to-solve-time-complexity-recurrence-relations-using-recursion-tree-method/"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pPr algn="ctr"/>
            <a:r>
              <a:rPr lang="en-US" dirty="0" smtClean="0"/>
              <a:t>Recursive Algorithms- Recurrence relations</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667512"/>
          </a:xfrm>
        </p:spPr>
        <p:txBody>
          <a:bodyPr>
            <a:normAutofit/>
          </a:bodyPr>
          <a:lstStyle/>
          <a:p>
            <a:r>
              <a:rPr lang="en-US" sz="3600" dirty="0" smtClean="0"/>
              <a:t>Recursive Algorithms- Recurrence relations</a:t>
            </a:r>
            <a:endParaRPr lang="en-US" sz="3600" dirty="0"/>
          </a:p>
        </p:txBody>
      </p:sp>
      <p:sp>
        <p:nvSpPr>
          <p:cNvPr id="3" name="Content Placeholder 2"/>
          <p:cNvSpPr>
            <a:spLocks noGrp="1"/>
          </p:cNvSpPr>
          <p:nvPr>
            <p:ph idx="1"/>
          </p:nvPr>
        </p:nvSpPr>
        <p:spPr/>
        <p:txBody>
          <a:bodyPr/>
          <a:lstStyle/>
          <a:p>
            <a:r>
              <a:rPr lang="en-US" dirty="0" smtClean="0"/>
              <a:t>Recursive algorithm is which calls itself directly or indirectly</a:t>
            </a:r>
          </a:p>
          <a:p>
            <a:r>
              <a:rPr lang="en-US" dirty="0" smtClean="0"/>
              <a:t>Recurrence Relation: “A relation which can be represented by using its previous results”</a:t>
            </a:r>
          </a:p>
          <a:p>
            <a:r>
              <a:rPr lang="en-US" dirty="0" smtClean="0"/>
              <a:t>We use recurrence relations to find the time complexity of Recursive algorithms.</a:t>
            </a:r>
          </a:p>
          <a:p>
            <a:r>
              <a:rPr lang="en-US" dirty="0" smtClean="0"/>
              <a:t>We may </a:t>
            </a:r>
            <a:r>
              <a:rPr lang="en-US" dirty="0" err="1" smtClean="0"/>
              <a:t>reperesent</a:t>
            </a:r>
            <a:r>
              <a:rPr lang="en-US" dirty="0" smtClean="0"/>
              <a:t> the time taken by recursive algorithms using the equations called recurrence relations , and we find the time complexity of recursive algorithms by solving the recurrence relations</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457200"/>
            <a:ext cx="8229600" cy="591312"/>
          </a:xfrm>
        </p:spPr>
        <p:txBody>
          <a:bodyPr>
            <a:normAutofit fontScale="90000"/>
          </a:bodyPr>
          <a:lstStyle/>
          <a:p>
            <a:r>
              <a:rPr lang="en-US" dirty="0" smtClean="0"/>
              <a:t>Recurrence Relation</a:t>
            </a:r>
            <a:endParaRPr lang="en-US" dirty="0"/>
          </a:p>
        </p:txBody>
      </p:sp>
      <p:pic>
        <p:nvPicPr>
          <p:cNvPr id="1030" name="Picture 6"/>
          <p:cNvPicPr>
            <a:picLocks noGrp="1" noChangeAspect="1" noChangeArrowheads="1"/>
          </p:cNvPicPr>
          <p:nvPr>
            <p:ph idx="1"/>
          </p:nvPr>
        </p:nvPicPr>
        <p:blipFill>
          <a:blip r:embed="rId2" cstate="print"/>
          <a:srcRect/>
          <a:stretch>
            <a:fillRect/>
          </a:stretch>
        </p:blipFill>
        <p:spPr bwMode="auto">
          <a:xfrm>
            <a:off x="1524000" y="1143462"/>
            <a:ext cx="5080530" cy="5485938"/>
          </a:xfrm>
          <a:prstGeom prst="rect">
            <a:avLst/>
          </a:prstGeom>
          <a:noFill/>
          <a:ln w="9525">
            <a:noFill/>
            <a:miter lim="800000"/>
            <a:headEnd/>
            <a:tailEnd/>
          </a:ln>
        </p:spPr>
      </p:pic>
      <p:pic>
        <p:nvPicPr>
          <p:cNvPr id="10" name="Picture 2"/>
          <p:cNvPicPr>
            <a:picLocks noChangeAspect="1" noChangeArrowheads="1"/>
          </p:cNvPicPr>
          <p:nvPr/>
        </p:nvPicPr>
        <p:blipFill>
          <a:blip r:embed="rId3" cstate="print"/>
          <a:srcRect/>
          <a:stretch>
            <a:fillRect/>
          </a:stretch>
        </p:blipFill>
        <p:spPr bwMode="auto">
          <a:xfrm>
            <a:off x="3886200" y="1905001"/>
            <a:ext cx="533400" cy="404352"/>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Grp="1" noChangeAspect="1" noChangeArrowheads="1"/>
          </p:cNvPicPr>
          <p:nvPr>
            <p:ph idx="1"/>
          </p:nvPr>
        </p:nvPicPr>
        <p:blipFill>
          <a:blip r:embed="rId2" cstate="print"/>
          <a:srcRect/>
          <a:stretch>
            <a:fillRect/>
          </a:stretch>
        </p:blipFill>
        <p:spPr bwMode="auto">
          <a:xfrm>
            <a:off x="1143000" y="769807"/>
            <a:ext cx="6095999" cy="5973466"/>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Grp="1" noChangeAspect="1" noChangeArrowheads="1"/>
          </p:cNvPicPr>
          <p:nvPr>
            <p:ph idx="1"/>
          </p:nvPr>
        </p:nvPicPr>
        <p:blipFill>
          <a:blip r:embed="rId2" cstate="print"/>
          <a:srcRect/>
          <a:stretch>
            <a:fillRect/>
          </a:stretch>
        </p:blipFill>
        <p:spPr bwMode="auto">
          <a:xfrm>
            <a:off x="304800" y="1752600"/>
            <a:ext cx="8558554" cy="2465861"/>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591312"/>
          </a:xfrm>
        </p:spPr>
        <p:txBody>
          <a:bodyPr>
            <a:normAutofit fontScale="90000"/>
          </a:bodyPr>
          <a:lstStyle/>
          <a:p>
            <a:r>
              <a:rPr lang="en-US" dirty="0" smtClean="0"/>
              <a:t>Solving Recurrence Relations</a:t>
            </a:r>
            <a:endParaRPr lang="en-US" dirty="0"/>
          </a:p>
        </p:txBody>
      </p:sp>
      <p:sp>
        <p:nvSpPr>
          <p:cNvPr id="3" name="Content Placeholder 2"/>
          <p:cNvSpPr>
            <a:spLocks noGrp="1"/>
          </p:cNvSpPr>
          <p:nvPr>
            <p:ph idx="1"/>
          </p:nvPr>
        </p:nvSpPr>
        <p:spPr>
          <a:xfrm>
            <a:off x="457200" y="1524000"/>
            <a:ext cx="8229600" cy="4953000"/>
          </a:xfrm>
        </p:spPr>
        <p:txBody>
          <a:bodyPr>
            <a:normAutofit/>
          </a:bodyPr>
          <a:lstStyle/>
          <a:p>
            <a:r>
              <a:rPr lang="en-US" dirty="0" smtClean="0"/>
              <a:t>Recurrence relations can be solved by 3 methods </a:t>
            </a:r>
          </a:p>
          <a:p>
            <a:endParaRPr lang="en-US" dirty="0" smtClean="0"/>
          </a:p>
          <a:p>
            <a:pPr>
              <a:buNone/>
            </a:pPr>
            <a:r>
              <a:rPr lang="en-US" dirty="0" smtClean="0"/>
              <a:t>1. </a:t>
            </a:r>
            <a:r>
              <a:rPr lang="en-US" b="1" dirty="0" smtClean="0"/>
              <a:t>Substitution Method</a:t>
            </a:r>
            <a:r>
              <a:rPr lang="en-US" dirty="0" smtClean="0"/>
              <a:t>: We guess the form of the solution and prove it using mathematical induction.</a:t>
            </a:r>
          </a:p>
          <a:p>
            <a:pPr>
              <a:buNone/>
            </a:pPr>
            <a:r>
              <a:rPr lang="en-US" dirty="0" smtClean="0"/>
              <a:t>2. </a:t>
            </a:r>
            <a:r>
              <a:rPr lang="en-US" b="1" dirty="0" smtClean="0"/>
              <a:t>Recursion tree Method</a:t>
            </a:r>
            <a:r>
              <a:rPr lang="en-US" dirty="0" smtClean="0"/>
              <a:t>: This method represents the recurrence as a tree and computes the total cost by summing the cost at each level. </a:t>
            </a:r>
          </a:p>
          <a:p>
            <a:pPr>
              <a:buNone/>
            </a:pPr>
            <a:r>
              <a:rPr lang="en-US" dirty="0" smtClean="0"/>
              <a:t>3. </a:t>
            </a:r>
            <a:r>
              <a:rPr lang="en-US" b="1" dirty="0" err="1" smtClean="0"/>
              <a:t>Mastrer’s</a:t>
            </a:r>
            <a:r>
              <a:rPr lang="en-US" b="1" dirty="0" smtClean="0"/>
              <a:t> Method</a:t>
            </a:r>
            <a:r>
              <a:rPr lang="en-US" dirty="0" smtClean="0"/>
              <a:t>: The Master Theorem provides a direct way to solve divide-and-conquer recurrences of the form:</a:t>
            </a:r>
            <a:br>
              <a:rPr lang="en-US" dirty="0" smtClean="0"/>
            </a:br>
            <a:r>
              <a:rPr lang="en-US" dirty="0" smtClean="0"/>
              <a:t>T(n) = </a:t>
            </a:r>
            <a:r>
              <a:rPr lang="en-US" dirty="0" err="1" smtClean="0"/>
              <a:t>aT</a:t>
            </a:r>
            <a:r>
              <a:rPr lang="en-US" dirty="0" smtClean="0"/>
              <a:t>(n/b) + f(n).</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600200"/>
            <a:ext cx="8229600" cy="4724400"/>
          </a:xfrm>
        </p:spPr>
        <p:txBody>
          <a:bodyPr/>
          <a:lstStyle/>
          <a:p>
            <a:pPr fontAlgn="base"/>
            <a:r>
              <a:rPr lang="en-US" dirty="0" smtClean="0"/>
              <a:t>The Substitution Method is a technique used to find the time complexity of recursive algorithms by expanding the recurrence relation, identifying a pattern, and then proving the result using mathematical induction.</a:t>
            </a:r>
          </a:p>
          <a:p>
            <a:pPr fontAlgn="base"/>
            <a:r>
              <a:rPr lang="en-US" dirty="0" smtClean="0"/>
              <a:t>Understand how the recursion works.</a:t>
            </a:r>
          </a:p>
          <a:p>
            <a:pPr fontAlgn="base"/>
            <a:r>
              <a:rPr lang="en-US" dirty="0" smtClean="0"/>
              <a:t>Write the recurrence relation.</a:t>
            </a:r>
          </a:p>
          <a:p>
            <a:pPr fontAlgn="base"/>
            <a:r>
              <a:rPr lang="en-US" dirty="0" smtClean="0"/>
              <a:t>Guess the solution based on the recursion pattern.</a:t>
            </a:r>
          </a:p>
          <a:p>
            <a:pPr fontAlgn="base"/>
            <a:r>
              <a:rPr lang="en-US" dirty="0" smtClean="0"/>
              <a:t>Verify the guessed solution using Mathematical induction</a:t>
            </a:r>
          </a:p>
          <a:p>
            <a:endParaRPr lang="en-US" dirty="0"/>
          </a:p>
        </p:txBody>
      </p:sp>
      <p:sp>
        <p:nvSpPr>
          <p:cNvPr id="4" name="Title 3"/>
          <p:cNvSpPr>
            <a:spLocks noGrp="1"/>
          </p:cNvSpPr>
          <p:nvPr>
            <p:ph type="title"/>
          </p:nvPr>
        </p:nvSpPr>
        <p:spPr/>
        <p:txBody>
          <a:bodyPr>
            <a:noAutofit/>
          </a:bodyPr>
          <a:lstStyle/>
          <a:p>
            <a:r>
              <a:rPr lang="en-US" sz="4000" b="1" dirty="0" smtClean="0"/>
              <a:t>Substitution Method for Recurrences</a:t>
            </a:r>
            <a:br>
              <a:rPr lang="en-US" sz="4000" b="1" dirty="0" smtClean="0"/>
            </a:b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304800"/>
            <a:ext cx="8229600" cy="591312"/>
          </a:xfrm>
        </p:spPr>
        <p:txBody>
          <a:bodyPr>
            <a:noAutofit/>
          </a:bodyPr>
          <a:lstStyle/>
          <a:p>
            <a:r>
              <a:rPr lang="en-US" sz="4000" b="1" dirty="0" smtClean="0"/>
              <a:t>Substitution Method</a:t>
            </a:r>
            <a:endParaRPr lang="en-US" sz="4000" dirty="0"/>
          </a:p>
        </p:txBody>
      </p:sp>
      <p:sp>
        <p:nvSpPr>
          <p:cNvPr id="3" name="Content Placeholder 2"/>
          <p:cNvSpPr>
            <a:spLocks noGrp="1"/>
          </p:cNvSpPr>
          <p:nvPr>
            <p:ph idx="1"/>
          </p:nvPr>
        </p:nvSpPr>
        <p:spPr>
          <a:xfrm>
            <a:off x="457200" y="990600"/>
            <a:ext cx="8229600" cy="5638800"/>
          </a:xfrm>
        </p:spPr>
        <p:txBody>
          <a:bodyPr>
            <a:normAutofit fontScale="85000" lnSpcReduction="10000"/>
          </a:bodyPr>
          <a:lstStyle/>
          <a:p>
            <a:pPr>
              <a:buNone/>
            </a:pPr>
            <a:r>
              <a:rPr lang="en-US" dirty="0" smtClean="0"/>
              <a:t>void fun(</a:t>
            </a:r>
            <a:r>
              <a:rPr lang="en-US" dirty="0" err="1" smtClean="0"/>
              <a:t>int</a:t>
            </a:r>
            <a:r>
              <a:rPr lang="en-US" dirty="0" smtClean="0"/>
              <a:t> n) {</a:t>
            </a:r>
          </a:p>
          <a:p>
            <a:pPr>
              <a:buNone/>
            </a:pPr>
            <a:r>
              <a:rPr lang="en-US" dirty="0" smtClean="0"/>
              <a:t>    if (n &lt;= 0)</a:t>
            </a:r>
          </a:p>
          <a:p>
            <a:pPr>
              <a:buNone/>
            </a:pPr>
            <a:r>
              <a:rPr lang="en-US" dirty="0" smtClean="0"/>
              <a:t>        return;</a:t>
            </a:r>
          </a:p>
          <a:p>
            <a:pPr>
              <a:buNone/>
            </a:pPr>
            <a:r>
              <a:rPr lang="en-US" dirty="0" smtClean="0"/>
              <a:t>    </a:t>
            </a:r>
            <a:r>
              <a:rPr lang="en-US" dirty="0" err="1" smtClean="0"/>
              <a:t>cout</a:t>
            </a:r>
            <a:r>
              <a:rPr lang="en-US" dirty="0" smtClean="0"/>
              <a:t> &lt;&lt; "GFG";</a:t>
            </a:r>
          </a:p>
          <a:p>
            <a:pPr>
              <a:buNone/>
            </a:pPr>
            <a:r>
              <a:rPr lang="en-US" dirty="0" smtClean="0"/>
              <a:t>    fun(n / 2);</a:t>
            </a:r>
          </a:p>
          <a:p>
            <a:pPr>
              <a:buNone/>
            </a:pPr>
            <a:r>
              <a:rPr lang="en-US" dirty="0" smtClean="0"/>
              <a:t>    fun(n / 2);</a:t>
            </a:r>
          </a:p>
          <a:p>
            <a:pPr>
              <a:buNone/>
            </a:pPr>
            <a:r>
              <a:rPr lang="en-US" dirty="0" smtClean="0"/>
              <a:t>}</a:t>
            </a:r>
          </a:p>
          <a:p>
            <a:pPr fontAlgn="base">
              <a:buNone/>
            </a:pPr>
            <a:r>
              <a:rPr lang="en-US" b="1" dirty="0" smtClean="0"/>
              <a:t>Understanding the Recursion for This Code</a:t>
            </a:r>
          </a:p>
          <a:p>
            <a:pPr fontAlgn="base"/>
            <a:r>
              <a:rPr lang="en-US" dirty="0" smtClean="0"/>
              <a:t>The function prints "GFG" once for each call.</a:t>
            </a:r>
          </a:p>
          <a:p>
            <a:pPr fontAlgn="base"/>
            <a:r>
              <a:rPr lang="en-US" dirty="0" smtClean="0"/>
              <a:t>It makes two recursive calls, each with input size n/2.</a:t>
            </a:r>
          </a:p>
          <a:p>
            <a:pPr fontAlgn="base"/>
            <a:r>
              <a:rPr lang="en-US" dirty="0" smtClean="0"/>
              <a:t>The recursion stops when n &lt;= 0.</a:t>
            </a:r>
          </a:p>
          <a:p>
            <a:pPr fontAlgn="base">
              <a:buNone/>
            </a:pPr>
            <a:r>
              <a:rPr lang="en-US" b="1" dirty="0" smtClean="0"/>
              <a:t>Writing the Recurrence Relation</a:t>
            </a:r>
          </a:p>
          <a:p>
            <a:pPr fontAlgn="base"/>
            <a:r>
              <a:rPr lang="en-US" dirty="0" smtClean="0"/>
              <a:t>The work done in each function call is constant (printing "GFG"), and the function makes two recursive calls of size n/2. Therefore, the recurrence relation is: T(n) = 2T(n/2) + O(1)</a:t>
            </a:r>
          </a:p>
          <a:p>
            <a:pPr>
              <a:buNone/>
            </a:pP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81000"/>
            <a:ext cx="8229600" cy="6172200"/>
          </a:xfrm>
        </p:spPr>
        <p:txBody>
          <a:bodyPr>
            <a:normAutofit fontScale="77500" lnSpcReduction="20000"/>
          </a:bodyPr>
          <a:lstStyle/>
          <a:p>
            <a:pPr fontAlgn="base">
              <a:buNone/>
            </a:pPr>
            <a:r>
              <a:rPr lang="en-US" b="1" dirty="0" smtClean="0"/>
              <a:t>Applying the Substitution Method</a:t>
            </a:r>
          </a:p>
          <a:p>
            <a:pPr fontAlgn="base"/>
            <a:r>
              <a:rPr lang="en-US" dirty="0" smtClean="0"/>
              <a:t>To guess the solution of the recurrence, we analyze the number of recursive calls made by the function.</a:t>
            </a:r>
            <a:br>
              <a:rPr lang="en-US" dirty="0" smtClean="0"/>
            </a:br>
            <a:r>
              <a:rPr lang="en-US" dirty="0" smtClean="0"/>
              <a:t>Each function call performs only constant work and splits the problem into two </a:t>
            </a:r>
            <a:r>
              <a:rPr lang="en-US" dirty="0" err="1" smtClean="0"/>
              <a:t>subproblems</a:t>
            </a:r>
            <a:r>
              <a:rPr lang="en-US" dirty="0" smtClean="0"/>
              <a:t> of size n/2.</a:t>
            </a:r>
            <a:br>
              <a:rPr lang="en-US" dirty="0" smtClean="0"/>
            </a:br>
            <a:r>
              <a:rPr lang="en-US" dirty="0" smtClean="0"/>
              <a:t>As the recursion continues, the number of function calls doubles at each level, and the recursion stops when the input size becomes constant, which happens after about log n levels.</a:t>
            </a:r>
          </a:p>
          <a:p>
            <a:pPr fontAlgn="base"/>
            <a:r>
              <a:rPr lang="en-US" dirty="0" smtClean="0"/>
              <a:t>Hence, we guess that the time complexity is T(n) = O(n).</a:t>
            </a:r>
          </a:p>
          <a:p>
            <a:pPr fontAlgn="base"/>
            <a:r>
              <a:rPr lang="en-US" dirty="0" smtClean="0"/>
              <a:t>Now, we verify this guess.</a:t>
            </a:r>
            <a:br>
              <a:rPr lang="en-US" dirty="0" smtClean="0"/>
            </a:br>
            <a:r>
              <a:rPr lang="en-US" dirty="0" smtClean="0"/>
              <a:t>Assume that for some constant c &gt; 0: T(n) ≤ </a:t>
            </a:r>
            <a:r>
              <a:rPr lang="en-US" dirty="0" err="1" smtClean="0"/>
              <a:t>cn</a:t>
            </a:r>
            <a:endParaRPr lang="en-US" dirty="0" smtClean="0"/>
          </a:p>
          <a:p>
            <a:pPr fontAlgn="base"/>
            <a:r>
              <a:rPr lang="en-US" dirty="0" smtClean="0"/>
              <a:t>Assume that this holds for smaller values of n, particularly for n/2: T(n/2) ≤ c(n/2)</a:t>
            </a:r>
          </a:p>
          <a:p>
            <a:pPr fontAlgn="base"/>
            <a:r>
              <a:rPr lang="en-US" dirty="0" smtClean="0"/>
              <a:t>Substituting into the recurrence relation:</a:t>
            </a:r>
            <a:br>
              <a:rPr lang="en-US" dirty="0" smtClean="0"/>
            </a:br>
            <a:r>
              <a:rPr lang="en-US" dirty="0" smtClean="0"/>
              <a:t>T(n) = 2T(n/2) + O(1)</a:t>
            </a:r>
            <a:br>
              <a:rPr lang="en-US" dirty="0" smtClean="0"/>
            </a:br>
            <a:r>
              <a:rPr lang="en-US" dirty="0" smtClean="0"/>
              <a:t>     ≤ 2 · c(n/2) + O(1)</a:t>
            </a:r>
            <a:br>
              <a:rPr lang="en-US" dirty="0" smtClean="0"/>
            </a:br>
            <a:r>
              <a:rPr lang="en-US" dirty="0" smtClean="0"/>
              <a:t>     = </a:t>
            </a:r>
            <a:r>
              <a:rPr lang="en-US" dirty="0" err="1" smtClean="0"/>
              <a:t>cn</a:t>
            </a:r>
            <a:r>
              <a:rPr lang="en-US" dirty="0" smtClean="0"/>
              <a:t> + O(1)</a:t>
            </a:r>
            <a:br>
              <a:rPr lang="en-US" dirty="0" smtClean="0"/>
            </a:br>
            <a:r>
              <a:rPr lang="en-US" dirty="0" smtClean="0"/>
              <a:t>For sufficiently large values of n, the constant term is dominated by </a:t>
            </a:r>
            <a:r>
              <a:rPr lang="en-US" dirty="0" err="1" smtClean="0"/>
              <a:t>cn</a:t>
            </a:r>
            <a:r>
              <a:rPr lang="en-US" dirty="0" smtClean="0"/>
              <a:t>.</a:t>
            </a:r>
            <a:br>
              <a:rPr lang="en-US" dirty="0" smtClean="0"/>
            </a:br>
            <a:r>
              <a:rPr lang="en-US" dirty="0" smtClean="0"/>
              <a:t>Thus, T(n) ≤ </a:t>
            </a:r>
            <a:r>
              <a:rPr lang="en-US" dirty="0" err="1" smtClean="0"/>
              <a:t>cn</a:t>
            </a:r>
            <a:endParaRPr lang="en-US" dirty="0" smtClean="0"/>
          </a:p>
          <a:p>
            <a:pPr fontAlgn="base">
              <a:buNone/>
            </a:pPr>
            <a:endParaRPr lang="en-US" dirty="0" smtClean="0"/>
          </a:p>
          <a:p>
            <a:pPr fontAlgn="base">
              <a:buNone/>
            </a:pPr>
            <a:r>
              <a:rPr lang="en-US" b="1" dirty="0" smtClean="0"/>
              <a:t>Result: </a:t>
            </a:r>
            <a:r>
              <a:rPr lang="en-US" dirty="0" smtClean="0"/>
              <a:t>The assumption holds true, which confirms that the time complexity of the recurrence is: T(n) = O(n)</a:t>
            </a:r>
          </a:p>
          <a:p>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381000"/>
            <a:ext cx="8229600" cy="667512"/>
          </a:xfrm>
        </p:spPr>
        <p:txBody>
          <a:bodyPr>
            <a:normAutofit fontScale="90000"/>
          </a:bodyPr>
          <a:lstStyle/>
          <a:p>
            <a:r>
              <a:rPr lang="en-US" dirty="0" smtClean="0"/>
              <a:t>The recursion tree method</a:t>
            </a:r>
            <a:endParaRPr lang="en-US" dirty="0"/>
          </a:p>
        </p:txBody>
      </p:sp>
      <p:sp>
        <p:nvSpPr>
          <p:cNvPr id="3" name="Content Placeholder 2"/>
          <p:cNvSpPr>
            <a:spLocks noGrp="1"/>
          </p:cNvSpPr>
          <p:nvPr>
            <p:ph idx="1"/>
          </p:nvPr>
        </p:nvSpPr>
        <p:spPr>
          <a:xfrm>
            <a:off x="457200" y="1447800"/>
            <a:ext cx="8229600" cy="4876800"/>
          </a:xfrm>
        </p:spPr>
        <p:txBody>
          <a:bodyPr>
            <a:normAutofit/>
          </a:bodyPr>
          <a:lstStyle/>
          <a:p>
            <a:pPr fontAlgn="base"/>
            <a:r>
              <a:rPr lang="en-US" dirty="0" smtClean="0"/>
              <a:t>The recursion tree method is used to analyze the time complexity of recursive algorithms by visually representing the recurrence as a tree. Each node of the tree represents the work done in a single recursive call, and each level represents one stage of the recursion. Below are the steps used to find time complexity using recursion tree method.</a:t>
            </a:r>
          </a:p>
          <a:p>
            <a:pPr fontAlgn="base"/>
            <a:r>
              <a:rPr lang="en-US" dirty="0" smtClean="0"/>
              <a:t>Draw a recursive </a:t>
            </a:r>
            <a:r>
              <a:rPr lang="en-US" u="sng" dirty="0" smtClean="0">
                <a:hlinkClick r:id="rId2"/>
              </a:rPr>
              <a:t>tree</a:t>
            </a:r>
            <a:r>
              <a:rPr lang="en-US" dirty="0" smtClean="0"/>
              <a:t> for given recurrence relation</a:t>
            </a:r>
          </a:p>
          <a:p>
            <a:pPr fontAlgn="base"/>
            <a:r>
              <a:rPr lang="en-US" dirty="0" smtClean="0"/>
              <a:t>Calculate the cost at each level and count the total no of levels in the recursion tree.</a:t>
            </a:r>
          </a:p>
          <a:p>
            <a:pPr fontAlgn="base"/>
            <a:r>
              <a:rPr lang="en-US" dirty="0" smtClean="0"/>
              <a:t>Sum up the cost of all the levels in the recursive tree</a:t>
            </a:r>
          </a:p>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228600"/>
            <a:ext cx="8229600" cy="6477000"/>
          </a:xfrm>
        </p:spPr>
        <p:txBody>
          <a:bodyPr>
            <a:normAutofit fontScale="85000" lnSpcReduction="10000"/>
          </a:bodyPr>
          <a:lstStyle/>
          <a:p>
            <a:pPr>
              <a:buNone/>
            </a:pPr>
            <a:r>
              <a:rPr lang="en-US" dirty="0" smtClean="0"/>
              <a:t>void fun(</a:t>
            </a:r>
            <a:r>
              <a:rPr lang="en-US" dirty="0" err="1" smtClean="0"/>
              <a:t>int</a:t>
            </a:r>
            <a:r>
              <a:rPr lang="en-US" dirty="0" smtClean="0"/>
              <a:t> n) {</a:t>
            </a:r>
          </a:p>
          <a:p>
            <a:pPr>
              <a:buNone/>
            </a:pPr>
            <a:r>
              <a:rPr lang="en-US" dirty="0" smtClean="0"/>
              <a:t>    </a:t>
            </a:r>
            <a:r>
              <a:rPr lang="en-US" dirty="0" smtClean="0"/>
              <a:t>if (n &lt;= 1)</a:t>
            </a:r>
          </a:p>
          <a:p>
            <a:pPr>
              <a:buNone/>
            </a:pPr>
            <a:r>
              <a:rPr lang="en-US" dirty="0" smtClean="0"/>
              <a:t>        return;</a:t>
            </a:r>
          </a:p>
          <a:p>
            <a:pPr>
              <a:buNone/>
            </a:pPr>
            <a:r>
              <a:rPr lang="en-US" dirty="0" smtClean="0"/>
              <a:t>    </a:t>
            </a:r>
            <a:r>
              <a:rPr lang="en-US" dirty="0" smtClean="0"/>
              <a:t>fun(n / 2);</a:t>
            </a:r>
          </a:p>
          <a:p>
            <a:pPr>
              <a:buNone/>
            </a:pPr>
            <a:r>
              <a:rPr lang="en-US" dirty="0" smtClean="0"/>
              <a:t>    fun(n / 2);</a:t>
            </a:r>
          </a:p>
          <a:p>
            <a:pPr>
              <a:buNone/>
            </a:pPr>
            <a:r>
              <a:rPr lang="en-US" dirty="0" smtClean="0"/>
              <a:t>    </a:t>
            </a:r>
            <a:r>
              <a:rPr lang="en-US" dirty="0" smtClean="0"/>
              <a:t>for (</a:t>
            </a:r>
            <a:r>
              <a:rPr lang="en-US" dirty="0" err="1" smtClean="0"/>
              <a:t>int</a:t>
            </a:r>
            <a:r>
              <a:rPr lang="en-US" dirty="0" smtClean="0"/>
              <a:t> </a:t>
            </a:r>
            <a:r>
              <a:rPr lang="en-US" dirty="0" err="1" smtClean="0"/>
              <a:t>i</a:t>
            </a:r>
            <a:r>
              <a:rPr lang="en-US" dirty="0" smtClean="0"/>
              <a:t> = 0; </a:t>
            </a:r>
            <a:r>
              <a:rPr lang="en-US" dirty="0" err="1" smtClean="0"/>
              <a:t>i</a:t>
            </a:r>
            <a:r>
              <a:rPr lang="en-US" dirty="0" smtClean="0"/>
              <a:t> &lt; n; </a:t>
            </a:r>
            <a:r>
              <a:rPr lang="en-US" dirty="0" err="1" smtClean="0"/>
              <a:t>i</a:t>
            </a:r>
            <a:r>
              <a:rPr lang="en-US" dirty="0" smtClean="0"/>
              <a:t>++) {</a:t>
            </a:r>
          </a:p>
          <a:p>
            <a:pPr>
              <a:buNone/>
            </a:pPr>
            <a:r>
              <a:rPr lang="en-US" dirty="0" smtClean="0"/>
              <a:t>        </a:t>
            </a:r>
            <a:r>
              <a:rPr lang="en-US" dirty="0" err="1" smtClean="0"/>
              <a:t>cout</a:t>
            </a:r>
            <a:r>
              <a:rPr lang="en-US" dirty="0" smtClean="0"/>
              <a:t> &lt;&lt; "GFG ";</a:t>
            </a:r>
          </a:p>
          <a:p>
            <a:pPr>
              <a:buNone/>
            </a:pPr>
            <a:r>
              <a:rPr lang="en-US" dirty="0" smtClean="0"/>
              <a:t>    }</a:t>
            </a:r>
          </a:p>
          <a:p>
            <a:pPr>
              <a:buNone/>
            </a:pPr>
            <a:r>
              <a:rPr lang="en-US" dirty="0" smtClean="0"/>
              <a:t>}</a:t>
            </a:r>
          </a:p>
          <a:p>
            <a:pPr fontAlgn="base"/>
            <a:r>
              <a:rPr lang="en-US" b="1" dirty="0" smtClean="0"/>
              <a:t>Understanding the Recursion for This </a:t>
            </a:r>
            <a:r>
              <a:rPr lang="en-US" b="1" dirty="0" smtClean="0"/>
              <a:t>Code</a:t>
            </a:r>
          </a:p>
          <a:p>
            <a:pPr fontAlgn="base">
              <a:buNone/>
            </a:pPr>
            <a:r>
              <a:rPr lang="en-US" b="1" dirty="0" smtClean="0"/>
              <a:t> </a:t>
            </a:r>
            <a:r>
              <a:rPr lang="en-US" b="1" dirty="0" smtClean="0"/>
              <a:t>   </a:t>
            </a:r>
            <a:r>
              <a:rPr lang="en-US" dirty="0" smtClean="0"/>
              <a:t>The </a:t>
            </a:r>
            <a:r>
              <a:rPr lang="en-US" dirty="0" smtClean="0"/>
              <a:t>function makes two recursive calls, each on a </a:t>
            </a:r>
            <a:r>
              <a:rPr lang="en-US" dirty="0" err="1" smtClean="0"/>
              <a:t>subproblem</a:t>
            </a:r>
            <a:r>
              <a:rPr lang="en-US" dirty="0" smtClean="0"/>
              <a:t> of size n/2. After both recursive calls return, it performs a loop that prints "GFG" exactly n times, which is linear work for each function call. The recursion stops when n ≤ 1.</a:t>
            </a:r>
          </a:p>
          <a:p>
            <a:pPr fontAlgn="base"/>
            <a:r>
              <a:rPr lang="en-US" b="1" dirty="0" smtClean="0"/>
              <a:t>Writing the Recurrence Relation</a:t>
            </a:r>
          </a:p>
          <a:p>
            <a:pPr fontAlgn="base">
              <a:buNone/>
            </a:pPr>
            <a:r>
              <a:rPr lang="en-US" dirty="0" smtClean="0"/>
              <a:t>    Each </a:t>
            </a:r>
            <a:r>
              <a:rPr lang="en-US" dirty="0" smtClean="0"/>
              <a:t>function call makes two recursive calls of size n/2 and performs linear work after the recursion.</a:t>
            </a:r>
            <a:br>
              <a:rPr lang="en-US" dirty="0" smtClean="0"/>
            </a:br>
            <a:r>
              <a:rPr lang="en-US" dirty="0" smtClean="0"/>
              <a:t>Therefore, the recurrence relation is: T(n) = 2T(n/2) + O(n)</a:t>
            </a:r>
          </a:p>
          <a:p>
            <a:pPr>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cstate="print"/>
          <a:srcRect/>
          <a:stretch>
            <a:fillRect/>
          </a:stretch>
        </p:blipFill>
        <p:spPr bwMode="auto">
          <a:xfrm>
            <a:off x="0" y="1"/>
            <a:ext cx="9144000" cy="3200400"/>
          </a:xfrm>
          <a:prstGeom prst="rect">
            <a:avLst/>
          </a:prstGeom>
          <a:noFill/>
          <a:ln w="9525">
            <a:noFill/>
            <a:miter lim="800000"/>
            <a:headEnd/>
            <a:tailEnd/>
          </a:ln>
        </p:spPr>
      </p:pic>
      <p:pic>
        <p:nvPicPr>
          <p:cNvPr id="1027" name="Picture 3"/>
          <p:cNvPicPr>
            <a:picLocks noChangeAspect="1" noChangeArrowheads="1"/>
          </p:cNvPicPr>
          <p:nvPr/>
        </p:nvPicPr>
        <p:blipFill>
          <a:blip r:embed="rId3" cstate="print"/>
          <a:srcRect/>
          <a:stretch>
            <a:fillRect/>
          </a:stretch>
        </p:blipFill>
        <p:spPr bwMode="auto">
          <a:xfrm>
            <a:off x="0" y="3200400"/>
            <a:ext cx="9144000" cy="3657600"/>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AutoShape 2" descr="3.webp"/>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3075" name="Picture 3"/>
          <p:cNvPicPr>
            <a:picLocks noChangeAspect="1" noChangeArrowheads="1"/>
          </p:cNvPicPr>
          <p:nvPr/>
        </p:nvPicPr>
        <p:blipFill>
          <a:blip r:embed="rId2" cstate="print"/>
          <a:srcRect/>
          <a:stretch>
            <a:fillRect/>
          </a:stretch>
        </p:blipFill>
        <p:spPr bwMode="auto">
          <a:xfrm>
            <a:off x="762000" y="1524000"/>
            <a:ext cx="7620000" cy="3810000"/>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idx="1"/>
          </p:nvPr>
        </p:nvSpPr>
        <p:spPr>
          <a:xfrm>
            <a:off x="457200" y="457200"/>
            <a:ext cx="8229600" cy="6096000"/>
          </a:xfrm>
        </p:spPr>
        <p:txBody>
          <a:bodyPr>
            <a:normAutofit fontScale="92500"/>
          </a:bodyPr>
          <a:lstStyle/>
          <a:p>
            <a:pPr fontAlgn="base"/>
            <a:r>
              <a:rPr lang="en-US" dirty="0" smtClean="0"/>
              <a:t>To </a:t>
            </a:r>
            <a:r>
              <a:rPr lang="en-US" dirty="0" smtClean="0"/>
              <a:t>find T(n), we analyze the recursion tree and sum the cost at each level.</a:t>
            </a:r>
          </a:p>
          <a:p>
            <a:pPr fontAlgn="base"/>
            <a:r>
              <a:rPr lang="en-US" b="1" dirty="0" smtClean="0"/>
              <a:t>Level 0: </a:t>
            </a:r>
            <a:r>
              <a:rPr lang="en-US" dirty="0" smtClean="0"/>
              <a:t>The root contributes a cost of </a:t>
            </a:r>
            <a:r>
              <a:rPr lang="en-US" dirty="0" err="1" smtClean="0"/>
              <a:t>cn</a:t>
            </a:r>
            <a:r>
              <a:rPr lang="en-US" dirty="0" smtClean="0"/>
              <a:t>.</a:t>
            </a:r>
          </a:p>
          <a:p>
            <a:pPr fontAlgn="base"/>
            <a:r>
              <a:rPr lang="en-US" b="1" dirty="0" smtClean="0"/>
              <a:t>Level 1: </a:t>
            </a:r>
            <a:r>
              <a:rPr lang="en-US" dirty="0" smtClean="0"/>
              <a:t>The </a:t>
            </a:r>
            <a:r>
              <a:rPr lang="en-US" dirty="0" err="1" smtClean="0"/>
              <a:t>subproblems</a:t>
            </a:r>
            <a:r>
              <a:rPr lang="en-US" dirty="0" smtClean="0"/>
              <a:t> are of sizes n/2 and n/2.</a:t>
            </a:r>
            <a:br>
              <a:rPr lang="en-US" dirty="0" smtClean="0"/>
            </a:br>
            <a:r>
              <a:rPr lang="en-US" dirty="0" smtClean="0"/>
              <a:t>Their total cost is: c(n/2)+ c(n/2) = </a:t>
            </a:r>
            <a:r>
              <a:rPr lang="en-US" dirty="0" err="1" smtClean="0"/>
              <a:t>cn</a:t>
            </a:r>
            <a:r>
              <a:rPr lang="en-US" dirty="0" smtClean="0"/>
              <a:t> </a:t>
            </a:r>
          </a:p>
          <a:p>
            <a:pPr fontAlgn="base"/>
            <a:r>
              <a:rPr lang="en-US" b="1" dirty="0" smtClean="0"/>
              <a:t>Level 2:</a:t>
            </a:r>
            <a:r>
              <a:rPr lang="en-US" dirty="0" smtClean="0"/>
              <a:t> There are four </a:t>
            </a:r>
            <a:r>
              <a:rPr lang="en-US" dirty="0" err="1" smtClean="0"/>
              <a:t>subproblems</a:t>
            </a:r>
            <a:r>
              <a:rPr lang="en-US" dirty="0" smtClean="0"/>
              <a:t> of size n/4.</a:t>
            </a:r>
            <a:br>
              <a:rPr lang="en-US" dirty="0" smtClean="0"/>
            </a:br>
            <a:r>
              <a:rPr lang="en-US" dirty="0" smtClean="0"/>
              <a:t>Continuing this way, the work at each level </a:t>
            </a:r>
            <a:r>
              <a:rPr lang="en-US" dirty="0" err="1" smtClean="0"/>
              <a:t>reamains</a:t>
            </a:r>
            <a:r>
              <a:rPr lang="en-US" dirty="0" smtClean="0"/>
              <a:t> </a:t>
            </a:r>
            <a:r>
              <a:rPr lang="en-US" dirty="0" err="1" smtClean="0"/>
              <a:t>cn</a:t>
            </a:r>
            <a:r>
              <a:rPr lang="en-US" dirty="0" smtClean="0"/>
              <a:t>.</a:t>
            </a:r>
          </a:p>
          <a:p>
            <a:pPr fontAlgn="base">
              <a:buNone/>
            </a:pPr>
            <a:r>
              <a:rPr lang="en-US" b="1" dirty="0" smtClean="0"/>
              <a:t>Total Work Across All Levels</a:t>
            </a:r>
          </a:p>
          <a:p>
            <a:pPr fontAlgn="base"/>
            <a:r>
              <a:rPr lang="en-US" dirty="0" smtClean="0"/>
              <a:t>The input size halves at each level, and the recursion stops when the size becomes constant.</a:t>
            </a:r>
            <a:br>
              <a:rPr lang="en-US" dirty="0" smtClean="0"/>
            </a:br>
            <a:r>
              <a:rPr lang="en-US" dirty="0" smtClean="0"/>
              <a:t>Hence, the height of the recursion tree is </a:t>
            </a:r>
            <a:r>
              <a:rPr lang="en-US" dirty="0" smtClean="0"/>
              <a:t>log ⁡</a:t>
            </a:r>
            <a:r>
              <a:rPr lang="en-US" dirty="0" smtClean="0"/>
              <a:t>n.</a:t>
            </a:r>
          </a:p>
          <a:p>
            <a:pPr fontAlgn="base"/>
            <a:r>
              <a:rPr lang="en-US" dirty="0" smtClean="0"/>
              <a:t>Since each level contributes a cost of </a:t>
            </a:r>
            <a:r>
              <a:rPr lang="en-US" dirty="0" err="1" smtClean="0"/>
              <a:t>cn</a:t>
            </a:r>
            <a:r>
              <a:rPr lang="en-US" dirty="0" smtClean="0"/>
              <a:t>, the total work is:</a:t>
            </a:r>
            <a:br>
              <a:rPr lang="en-US" dirty="0" smtClean="0"/>
            </a:br>
            <a:r>
              <a:rPr lang="en-US" dirty="0" smtClean="0"/>
              <a:t>T(n) = </a:t>
            </a:r>
            <a:r>
              <a:rPr lang="en-US" dirty="0" err="1" smtClean="0"/>
              <a:t>cn</a:t>
            </a:r>
            <a:r>
              <a:rPr lang="en-US" dirty="0" smtClean="0"/>
              <a:t> + </a:t>
            </a:r>
            <a:r>
              <a:rPr lang="en-US" dirty="0" err="1" smtClean="0"/>
              <a:t>cn</a:t>
            </a:r>
            <a:r>
              <a:rPr lang="en-US" dirty="0" smtClean="0"/>
              <a:t> + ....... + </a:t>
            </a:r>
            <a:r>
              <a:rPr lang="en-US" dirty="0" err="1" smtClean="0"/>
              <a:t>cn</a:t>
            </a:r>
            <a:r>
              <a:rPr lang="en-US" dirty="0" smtClean="0"/>
              <a:t> (log n levels)</a:t>
            </a:r>
            <a:br>
              <a:rPr lang="en-US" dirty="0" smtClean="0"/>
            </a:br>
            <a:r>
              <a:rPr lang="en-US" dirty="0" smtClean="0"/>
              <a:t>T(n) = </a:t>
            </a:r>
            <a:r>
              <a:rPr lang="en-US" dirty="0" err="1" smtClean="0"/>
              <a:t>cn</a:t>
            </a:r>
            <a:r>
              <a:rPr lang="en-US" dirty="0" smtClean="0"/>
              <a:t> log n</a:t>
            </a:r>
          </a:p>
          <a:p>
            <a:pPr fontAlgn="base"/>
            <a:r>
              <a:rPr lang="en-US" b="1" dirty="0" smtClean="0"/>
              <a:t>Final Result:</a:t>
            </a:r>
            <a:r>
              <a:rPr lang="en-US" dirty="0" smtClean="0"/>
              <a:t> T(n) = O(n log n)</a:t>
            </a:r>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b="1" dirty="0" smtClean="0"/>
              <a:t>Master Theorem for Divide and Conquer Recurrences</a:t>
            </a:r>
            <a:br>
              <a:rPr lang="en-US" sz="3600" b="1" dirty="0" smtClean="0"/>
            </a:br>
            <a:endParaRPr lang="en-US" sz="3600" dirty="0"/>
          </a:p>
        </p:txBody>
      </p:sp>
      <p:sp>
        <p:nvSpPr>
          <p:cNvPr id="3" name="Content Placeholder 2"/>
          <p:cNvSpPr>
            <a:spLocks noGrp="1"/>
          </p:cNvSpPr>
          <p:nvPr>
            <p:ph idx="1"/>
          </p:nvPr>
        </p:nvSpPr>
        <p:spPr>
          <a:xfrm>
            <a:off x="457200" y="1676400"/>
            <a:ext cx="8229600" cy="1447800"/>
          </a:xfrm>
        </p:spPr>
        <p:txBody>
          <a:bodyPr/>
          <a:lstStyle/>
          <a:p>
            <a:r>
              <a:rPr lang="en-US" dirty="0" smtClean="0"/>
              <a:t>The Master Theorem is a tool used to solve recurrence relations that arise in the analysis of divide-and-conquer algorithms</a:t>
            </a:r>
            <a:r>
              <a:rPr lang="en-US" dirty="0" smtClean="0"/>
              <a:t>.</a:t>
            </a:r>
            <a:r>
              <a:rPr lang="en-US" dirty="0" smtClean="0"/>
              <a:t> </a:t>
            </a:r>
            <a:endParaRPr lang="en-US" dirty="0"/>
          </a:p>
        </p:txBody>
      </p:sp>
      <p:sp>
        <p:nvSpPr>
          <p:cNvPr id="27650" name="AutoShape 2" descr="consider_the_recurrence_relation_"/>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27652" name="Picture 4"/>
          <p:cNvPicPr>
            <a:picLocks noChangeAspect="1" noChangeArrowheads="1"/>
          </p:cNvPicPr>
          <p:nvPr/>
        </p:nvPicPr>
        <p:blipFill>
          <a:blip r:embed="rId2" cstate="print"/>
          <a:srcRect/>
          <a:stretch>
            <a:fillRect/>
          </a:stretch>
        </p:blipFill>
        <p:spPr bwMode="auto">
          <a:xfrm>
            <a:off x="2390775" y="2990850"/>
            <a:ext cx="4362450" cy="876300"/>
          </a:xfrm>
          <a:prstGeom prst="rect">
            <a:avLst/>
          </a:prstGeom>
          <a:noFill/>
          <a:ln w="9525">
            <a:noFill/>
            <a:miter lim="800000"/>
            <a:headEnd/>
            <a:tailEnd/>
          </a:ln>
        </p:spPr>
      </p:pic>
      <p:sp>
        <p:nvSpPr>
          <p:cNvPr id="9" name="Content Placeholder 2"/>
          <p:cNvSpPr txBox="1">
            <a:spLocks/>
          </p:cNvSpPr>
          <p:nvPr/>
        </p:nvSpPr>
        <p:spPr>
          <a:xfrm>
            <a:off x="533400" y="4191000"/>
            <a:ext cx="8229600" cy="2133600"/>
          </a:xfrm>
          <a:prstGeom prst="rect">
            <a:avLst/>
          </a:prstGeom>
        </p:spPr>
        <p:txBody>
          <a:bodyPr vert="horz">
            <a:normAutofit fontScale="92500" lnSpcReduction="20000"/>
          </a:bodyPr>
          <a:lstStyle/>
          <a:p>
            <a:pPr fontAlgn="base"/>
            <a:r>
              <a:rPr lang="en-US" sz="2800" dirty="0" smtClean="0"/>
              <a:t>where:</a:t>
            </a:r>
          </a:p>
          <a:p>
            <a:pPr fontAlgn="base"/>
            <a:r>
              <a:rPr lang="en-US" sz="2800" dirty="0" smtClean="0"/>
              <a:t>n is the size of the problem</a:t>
            </a:r>
          </a:p>
          <a:p>
            <a:pPr fontAlgn="base"/>
            <a:r>
              <a:rPr lang="en-US" sz="2800" dirty="0" smtClean="0"/>
              <a:t>a ≥ 1 is the number of </a:t>
            </a:r>
            <a:r>
              <a:rPr lang="en-US" sz="2800" dirty="0" err="1" smtClean="0"/>
              <a:t>subproblems</a:t>
            </a:r>
            <a:endParaRPr lang="en-US" sz="2800" dirty="0" smtClean="0"/>
          </a:p>
          <a:p>
            <a:pPr fontAlgn="base"/>
            <a:r>
              <a:rPr lang="en-US" sz="2800" dirty="0" smtClean="0"/>
              <a:t>n/b is the size of each </a:t>
            </a:r>
            <a:r>
              <a:rPr lang="en-US" sz="2800" dirty="0" err="1" smtClean="0"/>
              <a:t>subproblem</a:t>
            </a:r>
            <a:r>
              <a:rPr lang="en-US" sz="2800" dirty="0" smtClean="0"/>
              <a:t> (b &gt; 1)</a:t>
            </a:r>
          </a:p>
          <a:p>
            <a:pPr fontAlgn="base"/>
            <a:r>
              <a:rPr lang="en-US" sz="2800" dirty="0" smtClean="0"/>
              <a:t>f(n) is the cost of work done outside the recursive calls (dividing the problem and combining results)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Picture 2"/>
          <p:cNvPicPr>
            <a:picLocks noGrp="1" noChangeAspect="1" noChangeArrowheads="1"/>
          </p:cNvPicPr>
          <p:nvPr>
            <p:ph idx="1"/>
          </p:nvPr>
        </p:nvPicPr>
        <p:blipFill>
          <a:blip r:embed="rId2" cstate="print"/>
          <a:srcRect/>
          <a:stretch>
            <a:fillRect/>
          </a:stretch>
        </p:blipFill>
        <p:spPr bwMode="auto">
          <a:xfrm>
            <a:off x="1188781" y="685800"/>
            <a:ext cx="6766437" cy="5943600"/>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698" name="Picture 2"/>
          <p:cNvPicPr>
            <a:picLocks noGrp="1" noChangeAspect="1" noChangeArrowheads="1"/>
          </p:cNvPicPr>
          <p:nvPr>
            <p:ph idx="1"/>
          </p:nvPr>
        </p:nvPicPr>
        <p:blipFill>
          <a:blip r:embed="rId2" cstate="print"/>
          <a:srcRect/>
          <a:stretch>
            <a:fillRect/>
          </a:stretch>
        </p:blipFill>
        <p:spPr bwMode="auto">
          <a:xfrm>
            <a:off x="381000" y="152400"/>
            <a:ext cx="7532039" cy="5943599"/>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762000"/>
            <a:ext cx="8229600" cy="5562600"/>
          </a:xfrm>
        </p:spPr>
        <p:txBody>
          <a:bodyPr>
            <a:normAutofit/>
          </a:bodyPr>
          <a:lstStyle/>
          <a:p>
            <a:pPr fontAlgn="base">
              <a:buNone/>
            </a:pPr>
            <a:r>
              <a:rPr lang="en-US" dirty="0" smtClean="0"/>
              <a:t>Hence, the running time can be expressed as:</a:t>
            </a:r>
          </a:p>
          <a:p>
            <a:pPr fontAlgn="base">
              <a:buNone/>
            </a:pPr>
            <a:r>
              <a:rPr lang="en-US" dirty="0" smtClean="0"/>
              <a:t>T(n) = </a:t>
            </a:r>
            <a:r>
              <a:rPr lang="en-US" dirty="0" err="1" smtClean="0"/>
              <a:t>aT</a:t>
            </a:r>
            <a:r>
              <a:rPr lang="en-US" dirty="0" smtClean="0"/>
              <a:t>(n/b) + f(n</a:t>
            </a:r>
            <a:r>
              <a:rPr lang="en-US" dirty="0" smtClean="0"/>
              <a:t>)</a:t>
            </a:r>
          </a:p>
          <a:p>
            <a:pPr fontAlgn="base">
              <a:buNone/>
            </a:pPr>
            <a:endParaRPr lang="en-US" dirty="0" smtClean="0"/>
          </a:p>
          <a:p>
            <a:pPr fontAlgn="base">
              <a:buNone/>
            </a:pPr>
            <a:r>
              <a:rPr lang="en-US" b="1" dirty="0" smtClean="0"/>
              <a:t>When Master Theorem Cannot Be Applied</a:t>
            </a:r>
          </a:p>
          <a:p>
            <a:pPr fontAlgn="base">
              <a:buNone/>
            </a:pPr>
            <a:r>
              <a:rPr lang="en-US" dirty="0" smtClean="0"/>
              <a:t>The Master Theorem does not apply in the following cases:</a:t>
            </a:r>
          </a:p>
          <a:p>
            <a:pPr fontAlgn="base">
              <a:buNone/>
            </a:pPr>
            <a:r>
              <a:rPr lang="en-US" dirty="0" smtClean="0"/>
              <a:t>If T(n) is not monotonic</a:t>
            </a:r>
            <a:br>
              <a:rPr lang="en-US" dirty="0" smtClean="0"/>
            </a:br>
            <a:r>
              <a:rPr lang="en-US" dirty="0" smtClean="0"/>
              <a:t>Example: T(n) = sin⁡(n)</a:t>
            </a:r>
          </a:p>
          <a:p>
            <a:pPr fontAlgn="base">
              <a:buNone/>
            </a:pPr>
            <a:r>
              <a:rPr lang="en-US" dirty="0" smtClean="0"/>
              <a:t>If f(n) is not a polynomial or does not fit the required form</a:t>
            </a:r>
            <a:br>
              <a:rPr lang="en-US" dirty="0" smtClean="0"/>
            </a:br>
            <a:r>
              <a:rPr lang="en-US" dirty="0" smtClean="0"/>
              <a:t>Example</a:t>
            </a:r>
            <a:r>
              <a:rPr lang="en-US" dirty="0" smtClean="0"/>
              <a:t>: T(n</a:t>
            </a:r>
            <a:r>
              <a:rPr lang="en-US" dirty="0" smtClean="0"/>
              <a:t>) = 2T(n/2) + 2</a:t>
            </a:r>
            <a:r>
              <a:rPr lang="en-US" baseline="30000" dirty="0" smtClean="0"/>
              <a:t>n</a:t>
            </a:r>
            <a:endParaRPr lang="en-US" dirty="0" smtClean="0"/>
          </a:p>
          <a:p>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81000"/>
            <a:ext cx="8229600" cy="5943600"/>
          </a:xfrm>
        </p:spPr>
        <p:txBody>
          <a:bodyPr/>
          <a:lstStyle/>
          <a:p>
            <a:pPr fontAlgn="base"/>
            <a:r>
              <a:rPr lang="en-US" b="1" dirty="0" smtClean="0"/>
              <a:t>How does the theorem work?</a:t>
            </a:r>
          </a:p>
          <a:p>
            <a:pPr fontAlgn="base"/>
            <a:r>
              <a:rPr lang="en-US" dirty="0" smtClean="0"/>
              <a:t>The master method is mainly derived from the </a:t>
            </a:r>
            <a:r>
              <a:rPr lang="en-US" u="sng" dirty="0" smtClean="0">
                <a:hlinkClick r:id="rId2"/>
              </a:rPr>
              <a:t>recurrence tree method</a:t>
            </a:r>
            <a:r>
              <a:rPr lang="en-US" dirty="0" smtClean="0"/>
              <a:t>. If we draw the recurrence tree of T(n) = </a:t>
            </a:r>
            <a:r>
              <a:rPr lang="en-US" dirty="0" err="1" smtClean="0"/>
              <a:t>aT</a:t>
            </a:r>
            <a:r>
              <a:rPr lang="en-US" dirty="0" smtClean="0"/>
              <a:t>(n/b) + f(n), we can see that the work done at the root is f(n), and work done at all leaves is O(</a:t>
            </a:r>
            <a:r>
              <a:rPr lang="en-US" dirty="0" err="1" smtClean="0"/>
              <a:t>n</a:t>
            </a:r>
            <a:r>
              <a:rPr lang="en-US" baseline="30000" dirty="0" err="1" smtClean="0"/>
              <a:t>c</a:t>
            </a:r>
            <a:r>
              <a:rPr lang="en-US" dirty="0" smtClean="0"/>
              <a:t>) where c is </a:t>
            </a:r>
            <a:r>
              <a:rPr lang="en-US" dirty="0" err="1" smtClean="0"/>
              <a:t>Log</a:t>
            </a:r>
            <a:r>
              <a:rPr lang="en-US" baseline="-25000" dirty="0" err="1" smtClean="0"/>
              <a:t>b</a:t>
            </a:r>
            <a:r>
              <a:rPr lang="en-US" dirty="0" err="1" smtClean="0"/>
              <a:t>a</a:t>
            </a:r>
            <a:r>
              <a:rPr lang="en-US" dirty="0" smtClean="0"/>
              <a:t>. And the height of the recurrence tree is </a:t>
            </a:r>
            <a:r>
              <a:rPr lang="en-US" dirty="0" err="1" smtClean="0"/>
              <a:t>Log</a:t>
            </a:r>
            <a:r>
              <a:rPr lang="en-US" baseline="-25000" dirty="0" err="1" smtClean="0"/>
              <a:t>b</a:t>
            </a:r>
            <a:r>
              <a:rPr lang="en-US" dirty="0" err="1" smtClean="0"/>
              <a:t>n</a:t>
            </a:r>
            <a:r>
              <a:rPr lang="en-US" dirty="0" smtClean="0"/>
              <a:t> </a:t>
            </a:r>
          </a:p>
          <a:p>
            <a:endParaRPr lang="en-US" dirty="0"/>
          </a:p>
        </p:txBody>
      </p:sp>
      <p:pic>
        <p:nvPicPr>
          <p:cNvPr id="30722" name="Picture 2"/>
          <p:cNvPicPr>
            <a:picLocks noChangeAspect="1" noChangeArrowheads="1"/>
          </p:cNvPicPr>
          <p:nvPr/>
        </p:nvPicPr>
        <p:blipFill>
          <a:blip r:embed="rId3" cstate="print"/>
          <a:srcRect/>
          <a:stretch>
            <a:fillRect/>
          </a:stretch>
        </p:blipFill>
        <p:spPr bwMode="auto">
          <a:xfrm>
            <a:off x="1905000" y="3362325"/>
            <a:ext cx="5067300" cy="33432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81000"/>
            <a:ext cx="8229600" cy="5943600"/>
          </a:xfrm>
        </p:spPr>
        <p:txBody>
          <a:bodyPr>
            <a:normAutofit fontScale="92500" lnSpcReduction="20000"/>
          </a:bodyPr>
          <a:lstStyle/>
          <a:p>
            <a:pPr fontAlgn="base"/>
            <a:r>
              <a:rPr lang="en-US" dirty="0" smtClean="0"/>
              <a:t>In the recurrence tree method, we calculate the total work done. If the work done at leaves is </a:t>
            </a:r>
            <a:r>
              <a:rPr lang="en-US" dirty="0" err="1" smtClean="0"/>
              <a:t>polynomially</a:t>
            </a:r>
            <a:r>
              <a:rPr lang="en-US" dirty="0" smtClean="0"/>
              <a:t> more, then leaves are the dominant part, and our result becomes the work done at leaves (Case 1). If work done at leaves and root is asymptotically the same, then our result becomes height multiplied by work done at any level (Case 2). If work done at the root is asymptotically more, then our result becomes work done at the root (Case 3). </a:t>
            </a:r>
          </a:p>
          <a:p>
            <a:pPr fontAlgn="base"/>
            <a:r>
              <a:rPr lang="en-US" b="1" dirty="0" smtClean="0"/>
              <a:t>Key Points</a:t>
            </a:r>
          </a:p>
          <a:p>
            <a:pPr fontAlgn="base"/>
            <a:r>
              <a:rPr lang="en-US" dirty="0" smtClean="0"/>
              <a:t>The Master Theorem is specifically designed for divide-and-conquer recurrences</a:t>
            </a:r>
          </a:p>
          <a:p>
            <a:pPr fontAlgn="base"/>
            <a:r>
              <a:rPr lang="en-US" dirty="0" smtClean="0"/>
              <a:t>It applies only to recurrences of the form: </a:t>
            </a:r>
            <a:endParaRPr lang="en-US" dirty="0" smtClean="0"/>
          </a:p>
          <a:p>
            <a:pPr fontAlgn="base">
              <a:buNone/>
            </a:pPr>
            <a:r>
              <a:rPr lang="en-US" dirty="0" smtClean="0"/>
              <a:t>	</a:t>
            </a:r>
            <a:r>
              <a:rPr lang="en-US" dirty="0" smtClean="0"/>
              <a:t>	T(n</a:t>
            </a:r>
            <a:r>
              <a:rPr lang="en-US" dirty="0" smtClean="0"/>
              <a:t>) = </a:t>
            </a:r>
            <a:r>
              <a:rPr lang="en-US" dirty="0" err="1" smtClean="0"/>
              <a:t>aT</a:t>
            </a:r>
            <a:r>
              <a:rPr lang="en-US" dirty="0" smtClean="0"/>
              <a:t>(n/b) + f(n)</a:t>
            </a:r>
          </a:p>
          <a:p>
            <a:pPr fontAlgn="base"/>
            <a:r>
              <a:rPr lang="en-US" dirty="0" smtClean="0"/>
              <a:t>It provides a quick and reliable way to compute asymptotic time complexity</a:t>
            </a:r>
          </a:p>
          <a:p>
            <a:pPr fontAlgn="base"/>
            <a:r>
              <a:rPr lang="en-US" dirty="0" smtClean="0"/>
              <a:t>Not all recurrences can be solved using this method</a:t>
            </a:r>
          </a:p>
          <a:p>
            <a:pPr fontAlgn="base"/>
            <a:r>
              <a:rPr lang="en-US" dirty="0" smtClean="0"/>
              <a:t>For unsupported cases, we either use Substitution Method or Recurrence Tree Method</a:t>
            </a:r>
          </a:p>
          <a:p>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t>Amortized Analysis</a:t>
            </a:r>
            <a:br>
              <a:rPr lang="en-US" b="1" dirty="0" smtClean="0"/>
            </a:br>
            <a:endParaRPr lang="en-US" dirty="0"/>
          </a:p>
        </p:txBody>
      </p:sp>
      <p:sp>
        <p:nvSpPr>
          <p:cNvPr id="3" name="Content Placeholder 2"/>
          <p:cNvSpPr>
            <a:spLocks noGrp="1"/>
          </p:cNvSpPr>
          <p:nvPr>
            <p:ph idx="1"/>
          </p:nvPr>
        </p:nvSpPr>
        <p:spPr/>
        <p:txBody>
          <a:bodyPr/>
          <a:lstStyle/>
          <a:p>
            <a:pPr fontAlgn="base"/>
            <a:r>
              <a:rPr lang="en-US" dirty="0" smtClean="0"/>
              <a:t>Amortized analysis studies the average cost of operations over a sequence, rather than focusing on the worst-case of a single operation.</a:t>
            </a:r>
          </a:p>
          <a:p>
            <a:pPr fontAlgn="base"/>
            <a:r>
              <a:rPr lang="en-US" dirty="0" smtClean="0"/>
              <a:t>It is especially useful for dynamic data structures like arrays, hash tables, and trees, where occasional expensive operations occur.</a:t>
            </a:r>
          </a:p>
          <a:p>
            <a:pPr fontAlgn="base"/>
            <a:r>
              <a:rPr lang="en-US" dirty="0" smtClean="0"/>
              <a:t>By spreading the cost of rare costly operations across many cheap ones, it gives a realistic measure of algorithm efficiency.</a:t>
            </a:r>
          </a:p>
          <a:p>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81000"/>
            <a:ext cx="8229600" cy="5943600"/>
          </a:xfrm>
        </p:spPr>
        <p:txBody>
          <a:bodyPr>
            <a:normAutofit lnSpcReduction="10000"/>
          </a:bodyPr>
          <a:lstStyle/>
          <a:p>
            <a:r>
              <a:rPr lang="en-US" b="1" dirty="0" smtClean="0"/>
              <a:t>Example</a:t>
            </a:r>
            <a:r>
              <a:rPr lang="en-US" dirty="0" smtClean="0"/>
              <a:t>: In a dynamic array, inserting elements is usually cheap (O(1)), but occasionally the array needs resizing, which is costly. By spreading the cost of resizing over all insertions, the amortized cost per insertion remains O(1</a:t>
            </a:r>
            <a:r>
              <a:rPr lang="en-US" dirty="0" smtClean="0"/>
              <a:t>).</a:t>
            </a:r>
          </a:p>
          <a:p>
            <a:endParaRPr lang="en-US" dirty="0" smtClean="0"/>
          </a:p>
          <a:p>
            <a:pPr fontAlgn="base"/>
            <a:r>
              <a:rPr lang="en-US" b="1" dirty="0" smtClean="0"/>
              <a:t>Techniques of Amortized Analysis</a:t>
            </a:r>
          </a:p>
          <a:p>
            <a:pPr fontAlgn="base">
              <a:buNone/>
            </a:pPr>
            <a:r>
              <a:rPr lang="en-US" dirty="0" smtClean="0"/>
              <a:t>   There </a:t>
            </a:r>
            <a:r>
              <a:rPr lang="en-US" dirty="0" smtClean="0"/>
              <a:t>are three standard methods to perform amortized analysis:</a:t>
            </a:r>
          </a:p>
          <a:p>
            <a:pPr fontAlgn="base">
              <a:buNone/>
            </a:pPr>
            <a:r>
              <a:rPr lang="en-US" b="1" dirty="0" smtClean="0"/>
              <a:t>1. Aggregate Method</a:t>
            </a:r>
            <a:endParaRPr lang="en-US" dirty="0" smtClean="0"/>
          </a:p>
          <a:p>
            <a:pPr fontAlgn="base">
              <a:buNone/>
            </a:pPr>
            <a:r>
              <a:rPr lang="en-US" dirty="0" smtClean="0"/>
              <a:t>Compute the total cost of </a:t>
            </a:r>
            <a:r>
              <a:rPr lang="en-US" dirty="0" smtClean="0"/>
              <a:t>𝑛</a:t>
            </a:r>
            <a:r>
              <a:rPr lang="en-US" dirty="0" err="1" smtClean="0"/>
              <a:t>th</a:t>
            </a:r>
            <a:r>
              <a:rPr lang="en-US" dirty="0" smtClean="0"/>
              <a:t> </a:t>
            </a:r>
            <a:r>
              <a:rPr lang="en-US" dirty="0" smtClean="0"/>
              <a:t>operations and divide it by number of operations to obtain the average cost..</a:t>
            </a:r>
          </a:p>
          <a:p>
            <a:pPr fontAlgn="base">
              <a:buNone/>
            </a:pPr>
            <a:r>
              <a:rPr lang="en-US" dirty="0" smtClean="0"/>
              <a:t>Example: Dynamic array insertions involve occasional costly resizes, but the average cost per insertion is low.</a:t>
            </a:r>
          </a:p>
          <a:p>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38200"/>
            <a:ext cx="8229600" cy="5486400"/>
          </a:xfrm>
        </p:spPr>
        <p:txBody>
          <a:bodyPr>
            <a:normAutofit/>
          </a:bodyPr>
          <a:lstStyle/>
          <a:p>
            <a:pPr fontAlgn="base">
              <a:buNone/>
            </a:pPr>
            <a:r>
              <a:rPr lang="en-US" b="1" dirty="0" smtClean="0"/>
              <a:t>2. Accounting Method</a:t>
            </a:r>
            <a:endParaRPr lang="en-US" dirty="0" smtClean="0"/>
          </a:p>
          <a:p>
            <a:pPr fontAlgn="base">
              <a:buNone/>
            </a:pPr>
            <a:r>
              <a:rPr lang="en-US" dirty="0" smtClean="0"/>
              <a:t>Assign credits to operations.</a:t>
            </a:r>
          </a:p>
          <a:p>
            <a:pPr fontAlgn="base">
              <a:buNone/>
            </a:pPr>
            <a:r>
              <a:rPr lang="en-US" dirty="0" smtClean="0"/>
              <a:t>Cheap operations save credits to pay for future expensive operations</a:t>
            </a:r>
            <a:r>
              <a:rPr lang="en-US" dirty="0" smtClean="0"/>
              <a:t>.</a:t>
            </a:r>
          </a:p>
          <a:p>
            <a:pPr fontAlgn="base">
              <a:buNone/>
            </a:pPr>
            <a:endParaRPr lang="en-US" dirty="0" smtClean="0"/>
          </a:p>
          <a:p>
            <a:pPr fontAlgn="base">
              <a:buNone/>
            </a:pPr>
            <a:r>
              <a:rPr lang="en-US" b="1" dirty="0" smtClean="0"/>
              <a:t>3. Potential Method</a:t>
            </a:r>
            <a:endParaRPr lang="en-US" dirty="0" smtClean="0"/>
          </a:p>
          <a:p>
            <a:pPr fontAlgn="base">
              <a:buNone/>
            </a:pPr>
            <a:r>
              <a:rPr lang="en-US" dirty="0" smtClean="0"/>
              <a:t>Define a potential function φ representing the “stored work” in a data structure.</a:t>
            </a:r>
          </a:p>
          <a:p>
            <a:pPr fontAlgn="base">
              <a:buNone/>
            </a:pPr>
            <a:r>
              <a:rPr lang="en-US" dirty="0" smtClean="0"/>
              <a:t>Amortized cost = actual cost + change in potential.</a:t>
            </a:r>
          </a:p>
          <a:p>
            <a:pPr fontAlgn="base">
              <a:buNone/>
            </a:pPr>
            <a:r>
              <a:rPr lang="en-US" dirty="0" smtClean="0"/>
              <a:t>Commonly used in balanced trees like Red-Black Trees.</a:t>
            </a:r>
          </a:p>
          <a:p>
            <a:pPr>
              <a:buNone/>
            </a:pP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fontAlgn="base"/>
            <a:r>
              <a:rPr lang="en-US" dirty="0" smtClean="0"/>
              <a:t>The solution is to increase the table size whenever it's full. Here are the steps:</a:t>
            </a:r>
          </a:p>
          <a:p>
            <a:pPr fontAlgn="base"/>
            <a:r>
              <a:rPr lang="en-US" dirty="0" smtClean="0"/>
              <a:t>Allocate memory for a larger table, typically twice the size of the old table.</a:t>
            </a:r>
          </a:p>
          <a:p>
            <a:pPr fontAlgn="base"/>
            <a:r>
              <a:rPr lang="en-US" dirty="0" smtClean="0"/>
              <a:t>Copy the contents of the old table to the new table.</a:t>
            </a:r>
          </a:p>
          <a:p>
            <a:pPr fontAlgn="base"/>
            <a:r>
              <a:rPr lang="en-US" dirty="0" smtClean="0"/>
              <a:t>Free the old table.</a:t>
            </a:r>
          </a:p>
          <a:p>
            <a:pPr fontAlgn="base"/>
            <a:r>
              <a:rPr lang="en-US" dirty="0" smtClean="0"/>
              <a:t>If space is available, insert a new item.</a:t>
            </a:r>
          </a:p>
          <a:p>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46" name="Picture 2"/>
          <p:cNvPicPr>
            <a:picLocks noGrp="1" noChangeAspect="1" noChangeArrowheads="1"/>
          </p:cNvPicPr>
          <p:nvPr>
            <p:ph idx="1"/>
          </p:nvPr>
        </p:nvPicPr>
        <p:blipFill>
          <a:blip r:embed="rId2" cstate="print"/>
          <a:srcRect/>
          <a:stretch>
            <a:fillRect/>
          </a:stretch>
        </p:blipFill>
        <p:spPr bwMode="auto">
          <a:xfrm>
            <a:off x="457200" y="76200"/>
            <a:ext cx="8329638" cy="4739481"/>
          </a:xfrm>
          <a:prstGeom prst="rect">
            <a:avLst/>
          </a:prstGeom>
          <a:noFill/>
          <a:ln w="9525">
            <a:noFill/>
            <a:miter lim="800000"/>
            <a:headEnd/>
            <a:tailEnd/>
          </a:ln>
        </p:spPr>
      </p:pic>
      <p:sp>
        <p:nvSpPr>
          <p:cNvPr id="5" name="Rectangle 4"/>
          <p:cNvSpPr/>
          <p:nvPr/>
        </p:nvSpPr>
        <p:spPr>
          <a:xfrm>
            <a:off x="381000" y="4876800"/>
            <a:ext cx="8458200" cy="1938992"/>
          </a:xfrm>
          <a:prstGeom prst="rect">
            <a:avLst/>
          </a:prstGeom>
        </p:spPr>
        <p:txBody>
          <a:bodyPr wrap="square">
            <a:spAutoFit/>
          </a:bodyPr>
          <a:lstStyle/>
          <a:p>
            <a:r>
              <a:rPr lang="en-US" sz="2400" b="1" dirty="0" smtClean="0"/>
              <a:t>Time Complexity</a:t>
            </a:r>
            <a:r>
              <a:rPr lang="en-US" sz="2400" dirty="0" smtClean="0"/>
              <a:t>: If simple analysis is used, the worst-case insertion cost is O(n). Therefore, the worst-case cost for n insertions is n * O(n), which is O(n^2). However, this analysis provides an upper bound that isn't tight for n insertions, as not all insertions take O(n) time.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Picture 2"/>
          <p:cNvPicPr>
            <a:picLocks noGrp="1" noChangeAspect="1" noChangeArrowheads="1"/>
          </p:cNvPicPr>
          <p:nvPr>
            <p:ph idx="1"/>
          </p:nvPr>
        </p:nvPicPr>
        <p:blipFill>
          <a:blip r:embed="rId2" cstate="print"/>
          <a:srcRect/>
          <a:stretch>
            <a:fillRect/>
          </a:stretch>
        </p:blipFill>
        <p:spPr bwMode="auto">
          <a:xfrm>
            <a:off x="533400" y="228600"/>
            <a:ext cx="7620000" cy="3810000"/>
          </a:xfrm>
          <a:prstGeom prst="rect">
            <a:avLst/>
          </a:prstGeom>
          <a:noFill/>
          <a:ln w="9525">
            <a:noFill/>
            <a:miter lim="800000"/>
            <a:headEnd/>
            <a:tailEnd/>
          </a:ln>
        </p:spPr>
      </p:pic>
      <p:sp>
        <p:nvSpPr>
          <p:cNvPr id="5" name="Rectangle 4"/>
          <p:cNvSpPr/>
          <p:nvPr/>
        </p:nvSpPr>
        <p:spPr>
          <a:xfrm>
            <a:off x="762000" y="4572000"/>
            <a:ext cx="7696200" cy="954107"/>
          </a:xfrm>
          <a:prstGeom prst="rect">
            <a:avLst/>
          </a:prstGeom>
        </p:spPr>
        <p:txBody>
          <a:bodyPr wrap="square">
            <a:spAutoFit/>
          </a:bodyPr>
          <a:lstStyle/>
          <a:p>
            <a:r>
              <a:rPr lang="en-US" sz="2800" dirty="0" smtClean="0"/>
              <a:t>Amortized Analysis proves the Dynamic Table scheme has O(1) insertion </a:t>
            </a:r>
            <a:r>
              <a:rPr lang="en-US" sz="2800" dirty="0" smtClean="0"/>
              <a:t>time</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794" name="Picture 2"/>
          <p:cNvPicPr>
            <a:picLocks noGrp="1" noChangeAspect="1" noChangeArrowheads="1"/>
          </p:cNvPicPr>
          <p:nvPr>
            <p:ph idx="1"/>
          </p:nvPr>
        </p:nvPicPr>
        <p:blipFill>
          <a:blip r:embed="rId2" cstate="print"/>
          <a:srcRect/>
          <a:stretch>
            <a:fillRect/>
          </a:stretch>
        </p:blipFill>
        <p:spPr bwMode="auto">
          <a:xfrm>
            <a:off x="221433" y="457200"/>
            <a:ext cx="8701136" cy="5867400"/>
          </a:xfrm>
          <a:prstGeom prst="rect">
            <a:avLst/>
          </a:prstGeom>
          <a:noFill/>
          <a:ln w="9525">
            <a:noFill/>
            <a:miter lim="800000"/>
            <a:headEnd/>
            <a:tailEnd/>
          </a:ln>
        </p:spPr>
      </p:pic>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Flow">
  <a:themeElements>
    <a:clrScheme name="Flow">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Flow">
      <a:majorFont>
        <a:latin typeface="Calibri"/>
        <a:ea typeface=""/>
        <a:cs typeface=""/>
        <a:font script="Jpan" typeface="ＭＳ Ｐゴシック"/>
        <a:font script="Hang" typeface="HY중고딕"/>
        <a:font script="Hans" typeface="隶书"/>
        <a:font script="Hant" typeface="微軟正黑體"/>
        <a:font script="Arab" typeface="Traditional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nstantia"/>
        <a:ea typeface=""/>
        <a:cs typeface=""/>
        <a:font script="Jpan" typeface="HGP明朝E"/>
        <a:font script="Hang" typeface="HY신명조"/>
        <a:font script="Hans" typeface="宋体"/>
        <a:font script="Hant" typeface="新細明體"/>
        <a:font script="Arab" typeface="Majalla UI"/>
        <a:font script="Hebr" typeface="David"/>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Flow">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Flow</Template>
  <TotalTime>249</TotalTime>
  <Words>1000</Words>
  <Application>Microsoft Office PowerPoint</Application>
  <PresentationFormat>On-screen Show (4:3)</PresentationFormat>
  <Paragraphs>117</Paragraphs>
  <Slides>27</Slides>
  <Notes>0</Notes>
  <HiddenSlides>0</HiddenSlides>
  <MMClips>0</MMClips>
  <ScaleCrop>false</ScaleCrop>
  <HeadingPairs>
    <vt:vector size="4" baseType="variant">
      <vt:variant>
        <vt:lpstr>Theme</vt:lpstr>
      </vt:variant>
      <vt:variant>
        <vt:i4>1</vt:i4>
      </vt:variant>
      <vt:variant>
        <vt:lpstr>Slide Titles</vt:lpstr>
      </vt:variant>
      <vt:variant>
        <vt:i4>27</vt:i4>
      </vt:variant>
    </vt:vector>
  </HeadingPairs>
  <TitlesOfParts>
    <vt:vector size="28" baseType="lpstr">
      <vt:lpstr>Flow</vt:lpstr>
      <vt:lpstr>Recursive Algorithms- Recurrence relations</vt:lpstr>
      <vt:lpstr>Recursive Algorithms- Recurrence relations</vt:lpstr>
      <vt:lpstr>Recurrence Relation</vt:lpstr>
      <vt:lpstr>Slide 4</vt:lpstr>
      <vt:lpstr>Slide 5</vt:lpstr>
      <vt:lpstr>Solving Recurrence Relations</vt:lpstr>
      <vt:lpstr>Substitution Method for Recurrences </vt:lpstr>
      <vt:lpstr>Substitution Method</vt:lpstr>
      <vt:lpstr>Slide 9</vt:lpstr>
      <vt:lpstr>The recursion tree method</vt:lpstr>
      <vt:lpstr>Slide 11</vt:lpstr>
      <vt:lpstr>Slide 12</vt:lpstr>
      <vt:lpstr>Slide 13</vt:lpstr>
      <vt:lpstr>Slide 14</vt:lpstr>
      <vt:lpstr>Master Theorem for Divide and Conquer Recurrences </vt:lpstr>
      <vt:lpstr>Slide 16</vt:lpstr>
      <vt:lpstr>Slide 17</vt:lpstr>
      <vt:lpstr>Slide 18</vt:lpstr>
      <vt:lpstr>Slide 19</vt:lpstr>
      <vt:lpstr>Slide 20</vt:lpstr>
      <vt:lpstr>Amortized Analysis </vt:lpstr>
      <vt:lpstr>Slide 22</vt:lpstr>
      <vt:lpstr>Slide 23</vt:lpstr>
      <vt:lpstr>Slide 24</vt:lpstr>
      <vt:lpstr>Slide 25</vt:lpstr>
      <vt:lpstr>Slide 26</vt:lpstr>
      <vt:lpstr>Slide 27</vt:lpstr>
    </vt:vector>
  </TitlesOfParts>
  <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The DataTech Labs</dc:creator>
  <cp:lastModifiedBy>The DataTech Labs</cp:lastModifiedBy>
  <cp:revision>53</cp:revision>
  <dcterms:created xsi:type="dcterms:W3CDTF">2006-08-16T00:00:00Z</dcterms:created>
  <dcterms:modified xsi:type="dcterms:W3CDTF">2026-07-28T10:33:41Z</dcterms:modified>
</cp:coreProperties>
</file>