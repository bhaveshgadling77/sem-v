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1" r:id="rId6"/>
    <p:sldId id="262" r:id="rId7"/>
    <p:sldId id="259" r:id="rId8"/>
    <p:sldId id="260"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2" Type="http://schemas.openxmlformats.org/officeDocument/2006/relationships/tableStyles" Target="tableStyles.xml"/><Relationship Id="rId31" Type="http://schemas.openxmlformats.org/officeDocument/2006/relationships/viewProps" Target="viewProps.xml"/><Relationship Id="rId30" Type="http://schemas.openxmlformats.org/officeDocument/2006/relationships/presProps" Target="presProps.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1D8BD707-D9CF-40AE-B4C6-C98DA3205C09}" type="datetimeFigureOut">
              <a:rPr lang="en-US" smtClean="0"/>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eeksforgeeks.org/dsa/tree-traversals-inorder-preorder-and-postorder/"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hyperlink" Target="https://www.geeksforgeeks.org/dsa/how-to-solve-time-complexity-recurrence-relations-using-recursion-tree-method/"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pPr algn="ctr"/>
            <a:r>
              <a:rPr lang="en-US" dirty="0" smtClean="0"/>
              <a:t>Recursive Algorithms- Recurrence relations</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667512"/>
          </a:xfrm>
        </p:spPr>
        <p:txBody>
          <a:bodyPr>
            <a:normAutofit/>
          </a:bodyPr>
          <a:lstStyle/>
          <a:p>
            <a:r>
              <a:rPr lang="en-US" sz="3600" dirty="0" smtClean="0"/>
              <a:t>Recursive Algorithms- Recurrence relations</a:t>
            </a:r>
            <a:endParaRPr lang="en-US" sz="3600" dirty="0"/>
          </a:p>
        </p:txBody>
      </p:sp>
      <p:sp>
        <p:nvSpPr>
          <p:cNvPr id="3" name="Content Placeholder 2"/>
          <p:cNvSpPr>
            <a:spLocks noGrp="1"/>
          </p:cNvSpPr>
          <p:nvPr>
            <p:ph idx="1"/>
          </p:nvPr>
        </p:nvSpPr>
        <p:spPr/>
        <p:txBody>
          <a:bodyPr/>
          <a:lstStyle/>
          <a:p>
            <a:r>
              <a:rPr lang="en-US" dirty="0" smtClean="0"/>
              <a:t>Recursive algorithm is which calls itself directly or indirectly</a:t>
            </a:r>
            <a:endParaRPr lang="en-US" dirty="0" smtClean="0"/>
          </a:p>
          <a:p>
            <a:r>
              <a:rPr lang="en-US" dirty="0" smtClean="0"/>
              <a:t>Recurrence Relation: “A relation which can be represented by using its previous results”</a:t>
            </a:r>
            <a:endParaRPr lang="en-US" dirty="0" smtClean="0"/>
          </a:p>
          <a:p>
            <a:r>
              <a:rPr lang="en-US" dirty="0" smtClean="0"/>
              <a:t>We use recurrence relations to find the time complexity of Recursive algorithms.</a:t>
            </a:r>
            <a:endParaRPr lang="en-US" dirty="0" smtClean="0"/>
          </a:p>
          <a:p>
            <a:r>
              <a:rPr lang="en-US" dirty="0" smtClean="0"/>
              <a:t>We may </a:t>
            </a:r>
            <a:r>
              <a:rPr lang="en-US" dirty="0" err="1" smtClean="0"/>
              <a:t>reperesent</a:t>
            </a:r>
            <a:r>
              <a:rPr lang="en-US" dirty="0" smtClean="0"/>
              <a:t> the time taken by recursive algorithms using the equations called recurrence relations , and we find the time complexity of recursive algorithms by solving the recurrence relations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0"/>
            <a:ext cx="8229600" cy="591312"/>
          </a:xfrm>
        </p:spPr>
        <p:txBody>
          <a:bodyPr>
            <a:normAutofit fontScale="90000"/>
          </a:bodyPr>
          <a:lstStyle/>
          <a:p>
            <a:r>
              <a:rPr lang="en-US" dirty="0" smtClean="0"/>
              <a:t>Recurrence Relation</a:t>
            </a:r>
            <a:endParaRPr lang="en-US" dirty="0"/>
          </a:p>
        </p:txBody>
      </p:sp>
      <p:pic>
        <p:nvPicPr>
          <p:cNvPr id="1030" name="Picture 6"/>
          <p:cNvPicPr>
            <a:picLocks noGrp="1" noChangeAspect="1" noChangeArrowheads="1"/>
          </p:cNvPicPr>
          <p:nvPr>
            <p:ph idx="1"/>
          </p:nvPr>
        </p:nvPicPr>
        <p:blipFill>
          <a:blip r:embed="rId1" cstate="print"/>
          <a:srcRect/>
          <a:stretch>
            <a:fillRect/>
          </a:stretch>
        </p:blipFill>
        <p:spPr bwMode="auto">
          <a:xfrm>
            <a:off x="1524000" y="1143462"/>
            <a:ext cx="5080530" cy="5485938"/>
          </a:xfrm>
          <a:prstGeom prst="rect">
            <a:avLst/>
          </a:prstGeom>
          <a:noFill/>
          <a:ln w="9525">
            <a:noFill/>
            <a:miter lim="800000"/>
            <a:headEnd/>
            <a:tailEnd/>
          </a:ln>
        </p:spPr>
      </p:pic>
      <p:pic>
        <p:nvPicPr>
          <p:cNvPr id="10" name="Picture 2"/>
          <p:cNvPicPr>
            <a:picLocks noChangeAspect="1" noChangeArrowheads="1"/>
          </p:cNvPicPr>
          <p:nvPr/>
        </p:nvPicPr>
        <p:blipFill>
          <a:blip r:embed="rId2" cstate="print"/>
          <a:srcRect/>
          <a:stretch>
            <a:fillRect/>
          </a:stretch>
        </p:blipFill>
        <p:spPr bwMode="auto">
          <a:xfrm>
            <a:off x="3886200" y="1905001"/>
            <a:ext cx="533400" cy="404352"/>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1" cstate="print"/>
          <a:srcRect/>
          <a:stretch>
            <a:fillRect/>
          </a:stretch>
        </p:blipFill>
        <p:spPr bwMode="auto">
          <a:xfrm>
            <a:off x="1143000" y="769807"/>
            <a:ext cx="6095999" cy="5973466"/>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1" cstate="print"/>
          <a:srcRect/>
          <a:stretch>
            <a:fillRect/>
          </a:stretch>
        </p:blipFill>
        <p:spPr bwMode="auto">
          <a:xfrm>
            <a:off x="304800" y="1752600"/>
            <a:ext cx="8558554" cy="2465861"/>
          </a:xfrm>
          <a:prstGeom prst="rect">
            <a:avLst/>
          </a:prstGeom>
          <a:noFill/>
          <a:ln w="9525">
            <a:noFill/>
            <a:miter lim="800000"/>
            <a:headEnd/>
            <a:tailE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591312"/>
          </a:xfrm>
        </p:spPr>
        <p:txBody>
          <a:bodyPr>
            <a:normAutofit fontScale="90000"/>
          </a:bodyPr>
          <a:lstStyle/>
          <a:p>
            <a:r>
              <a:rPr lang="en-US" dirty="0" smtClean="0"/>
              <a:t>Solving Recurrence Relations</a:t>
            </a:r>
            <a:endParaRPr lang="en-US" dirty="0"/>
          </a:p>
        </p:txBody>
      </p:sp>
      <p:sp>
        <p:nvSpPr>
          <p:cNvPr id="3" name="Content Placeholder 2"/>
          <p:cNvSpPr>
            <a:spLocks noGrp="1"/>
          </p:cNvSpPr>
          <p:nvPr>
            <p:ph idx="1"/>
          </p:nvPr>
        </p:nvSpPr>
        <p:spPr>
          <a:xfrm>
            <a:off x="457200" y="1524000"/>
            <a:ext cx="8229600" cy="4953000"/>
          </a:xfrm>
        </p:spPr>
        <p:txBody>
          <a:bodyPr>
            <a:normAutofit/>
          </a:bodyPr>
          <a:lstStyle/>
          <a:p>
            <a:r>
              <a:rPr lang="en-US" dirty="0" smtClean="0"/>
              <a:t>Recurrence relations can be solved by 3 methods </a:t>
            </a:r>
            <a:endParaRPr lang="en-US" dirty="0" smtClean="0"/>
          </a:p>
          <a:p>
            <a:endParaRPr lang="en-US" dirty="0" smtClean="0"/>
          </a:p>
          <a:p>
            <a:pPr>
              <a:buNone/>
            </a:pPr>
            <a:r>
              <a:rPr lang="en-US" dirty="0" smtClean="0"/>
              <a:t>1. </a:t>
            </a:r>
            <a:r>
              <a:rPr lang="en-US" b="1" dirty="0" smtClean="0"/>
              <a:t>Substitution Method</a:t>
            </a:r>
            <a:r>
              <a:rPr lang="en-US" dirty="0" smtClean="0"/>
              <a:t>: We guess the form of the solution and prove it using mathematical induction.</a:t>
            </a:r>
            <a:endParaRPr lang="en-US" dirty="0" smtClean="0"/>
          </a:p>
          <a:p>
            <a:pPr>
              <a:buNone/>
            </a:pPr>
            <a:r>
              <a:rPr lang="en-US" dirty="0" smtClean="0"/>
              <a:t>2. </a:t>
            </a:r>
            <a:r>
              <a:rPr lang="en-US" b="1" dirty="0" smtClean="0"/>
              <a:t>Recursion tree Method</a:t>
            </a:r>
            <a:r>
              <a:rPr lang="en-US" dirty="0" smtClean="0"/>
              <a:t>: This method represents the recurrence as a tree and computes the total cost by summing the cost at each level. </a:t>
            </a:r>
            <a:endParaRPr lang="en-US" dirty="0" smtClean="0"/>
          </a:p>
          <a:p>
            <a:pPr>
              <a:buNone/>
            </a:pPr>
            <a:r>
              <a:rPr lang="en-US" dirty="0" smtClean="0"/>
              <a:t>3. </a:t>
            </a:r>
            <a:r>
              <a:rPr lang="en-US" b="1" dirty="0" err="1" smtClean="0"/>
              <a:t>Mastrer’s</a:t>
            </a:r>
            <a:r>
              <a:rPr lang="en-US" b="1" dirty="0" smtClean="0"/>
              <a:t> Method</a:t>
            </a:r>
            <a:r>
              <a:rPr lang="en-US" dirty="0" smtClean="0"/>
              <a:t>: The Master Theorem provides a direct way to solve divide-and-conquer recurrences of the form:</a:t>
            </a:r>
            <a:br>
              <a:rPr lang="en-US" dirty="0" smtClean="0"/>
            </a:br>
            <a:r>
              <a:rPr lang="en-US" dirty="0" smtClean="0"/>
              <a:t>T(n) = </a:t>
            </a:r>
            <a:r>
              <a:rPr lang="en-US" dirty="0" err="1" smtClean="0"/>
              <a:t>aT</a:t>
            </a:r>
            <a:r>
              <a:rPr lang="en-US" dirty="0" smtClean="0"/>
              <a:t>(n/b) + f(n).</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724400"/>
          </a:xfrm>
        </p:spPr>
        <p:txBody>
          <a:bodyPr/>
          <a:lstStyle/>
          <a:p>
            <a:pPr fontAlgn="base"/>
            <a:r>
              <a:rPr lang="en-US" dirty="0" smtClean="0"/>
              <a:t>The Substitution Method is a technique used to find the time complexity of recursive algorithms by expanding the recurrence relation, identifying a pattern, and then proving the result using mathematical induction.</a:t>
            </a:r>
            <a:endParaRPr lang="en-US" dirty="0" smtClean="0"/>
          </a:p>
          <a:p>
            <a:pPr fontAlgn="base"/>
            <a:r>
              <a:rPr lang="en-US" dirty="0" smtClean="0"/>
              <a:t>Understand how the recursion works.</a:t>
            </a:r>
            <a:endParaRPr lang="en-US" dirty="0" smtClean="0"/>
          </a:p>
          <a:p>
            <a:pPr fontAlgn="base"/>
            <a:r>
              <a:rPr lang="en-US" dirty="0" smtClean="0"/>
              <a:t>Write the recurrence relation.</a:t>
            </a:r>
            <a:endParaRPr lang="en-US" dirty="0" smtClean="0"/>
          </a:p>
          <a:p>
            <a:pPr fontAlgn="base"/>
            <a:r>
              <a:rPr lang="en-US" dirty="0" smtClean="0"/>
              <a:t>Guess the solution based on the recursion pattern.</a:t>
            </a:r>
            <a:endParaRPr lang="en-US" dirty="0" smtClean="0"/>
          </a:p>
          <a:p>
            <a:pPr fontAlgn="base"/>
            <a:r>
              <a:rPr lang="en-US" dirty="0" smtClean="0"/>
              <a:t>Verify the guessed solution using Mathematical induction</a:t>
            </a:r>
            <a:endParaRPr lang="en-US" dirty="0" smtClean="0"/>
          </a:p>
          <a:p>
            <a:endParaRPr lang="en-US" dirty="0"/>
          </a:p>
        </p:txBody>
      </p:sp>
      <p:sp>
        <p:nvSpPr>
          <p:cNvPr id="4" name="Title 3"/>
          <p:cNvSpPr>
            <a:spLocks noGrp="1"/>
          </p:cNvSpPr>
          <p:nvPr>
            <p:ph type="title"/>
          </p:nvPr>
        </p:nvSpPr>
        <p:spPr/>
        <p:txBody>
          <a:bodyPr>
            <a:noAutofit/>
          </a:bodyPr>
          <a:lstStyle/>
          <a:p>
            <a:r>
              <a:rPr lang="en-US" sz="4000" b="1" dirty="0" smtClean="0"/>
              <a:t>Substitution Method for Recurrences</a:t>
            </a:r>
            <a:br>
              <a:rPr lang="en-US" sz="4000" b="1" dirty="0" smtClean="0"/>
            </a:b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591312"/>
          </a:xfrm>
        </p:spPr>
        <p:txBody>
          <a:bodyPr>
            <a:noAutofit/>
          </a:bodyPr>
          <a:lstStyle/>
          <a:p>
            <a:r>
              <a:rPr lang="en-US" sz="4000" b="1" dirty="0" smtClean="0"/>
              <a:t>Substitution Method</a:t>
            </a:r>
            <a:endParaRPr lang="en-US" sz="4000" dirty="0"/>
          </a:p>
        </p:txBody>
      </p:sp>
      <p:sp>
        <p:nvSpPr>
          <p:cNvPr id="3" name="Content Placeholder 2"/>
          <p:cNvSpPr>
            <a:spLocks noGrp="1"/>
          </p:cNvSpPr>
          <p:nvPr>
            <p:ph idx="1"/>
          </p:nvPr>
        </p:nvSpPr>
        <p:spPr>
          <a:xfrm>
            <a:off x="457200" y="990600"/>
            <a:ext cx="8229600" cy="5638800"/>
          </a:xfrm>
        </p:spPr>
        <p:txBody>
          <a:bodyPr>
            <a:normAutofit fontScale="85000" lnSpcReduction="10000"/>
          </a:bodyPr>
          <a:lstStyle/>
          <a:p>
            <a:pPr>
              <a:buNone/>
            </a:pPr>
            <a:r>
              <a:rPr lang="en-US" dirty="0" smtClean="0"/>
              <a:t>void fun(</a:t>
            </a:r>
            <a:r>
              <a:rPr lang="en-US" dirty="0" err="1" smtClean="0"/>
              <a:t>int</a:t>
            </a:r>
            <a:r>
              <a:rPr lang="en-US" dirty="0" smtClean="0"/>
              <a:t> n) {</a:t>
            </a:r>
            <a:endParaRPr lang="en-US" dirty="0" smtClean="0"/>
          </a:p>
          <a:p>
            <a:pPr>
              <a:buNone/>
            </a:pPr>
            <a:r>
              <a:rPr lang="en-US" dirty="0" smtClean="0"/>
              <a:t>    if (n &lt;= 0)</a:t>
            </a:r>
            <a:endParaRPr lang="en-US" dirty="0" smtClean="0"/>
          </a:p>
          <a:p>
            <a:pPr>
              <a:buNone/>
            </a:pPr>
            <a:r>
              <a:rPr lang="en-US" dirty="0" smtClean="0"/>
              <a:t>        return;</a:t>
            </a:r>
            <a:endParaRPr lang="en-US" dirty="0" smtClean="0"/>
          </a:p>
          <a:p>
            <a:pPr>
              <a:buNone/>
            </a:pPr>
            <a:r>
              <a:rPr lang="en-US" dirty="0" smtClean="0"/>
              <a:t>    </a:t>
            </a:r>
            <a:r>
              <a:rPr lang="en-US" dirty="0" err="1" smtClean="0"/>
              <a:t>cout</a:t>
            </a:r>
            <a:r>
              <a:rPr lang="en-US" dirty="0" smtClean="0"/>
              <a:t> &lt;&lt; "GFG";</a:t>
            </a:r>
            <a:endParaRPr lang="en-US" dirty="0" smtClean="0"/>
          </a:p>
          <a:p>
            <a:pPr>
              <a:buNone/>
            </a:pPr>
            <a:r>
              <a:rPr lang="en-US" dirty="0" smtClean="0"/>
              <a:t>    fun(n / 2);</a:t>
            </a:r>
            <a:endParaRPr lang="en-US" dirty="0" smtClean="0"/>
          </a:p>
          <a:p>
            <a:pPr>
              <a:buNone/>
            </a:pPr>
            <a:r>
              <a:rPr lang="en-US" dirty="0" smtClean="0"/>
              <a:t>    fun(n / 2);</a:t>
            </a:r>
            <a:endParaRPr lang="en-US" dirty="0" smtClean="0"/>
          </a:p>
          <a:p>
            <a:pPr>
              <a:buNone/>
            </a:pPr>
            <a:r>
              <a:rPr lang="en-US" dirty="0" smtClean="0"/>
              <a:t>}</a:t>
            </a:r>
            <a:endParaRPr lang="en-US" dirty="0" smtClean="0"/>
          </a:p>
          <a:p>
            <a:pPr fontAlgn="base">
              <a:buNone/>
            </a:pPr>
            <a:r>
              <a:rPr lang="en-US" b="1" dirty="0" smtClean="0"/>
              <a:t>Understanding the Recursion for This Code</a:t>
            </a:r>
            <a:endParaRPr lang="en-US" b="1" dirty="0" smtClean="0"/>
          </a:p>
          <a:p>
            <a:pPr fontAlgn="base"/>
            <a:r>
              <a:rPr lang="en-US" dirty="0" smtClean="0"/>
              <a:t>The function prints "GFG" once for each call.</a:t>
            </a:r>
            <a:endParaRPr lang="en-US" dirty="0" smtClean="0"/>
          </a:p>
          <a:p>
            <a:pPr fontAlgn="base"/>
            <a:r>
              <a:rPr lang="en-US" dirty="0" smtClean="0"/>
              <a:t>It makes two recursive calls, each with input size n/2.</a:t>
            </a:r>
            <a:endParaRPr lang="en-US" dirty="0" smtClean="0"/>
          </a:p>
          <a:p>
            <a:pPr fontAlgn="base"/>
            <a:r>
              <a:rPr lang="en-US" dirty="0" smtClean="0"/>
              <a:t>The recursion stops when n &lt;= 0.</a:t>
            </a:r>
            <a:endParaRPr lang="en-US" dirty="0" smtClean="0"/>
          </a:p>
          <a:p>
            <a:pPr fontAlgn="base">
              <a:buNone/>
            </a:pPr>
            <a:r>
              <a:rPr lang="en-US" b="1" dirty="0" smtClean="0"/>
              <a:t>Writing the Recurrence Relation</a:t>
            </a:r>
            <a:endParaRPr lang="en-US" b="1" dirty="0" smtClean="0"/>
          </a:p>
          <a:p>
            <a:pPr fontAlgn="base"/>
            <a:r>
              <a:rPr lang="en-US" dirty="0" smtClean="0"/>
              <a:t>The work done in each function call is constant (printing "GFG"), and the function makes two recursive calls of size n/2. Therefore, the recurrence relation is: T(n) = 2T(n/2) + O(1)</a:t>
            </a:r>
            <a:endParaRPr lang="en-US" dirty="0" smtClean="0"/>
          </a:p>
          <a:p>
            <a:pPr>
              <a:buNone/>
            </a:pP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6172200"/>
          </a:xfrm>
        </p:spPr>
        <p:txBody>
          <a:bodyPr>
            <a:normAutofit fontScale="77500" lnSpcReduction="20000"/>
          </a:bodyPr>
          <a:lstStyle/>
          <a:p>
            <a:pPr fontAlgn="base">
              <a:buNone/>
            </a:pPr>
            <a:r>
              <a:rPr lang="en-US" b="1" dirty="0" smtClean="0"/>
              <a:t>Applying the Substitution Method</a:t>
            </a:r>
            <a:endParaRPr lang="en-US" b="1" dirty="0" smtClean="0"/>
          </a:p>
          <a:p>
            <a:pPr fontAlgn="base"/>
            <a:r>
              <a:rPr lang="en-US" dirty="0" smtClean="0"/>
              <a:t>To guess the solution of the recurrence, we analyze the number of recursive calls made by the function.</a:t>
            </a:r>
            <a:br>
              <a:rPr lang="en-US" dirty="0" smtClean="0"/>
            </a:br>
            <a:r>
              <a:rPr lang="en-US" dirty="0" smtClean="0"/>
              <a:t>Each function call performs only constant work and splits the problem into two </a:t>
            </a:r>
            <a:r>
              <a:rPr lang="en-US" dirty="0" err="1" smtClean="0"/>
              <a:t>subproblems</a:t>
            </a:r>
            <a:r>
              <a:rPr lang="en-US" dirty="0" smtClean="0"/>
              <a:t> of size n/2.</a:t>
            </a:r>
            <a:br>
              <a:rPr lang="en-US" dirty="0" smtClean="0"/>
            </a:br>
            <a:r>
              <a:rPr lang="en-US" dirty="0" smtClean="0"/>
              <a:t>As the recursion continues, the number of function calls doubles at each level, and the recursion stops when the input size becomes constant, which happens after about log n levels.</a:t>
            </a:r>
            <a:endParaRPr lang="en-US" dirty="0" smtClean="0"/>
          </a:p>
          <a:p>
            <a:pPr fontAlgn="base"/>
            <a:r>
              <a:rPr lang="en-US" dirty="0" smtClean="0"/>
              <a:t>Hence, we guess that the time complexity is T(n) = O(n).</a:t>
            </a:r>
            <a:endParaRPr lang="en-US" dirty="0" smtClean="0"/>
          </a:p>
          <a:p>
            <a:pPr fontAlgn="base"/>
            <a:r>
              <a:rPr lang="en-US" dirty="0" smtClean="0"/>
              <a:t>Now, we verify this guess.</a:t>
            </a:r>
            <a:br>
              <a:rPr lang="en-US" dirty="0" smtClean="0"/>
            </a:br>
            <a:r>
              <a:rPr lang="en-US" dirty="0" smtClean="0"/>
              <a:t>Assume that for some constant c &gt; 0: T(n) ≤ </a:t>
            </a:r>
            <a:r>
              <a:rPr lang="en-US" dirty="0" err="1" smtClean="0"/>
              <a:t>cn</a:t>
            </a:r>
            <a:endParaRPr lang="en-US" dirty="0" smtClean="0"/>
          </a:p>
          <a:p>
            <a:pPr fontAlgn="base"/>
            <a:r>
              <a:rPr lang="en-US" dirty="0" smtClean="0"/>
              <a:t>Assume that this holds for smaller values of n, particularly for n/2: T(n/2) ≤ c(n/2)</a:t>
            </a:r>
            <a:endParaRPr lang="en-US" dirty="0" smtClean="0"/>
          </a:p>
          <a:p>
            <a:pPr fontAlgn="base"/>
            <a:r>
              <a:rPr lang="en-US" dirty="0" smtClean="0"/>
              <a:t>Substituting into the recurrence relation:</a:t>
            </a:r>
            <a:br>
              <a:rPr lang="en-US" dirty="0" smtClean="0"/>
            </a:br>
            <a:r>
              <a:rPr lang="en-US" dirty="0" smtClean="0"/>
              <a:t>T(n) = 2T(n/2) + O(1)</a:t>
            </a:r>
            <a:br>
              <a:rPr lang="en-US" dirty="0" smtClean="0"/>
            </a:br>
            <a:r>
              <a:rPr lang="en-US" dirty="0" smtClean="0"/>
              <a:t>     ≤ 2 · c(n/2) + O(1)</a:t>
            </a:r>
            <a:br>
              <a:rPr lang="en-US" dirty="0" smtClean="0"/>
            </a:br>
            <a:r>
              <a:rPr lang="en-US" dirty="0" smtClean="0"/>
              <a:t>     = </a:t>
            </a:r>
            <a:r>
              <a:rPr lang="en-US" dirty="0" err="1" smtClean="0"/>
              <a:t>cn</a:t>
            </a:r>
            <a:r>
              <a:rPr lang="en-US" dirty="0" smtClean="0"/>
              <a:t> + O(1)</a:t>
            </a:r>
            <a:br>
              <a:rPr lang="en-US" dirty="0" smtClean="0"/>
            </a:br>
            <a:r>
              <a:rPr lang="en-US" dirty="0" smtClean="0"/>
              <a:t>For sufficiently large values of n, the constant term is dominated by </a:t>
            </a:r>
            <a:r>
              <a:rPr lang="en-US" dirty="0" err="1" smtClean="0"/>
              <a:t>cn</a:t>
            </a:r>
            <a:r>
              <a:rPr lang="en-US" dirty="0" smtClean="0"/>
              <a:t>.</a:t>
            </a:r>
            <a:br>
              <a:rPr lang="en-US" dirty="0" smtClean="0"/>
            </a:br>
            <a:r>
              <a:rPr lang="en-US" dirty="0" smtClean="0"/>
              <a:t>Thus, T(n) ≤ </a:t>
            </a:r>
            <a:r>
              <a:rPr lang="en-US" dirty="0" err="1" smtClean="0"/>
              <a:t>cn</a:t>
            </a:r>
            <a:endParaRPr lang="en-US" dirty="0" smtClean="0"/>
          </a:p>
          <a:p>
            <a:pPr fontAlgn="base">
              <a:buNone/>
            </a:pPr>
            <a:endParaRPr lang="en-US" dirty="0" smtClean="0"/>
          </a:p>
          <a:p>
            <a:pPr fontAlgn="base">
              <a:buNone/>
            </a:pPr>
            <a:r>
              <a:rPr lang="en-US" b="1" dirty="0" smtClean="0"/>
              <a:t>Result: </a:t>
            </a:r>
            <a:r>
              <a:rPr lang="en-US" dirty="0" smtClean="0"/>
              <a:t>The assumption holds true, which confirms that the time complexity of the recurrence is: T(n) = O(n)</a:t>
            </a:r>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667512"/>
          </a:xfrm>
        </p:spPr>
        <p:txBody>
          <a:bodyPr>
            <a:normAutofit fontScale="90000"/>
          </a:bodyPr>
          <a:lstStyle/>
          <a:p>
            <a:r>
              <a:rPr lang="en-US" dirty="0" smtClean="0"/>
              <a:t>The recursion tree method</a:t>
            </a:r>
            <a:endParaRPr lang="en-US" dirty="0"/>
          </a:p>
        </p:txBody>
      </p:sp>
      <p:sp>
        <p:nvSpPr>
          <p:cNvPr id="3" name="Content Placeholder 2"/>
          <p:cNvSpPr>
            <a:spLocks noGrp="1"/>
          </p:cNvSpPr>
          <p:nvPr>
            <p:ph idx="1"/>
          </p:nvPr>
        </p:nvSpPr>
        <p:spPr>
          <a:xfrm>
            <a:off x="457200" y="1447800"/>
            <a:ext cx="8229600" cy="4876800"/>
          </a:xfrm>
        </p:spPr>
        <p:txBody>
          <a:bodyPr>
            <a:normAutofit/>
          </a:bodyPr>
          <a:lstStyle/>
          <a:p>
            <a:pPr fontAlgn="base"/>
            <a:r>
              <a:rPr lang="en-US" dirty="0" smtClean="0"/>
              <a:t>The recursion tree method is used to analyze the time complexity of recursive algorithms by visually representing the recurrence as a tree. Each node of the tree represents the work done in a single recursive call, and each level represents one stage of the recursion. Below are the steps used to find time complexity using recursion tree method.</a:t>
            </a:r>
            <a:endParaRPr lang="en-US" dirty="0" smtClean="0"/>
          </a:p>
          <a:p>
            <a:pPr fontAlgn="base"/>
            <a:r>
              <a:rPr lang="en-US" dirty="0" smtClean="0"/>
              <a:t>Draw a recursive </a:t>
            </a:r>
            <a:r>
              <a:rPr lang="en-US" u="sng" dirty="0" smtClean="0">
                <a:hlinkClick r:id="rId1"/>
              </a:rPr>
              <a:t>tree</a:t>
            </a:r>
            <a:r>
              <a:rPr lang="en-US" dirty="0" smtClean="0"/>
              <a:t> for given recurrence relation</a:t>
            </a:r>
            <a:endParaRPr lang="en-US" dirty="0" smtClean="0"/>
          </a:p>
          <a:p>
            <a:pPr fontAlgn="base"/>
            <a:r>
              <a:rPr lang="en-US" dirty="0" smtClean="0"/>
              <a:t>Calculate the cost at each level and count the total no of levels in the recursion tree.</a:t>
            </a:r>
            <a:endParaRPr lang="en-US" dirty="0" smtClean="0"/>
          </a:p>
          <a:p>
            <a:pPr fontAlgn="base"/>
            <a:r>
              <a:rPr lang="en-US" dirty="0" smtClean="0"/>
              <a:t>Sum up the cost of all the levels in the recursive tree</a:t>
            </a:r>
            <a:endParaRPr lang="en-US" dirty="0" smtClean="0"/>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8229600" cy="6477000"/>
          </a:xfrm>
        </p:spPr>
        <p:txBody>
          <a:bodyPr>
            <a:normAutofit fontScale="85000" lnSpcReduction="10000"/>
          </a:bodyPr>
          <a:lstStyle/>
          <a:p>
            <a:pPr>
              <a:buNone/>
            </a:pPr>
            <a:r>
              <a:rPr lang="en-US" dirty="0" smtClean="0"/>
              <a:t>void fun(</a:t>
            </a:r>
            <a:r>
              <a:rPr lang="en-US" dirty="0" err="1" smtClean="0"/>
              <a:t>int</a:t>
            </a:r>
            <a:r>
              <a:rPr lang="en-US" dirty="0" smtClean="0"/>
              <a:t> n) {</a:t>
            </a:r>
            <a:endParaRPr lang="en-US" dirty="0" smtClean="0"/>
          </a:p>
          <a:p>
            <a:pPr>
              <a:buNone/>
            </a:pPr>
            <a:r>
              <a:rPr lang="en-US" dirty="0" smtClean="0"/>
              <a:t>    if (n &lt;= 1)</a:t>
            </a:r>
            <a:endParaRPr lang="en-US" dirty="0" smtClean="0"/>
          </a:p>
          <a:p>
            <a:pPr>
              <a:buNone/>
            </a:pPr>
            <a:r>
              <a:rPr lang="en-US" dirty="0" smtClean="0"/>
              <a:t>        return;</a:t>
            </a:r>
            <a:endParaRPr lang="en-US" dirty="0" smtClean="0"/>
          </a:p>
          <a:p>
            <a:pPr>
              <a:buNone/>
            </a:pPr>
            <a:r>
              <a:rPr lang="en-US" dirty="0" smtClean="0"/>
              <a:t>    fun(n / 2);</a:t>
            </a:r>
            <a:endParaRPr lang="en-US" dirty="0" smtClean="0"/>
          </a:p>
          <a:p>
            <a:pPr>
              <a:buNone/>
            </a:pPr>
            <a:r>
              <a:rPr lang="en-US" dirty="0" smtClean="0"/>
              <a:t>    fun(n / 2);</a:t>
            </a:r>
            <a:endParaRPr lang="en-US" dirty="0" smtClean="0"/>
          </a:p>
          <a:p>
            <a:pPr>
              <a:buNone/>
            </a:pPr>
            <a:r>
              <a:rPr lang="en-US" dirty="0" smtClean="0"/>
              <a:t>    for (</a:t>
            </a:r>
            <a:r>
              <a:rPr lang="en-US" dirty="0" err="1" smtClean="0"/>
              <a:t>int</a:t>
            </a:r>
            <a:r>
              <a:rPr lang="en-US" dirty="0" smtClean="0"/>
              <a:t> </a:t>
            </a:r>
            <a:r>
              <a:rPr lang="en-US" dirty="0" err="1" smtClean="0"/>
              <a:t>i</a:t>
            </a:r>
            <a:r>
              <a:rPr lang="en-US" dirty="0" smtClean="0"/>
              <a:t> = 0; </a:t>
            </a:r>
            <a:r>
              <a:rPr lang="en-US" dirty="0" err="1" smtClean="0"/>
              <a:t>i</a:t>
            </a:r>
            <a:r>
              <a:rPr lang="en-US" dirty="0" smtClean="0"/>
              <a:t> &lt; n; </a:t>
            </a:r>
            <a:r>
              <a:rPr lang="en-US" dirty="0" err="1" smtClean="0"/>
              <a:t>i</a:t>
            </a:r>
            <a:r>
              <a:rPr lang="en-US" dirty="0" smtClean="0"/>
              <a:t>++) {</a:t>
            </a:r>
            <a:endParaRPr lang="en-US" dirty="0" smtClean="0"/>
          </a:p>
          <a:p>
            <a:pPr>
              <a:buNone/>
            </a:pPr>
            <a:r>
              <a:rPr lang="en-US" dirty="0" smtClean="0"/>
              <a:t>        </a:t>
            </a:r>
            <a:r>
              <a:rPr lang="en-US" dirty="0" err="1" smtClean="0"/>
              <a:t>cout</a:t>
            </a:r>
            <a:r>
              <a:rPr lang="en-US" dirty="0" smtClean="0"/>
              <a:t> &lt;&lt; "GFG ";</a:t>
            </a:r>
            <a:endParaRPr lang="en-US" dirty="0" smtClean="0"/>
          </a:p>
          <a:p>
            <a:pPr>
              <a:buNone/>
            </a:pPr>
            <a:r>
              <a:rPr lang="en-US" dirty="0" smtClean="0"/>
              <a:t>    }</a:t>
            </a:r>
            <a:endParaRPr lang="en-US" dirty="0" smtClean="0"/>
          </a:p>
          <a:p>
            <a:pPr>
              <a:buNone/>
            </a:pPr>
            <a:r>
              <a:rPr lang="en-US" dirty="0" smtClean="0"/>
              <a:t>}</a:t>
            </a:r>
            <a:endParaRPr lang="en-US" dirty="0" smtClean="0"/>
          </a:p>
          <a:p>
            <a:pPr fontAlgn="base"/>
            <a:r>
              <a:rPr lang="en-US" b="1" dirty="0" smtClean="0"/>
              <a:t>Understanding the Recursion for This Code</a:t>
            </a:r>
            <a:endParaRPr lang="en-US" b="1" dirty="0" smtClean="0"/>
          </a:p>
          <a:p>
            <a:pPr fontAlgn="base">
              <a:buNone/>
            </a:pPr>
            <a:r>
              <a:rPr lang="en-US" b="1" dirty="0" smtClean="0"/>
              <a:t>    </a:t>
            </a:r>
            <a:r>
              <a:rPr lang="en-US" dirty="0" smtClean="0"/>
              <a:t>The function makes two recursive calls, each on a </a:t>
            </a:r>
            <a:r>
              <a:rPr lang="en-US" dirty="0" err="1" smtClean="0"/>
              <a:t>subproblem</a:t>
            </a:r>
            <a:r>
              <a:rPr lang="en-US" dirty="0" smtClean="0"/>
              <a:t> of size n/2. After both recursive calls return, it performs a loop that prints "GFG" exactly n times, which is linear work for each function call. The recursion stops when n ≤ 1.</a:t>
            </a:r>
            <a:endParaRPr lang="en-US" dirty="0" smtClean="0"/>
          </a:p>
          <a:p>
            <a:pPr fontAlgn="base"/>
            <a:r>
              <a:rPr lang="en-US" b="1" dirty="0" smtClean="0"/>
              <a:t>Writing the Recurrence Relation</a:t>
            </a:r>
            <a:endParaRPr lang="en-US" b="1" dirty="0" smtClean="0"/>
          </a:p>
          <a:p>
            <a:pPr fontAlgn="base">
              <a:buNone/>
            </a:pPr>
            <a:r>
              <a:rPr lang="en-US" dirty="0" smtClean="0"/>
              <a:t>    Each function call makes two recursive calls of size n/2 and performs linear work after the recursion.</a:t>
            </a:r>
            <a:br>
              <a:rPr lang="en-US" dirty="0" smtClean="0"/>
            </a:br>
            <a:r>
              <a:rPr lang="en-US" dirty="0" smtClean="0"/>
              <a:t>Therefore, the recurrence relation is: T(n) = 2T(n/2) + O(n)</a:t>
            </a:r>
            <a:endParaRPr lang="en-US" dirty="0" smtClean="0"/>
          </a:p>
          <a:p>
            <a:pPr>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cstate="print"/>
          <a:srcRect/>
          <a:stretch>
            <a:fillRect/>
          </a:stretch>
        </p:blipFill>
        <p:spPr bwMode="auto">
          <a:xfrm>
            <a:off x="0" y="1"/>
            <a:ext cx="9144000" cy="3200400"/>
          </a:xfrm>
          <a:prstGeom prst="rect">
            <a:avLst/>
          </a:prstGeom>
          <a:noFill/>
          <a:ln w="9525">
            <a:noFill/>
            <a:miter lim="800000"/>
            <a:headEnd/>
            <a:tailEnd/>
          </a:ln>
        </p:spPr>
      </p:pic>
      <p:pic>
        <p:nvPicPr>
          <p:cNvPr id="1027" name="Picture 3"/>
          <p:cNvPicPr>
            <a:picLocks noChangeAspect="1" noChangeArrowheads="1"/>
          </p:cNvPicPr>
          <p:nvPr/>
        </p:nvPicPr>
        <p:blipFill>
          <a:blip r:embed="rId2" cstate="print"/>
          <a:srcRect/>
          <a:stretch>
            <a:fillRect/>
          </a:stretch>
        </p:blipFill>
        <p:spPr bwMode="auto">
          <a:xfrm>
            <a:off x="0" y="3200400"/>
            <a:ext cx="9144000" cy="3657600"/>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AutoShape 2" descr="3.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pic>
        <p:nvPicPr>
          <p:cNvPr id="3075" name="Picture 3"/>
          <p:cNvPicPr>
            <a:picLocks noChangeAspect="1" noChangeArrowheads="1"/>
          </p:cNvPicPr>
          <p:nvPr/>
        </p:nvPicPr>
        <p:blipFill>
          <a:blip r:embed="rId1" cstate="print"/>
          <a:srcRect/>
          <a:stretch>
            <a:fillRect/>
          </a:stretch>
        </p:blipFill>
        <p:spPr bwMode="auto">
          <a:xfrm>
            <a:off x="762000" y="1524000"/>
            <a:ext cx="7620000" cy="3810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457200" y="457200"/>
            <a:ext cx="8229600" cy="6096000"/>
          </a:xfrm>
        </p:spPr>
        <p:txBody>
          <a:bodyPr>
            <a:normAutofit fontScale="92500"/>
          </a:bodyPr>
          <a:lstStyle/>
          <a:p>
            <a:pPr fontAlgn="base"/>
            <a:r>
              <a:rPr lang="en-US" dirty="0" smtClean="0"/>
              <a:t>To find T(n), we analyze the recursion tree and sum the cost at each level.</a:t>
            </a:r>
            <a:endParaRPr lang="en-US" dirty="0" smtClean="0"/>
          </a:p>
          <a:p>
            <a:pPr fontAlgn="base"/>
            <a:r>
              <a:rPr lang="en-US" b="1" dirty="0" smtClean="0"/>
              <a:t>Level 0: </a:t>
            </a:r>
            <a:r>
              <a:rPr lang="en-US" dirty="0" smtClean="0"/>
              <a:t>The root contributes a cost of </a:t>
            </a:r>
            <a:r>
              <a:rPr lang="en-US" dirty="0" err="1" smtClean="0"/>
              <a:t>cn</a:t>
            </a:r>
            <a:r>
              <a:rPr lang="en-US" dirty="0" smtClean="0"/>
              <a:t>.</a:t>
            </a:r>
            <a:endParaRPr lang="en-US" dirty="0" smtClean="0"/>
          </a:p>
          <a:p>
            <a:pPr fontAlgn="base"/>
            <a:r>
              <a:rPr lang="en-US" b="1" dirty="0" smtClean="0"/>
              <a:t>Level 1: </a:t>
            </a:r>
            <a:r>
              <a:rPr lang="en-US" dirty="0" smtClean="0"/>
              <a:t>The </a:t>
            </a:r>
            <a:r>
              <a:rPr lang="en-US" dirty="0" err="1" smtClean="0"/>
              <a:t>subproblems</a:t>
            </a:r>
            <a:r>
              <a:rPr lang="en-US" dirty="0" smtClean="0"/>
              <a:t> are of sizes n/2 and n/2.</a:t>
            </a:r>
            <a:br>
              <a:rPr lang="en-US" dirty="0" smtClean="0"/>
            </a:br>
            <a:r>
              <a:rPr lang="en-US" dirty="0" smtClean="0"/>
              <a:t>Their total cost is: c(n/2)+ c(n/2) = </a:t>
            </a:r>
            <a:r>
              <a:rPr lang="en-US" dirty="0" err="1" smtClean="0"/>
              <a:t>cn</a:t>
            </a:r>
            <a:r>
              <a:rPr lang="en-US" dirty="0" smtClean="0"/>
              <a:t> </a:t>
            </a:r>
            <a:endParaRPr lang="en-US" dirty="0" smtClean="0"/>
          </a:p>
          <a:p>
            <a:pPr fontAlgn="base"/>
            <a:r>
              <a:rPr lang="en-US" b="1" dirty="0" smtClean="0"/>
              <a:t>Level 2:</a:t>
            </a:r>
            <a:r>
              <a:rPr lang="en-US" dirty="0" smtClean="0"/>
              <a:t> There are four </a:t>
            </a:r>
            <a:r>
              <a:rPr lang="en-US" dirty="0" err="1" smtClean="0"/>
              <a:t>subproblems</a:t>
            </a:r>
            <a:r>
              <a:rPr lang="en-US" dirty="0" smtClean="0"/>
              <a:t> of size n/4.</a:t>
            </a:r>
            <a:br>
              <a:rPr lang="en-US" dirty="0" smtClean="0"/>
            </a:br>
            <a:r>
              <a:rPr lang="en-US" dirty="0" smtClean="0"/>
              <a:t>Continuing this way, the work at each level </a:t>
            </a:r>
            <a:r>
              <a:rPr lang="en-US" dirty="0" err="1" smtClean="0"/>
              <a:t>reamains</a:t>
            </a:r>
            <a:r>
              <a:rPr lang="en-US" dirty="0" smtClean="0"/>
              <a:t> </a:t>
            </a:r>
            <a:r>
              <a:rPr lang="en-US" dirty="0" err="1" smtClean="0"/>
              <a:t>cn</a:t>
            </a:r>
            <a:r>
              <a:rPr lang="en-US" dirty="0" smtClean="0"/>
              <a:t>.</a:t>
            </a:r>
            <a:endParaRPr lang="en-US" dirty="0" smtClean="0"/>
          </a:p>
          <a:p>
            <a:pPr fontAlgn="base">
              <a:buNone/>
            </a:pPr>
            <a:r>
              <a:rPr lang="en-US" b="1" dirty="0" smtClean="0"/>
              <a:t>Total Work Across All Levels</a:t>
            </a:r>
            <a:endParaRPr lang="en-US" b="1" dirty="0" smtClean="0"/>
          </a:p>
          <a:p>
            <a:pPr fontAlgn="base"/>
            <a:r>
              <a:rPr lang="en-US" dirty="0" smtClean="0"/>
              <a:t>The input size halves at each level, and the recursion stops when the size becomes constant.</a:t>
            </a:r>
            <a:br>
              <a:rPr lang="en-US" dirty="0" smtClean="0"/>
            </a:br>
            <a:r>
              <a:rPr lang="en-US" dirty="0" smtClean="0"/>
              <a:t>Hence, the height of the recursion tree is log ⁡n.</a:t>
            </a:r>
            <a:endParaRPr lang="en-US" dirty="0" smtClean="0"/>
          </a:p>
          <a:p>
            <a:pPr fontAlgn="base"/>
            <a:r>
              <a:rPr lang="en-US" dirty="0" smtClean="0"/>
              <a:t>Since each level contributes a cost of </a:t>
            </a:r>
            <a:r>
              <a:rPr lang="en-US" dirty="0" err="1" smtClean="0"/>
              <a:t>cn</a:t>
            </a:r>
            <a:r>
              <a:rPr lang="en-US" dirty="0" smtClean="0"/>
              <a:t>, the total work is:</a:t>
            </a:r>
            <a:br>
              <a:rPr lang="en-US" dirty="0" smtClean="0"/>
            </a:br>
            <a:r>
              <a:rPr lang="en-US" dirty="0" smtClean="0"/>
              <a:t>T(n) = </a:t>
            </a:r>
            <a:r>
              <a:rPr lang="en-US" dirty="0" err="1" smtClean="0"/>
              <a:t>cn</a:t>
            </a:r>
            <a:r>
              <a:rPr lang="en-US" dirty="0" smtClean="0"/>
              <a:t> + </a:t>
            </a:r>
            <a:r>
              <a:rPr lang="en-US" dirty="0" err="1" smtClean="0"/>
              <a:t>cn</a:t>
            </a:r>
            <a:r>
              <a:rPr lang="en-US" dirty="0" smtClean="0"/>
              <a:t> + ....... + </a:t>
            </a:r>
            <a:r>
              <a:rPr lang="en-US" dirty="0" err="1" smtClean="0"/>
              <a:t>cn</a:t>
            </a:r>
            <a:r>
              <a:rPr lang="en-US" dirty="0" smtClean="0"/>
              <a:t> (log n levels)</a:t>
            </a:r>
            <a:br>
              <a:rPr lang="en-US" dirty="0" smtClean="0"/>
            </a:br>
            <a:r>
              <a:rPr lang="en-US" dirty="0" smtClean="0"/>
              <a:t>T(n) = </a:t>
            </a:r>
            <a:r>
              <a:rPr lang="en-US" dirty="0" err="1" smtClean="0"/>
              <a:t>cn</a:t>
            </a:r>
            <a:r>
              <a:rPr lang="en-US" dirty="0" smtClean="0"/>
              <a:t> log n</a:t>
            </a:r>
            <a:endParaRPr lang="en-US" dirty="0" smtClean="0"/>
          </a:p>
          <a:p>
            <a:pPr fontAlgn="base"/>
            <a:r>
              <a:rPr lang="en-US" b="1" dirty="0" smtClean="0"/>
              <a:t>Final Result:</a:t>
            </a:r>
            <a:r>
              <a:rPr lang="en-US" dirty="0" smtClean="0"/>
              <a:t> T(n) = O(n log n)</a:t>
            </a:r>
            <a:endParaRPr lang="en-US" dirty="0" smtClean="0"/>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smtClean="0"/>
              <a:t>Master Theorem for Divide and Conquer Recurrences</a:t>
            </a:r>
            <a:br>
              <a:rPr lang="en-US" sz="3600" b="1" dirty="0" smtClean="0"/>
            </a:br>
            <a:endParaRPr lang="en-US" sz="3600" dirty="0"/>
          </a:p>
        </p:txBody>
      </p:sp>
      <p:sp>
        <p:nvSpPr>
          <p:cNvPr id="3" name="Content Placeholder 2"/>
          <p:cNvSpPr>
            <a:spLocks noGrp="1"/>
          </p:cNvSpPr>
          <p:nvPr>
            <p:ph idx="1"/>
          </p:nvPr>
        </p:nvSpPr>
        <p:spPr>
          <a:xfrm>
            <a:off x="457200" y="1676400"/>
            <a:ext cx="8229600" cy="1447800"/>
          </a:xfrm>
        </p:spPr>
        <p:txBody>
          <a:bodyPr/>
          <a:lstStyle/>
          <a:p>
            <a:r>
              <a:rPr lang="en-US" dirty="0" smtClean="0"/>
              <a:t>The Master Theorem is a tool used to solve recurrence relations that arise in the analysis of divide-and-conquer algorithms. </a:t>
            </a:r>
            <a:endParaRPr lang="en-US" dirty="0"/>
          </a:p>
        </p:txBody>
      </p:sp>
      <p:sp>
        <p:nvSpPr>
          <p:cNvPr id="27650" name="AutoShape 2" descr="consider_the_recurrence_relation_"/>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pic>
        <p:nvPicPr>
          <p:cNvPr id="27652" name="Picture 4"/>
          <p:cNvPicPr>
            <a:picLocks noChangeAspect="1" noChangeArrowheads="1"/>
          </p:cNvPicPr>
          <p:nvPr/>
        </p:nvPicPr>
        <p:blipFill>
          <a:blip r:embed="rId1" cstate="print"/>
          <a:srcRect/>
          <a:stretch>
            <a:fillRect/>
          </a:stretch>
        </p:blipFill>
        <p:spPr bwMode="auto">
          <a:xfrm>
            <a:off x="2390775" y="2990850"/>
            <a:ext cx="4362450" cy="876300"/>
          </a:xfrm>
          <a:prstGeom prst="rect">
            <a:avLst/>
          </a:prstGeom>
          <a:noFill/>
          <a:ln w="9525">
            <a:noFill/>
            <a:miter lim="800000"/>
            <a:headEnd/>
            <a:tailEnd/>
          </a:ln>
        </p:spPr>
      </p:pic>
      <p:sp>
        <p:nvSpPr>
          <p:cNvPr id="9" name="Content Placeholder 2"/>
          <p:cNvSpPr txBox="1"/>
          <p:nvPr/>
        </p:nvSpPr>
        <p:spPr>
          <a:xfrm>
            <a:off x="533400" y="4191000"/>
            <a:ext cx="8229600" cy="2133600"/>
          </a:xfrm>
          <a:prstGeom prst="rect">
            <a:avLst/>
          </a:prstGeom>
        </p:spPr>
        <p:txBody>
          <a:bodyPr vert="horz">
            <a:normAutofit fontScale="92500" lnSpcReduction="20000"/>
          </a:bodyPr>
          <a:lstStyle/>
          <a:p>
            <a:pPr fontAlgn="base"/>
            <a:r>
              <a:rPr lang="en-US" sz="2800" dirty="0" smtClean="0"/>
              <a:t>where:</a:t>
            </a:r>
            <a:endParaRPr lang="en-US" sz="2800" dirty="0" smtClean="0"/>
          </a:p>
          <a:p>
            <a:pPr fontAlgn="base"/>
            <a:r>
              <a:rPr lang="en-US" sz="2800" dirty="0" smtClean="0"/>
              <a:t>n is the size of the problem</a:t>
            </a:r>
            <a:endParaRPr lang="en-US" sz="2800" dirty="0" smtClean="0"/>
          </a:p>
          <a:p>
            <a:pPr fontAlgn="base"/>
            <a:r>
              <a:rPr lang="en-US" sz="2800" dirty="0" smtClean="0"/>
              <a:t>a ≥ 1 is the number of </a:t>
            </a:r>
            <a:r>
              <a:rPr lang="en-US" sz="2800" dirty="0" err="1" smtClean="0"/>
              <a:t>subproblems</a:t>
            </a:r>
            <a:endParaRPr lang="en-US" sz="2800" dirty="0" smtClean="0"/>
          </a:p>
          <a:p>
            <a:pPr fontAlgn="base"/>
            <a:r>
              <a:rPr lang="en-US" sz="2800" dirty="0" smtClean="0"/>
              <a:t>n/b is the size of each </a:t>
            </a:r>
            <a:r>
              <a:rPr lang="en-US" sz="2800" dirty="0" err="1" smtClean="0"/>
              <a:t>subproblem</a:t>
            </a:r>
            <a:r>
              <a:rPr lang="en-US" sz="2800" dirty="0" smtClean="0"/>
              <a:t> (b &gt; 1)</a:t>
            </a:r>
            <a:endParaRPr lang="en-US" sz="2800" dirty="0" smtClean="0"/>
          </a:p>
          <a:p>
            <a:pPr fontAlgn="base"/>
            <a:r>
              <a:rPr lang="en-US" sz="2800" dirty="0" smtClean="0"/>
              <a:t>f(n) is the cost of work done outside the recursive calls (dividing the problem and combining results)</a:t>
            </a:r>
            <a:endParaRPr 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4" name="Picture 2"/>
          <p:cNvPicPr>
            <a:picLocks noGrp="1" noChangeAspect="1" noChangeArrowheads="1"/>
          </p:cNvPicPr>
          <p:nvPr>
            <p:ph idx="1"/>
          </p:nvPr>
        </p:nvPicPr>
        <p:blipFill>
          <a:blip r:embed="rId1" cstate="print"/>
          <a:srcRect/>
          <a:stretch>
            <a:fillRect/>
          </a:stretch>
        </p:blipFill>
        <p:spPr bwMode="auto">
          <a:xfrm>
            <a:off x="1188781" y="685800"/>
            <a:ext cx="6766437" cy="594360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p:cNvPicPr>
            <a:picLocks noGrp="1" noChangeAspect="1" noChangeArrowheads="1"/>
          </p:cNvPicPr>
          <p:nvPr>
            <p:ph idx="1"/>
          </p:nvPr>
        </p:nvPicPr>
        <p:blipFill>
          <a:blip r:embed="rId1" cstate="print"/>
          <a:srcRect/>
          <a:stretch>
            <a:fillRect/>
          </a:stretch>
        </p:blipFill>
        <p:spPr bwMode="auto">
          <a:xfrm>
            <a:off x="381000" y="152400"/>
            <a:ext cx="7532039" cy="5943599"/>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62000"/>
            <a:ext cx="8229600" cy="5562600"/>
          </a:xfrm>
        </p:spPr>
        <p:txBody>
          <a:bodyPr>
            <a:normAutofit/>
          </a:bodyPr>
          <a:lstStyle/>
          <a:p>
            <a:pPr fontAlgn="base">
              <a:buNone/>
            </a:pPr>
            <a:r>
              <a:rPr lang="en-US" dirty="0" smtClean="0"/>
              <a:t>Hence, the running time can be expressed as:</a:t>
            </a:r>
            <a:endParaRPr lang="en-US" dirty="0" smtClean="0"/>
          </a:p>
          <a:p>
            <a:pPr fontAlgn="base">
              <a:buNone/>
            </a:pPr>
            <a:r>
              <a:rPr lang="en-US" dirty="0" smtClean="0"/>
              <a:t>T(n) = </a:t>
            </a:r>
            <a:r>
              <a:rPr lang="en-US" dirty="0" err="1" smtClean="0"/>
              <a:t>aT</a:t>
            </a:r>
            <a:r>
              <a:rPr lang="en-US" dirty="0" smtClean="0"/>
              <a:t>(n/b) + f(n)</a:t>
            </a:r>
            <a:endParaRPr lang="en-US" dirty="0" smtClean="0"/>
          </a:p>
          <a:p>
            <a:pPr fontAlgn="base">
              <a:buNone/>
            </a:pPr>
            <a:endParaRPr lang="en-US" dirty="0" smtClean="0"/>
          </a:p>
          <a:p>
            <a:pPr fontAlgn="base">
              <a:buNone/>
            </a:pPr>
            <a:r>
              <a:rPr lang="en-US" b="1" dirty="0" smtClean="0"/>
              <a:t>When Master Theorem Cannot Be Applied</a:t>
            </a:r>
            <a:endParaRPr lang="en-US" b="1" dirty="0" smtClean="0"/>
          </a:p>
          <a:p>
            <a:pPr fontAlgn="base">
              <a:buNone/>
            </a:pPr>
            <a:r>
              <a:rPr lang="en-US" dirty="0" smtClean="0"/>
              <a:t>The Master Theorem does not apply in the following cases:</a:t>
            </a:r>
            <a:endParaRPr lang="en-US" dirty="0" smtClean="0"/>
          </a:p>
          <a:p>
            <a:pPr fontAlgn="base">
              <a:buNone/>
            </a:pPr>
            <a:r>
              <a:rPr lang="en-US" dirty="0" smtClean="0"/>
              <a:t>If T(n) is not monotonic</a:t>
            </a:r>
            <a:br>
              <a:rPr lang="en-US" dirty="0" smtClean="0"/>
            </a:br>
            <a:r>
              <a:rPr lang="en-US" dirty="0" smtClean="0"/>
              <a:t>Example: T(n) = sin⁡(n)</a:t>
            </a:r>
            <a:endParaRPr lang="en-US" dirty="0" smtClean="0"/>
          </a:p>
          <a:p>
            <a:pPr fontAlgn="base">
              <a:buNone/>
            </a:pPr>
            <a:r>
              <a:rPr lang="en-US" dirty="0" smtClean="0"/>
              <a:t>If f(n) is not a polynomial or does not fit the required form</a:t>
            </a:r>
            <a:br>
              <a:rPr lang="en-US" dirty="0" smtClean="0"/>
            </a:br>
            <a:r>
              <a:rPr lang="en-US" dirty="0" smtClean="0"/>
              <a:t>Example: T(n) = 2T(n/2) + 2</a:t>
            </a:r>
            <a:r>
              <a:rPr lang="en-US" baseline="30000" dirty="0" smtClean="0"/>
              <a:t>n</a:t>
            </a:r>
            <a:endParaRPr lang="en-US" dirty="0" smtClean="0"/>
          </a:p>
          <a:p>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lstStyle/>
          <a:p>
            <a:pPr fontAlgn="base"/>
            <a:r>
              <a:rPr lang="en-US" b="1" dirty="0" smtClean="0"/>
              <a:t>How does the theorem work?</a:t>
            </a:r>
            <a:endParaRPr lang="en-US" b="1" dirty="0" smtClean="0"/>
          </a:p>
          <a:p>
            <a:pPr fontAlgn="base"/>
            <a:r>
              <a:rPr lang="en-US" dirty="0" smtClean="0"/>
              <a:t>The master method is mainly derived from the </a:t>
            </a:r>
            <a:r>
              <a:rPr lang="en-US" u="sng" dirty="0" smtClean="0">
                <a:hlinkClick r:id="rId1"/>
              </a:rPr>
              <a:t>recurrence tree method</a:t>
            </a:r>
            <a:r>
              <a:rPr lang="en-US" dirty="0" smtClean="0"/>
              <a:t>. If we draw the recurrence tree of T(n) = </a:t>
            </a:r>
            <a:r>
              <a:rPr lang="en-US" dirty="0" err="1" smtClean="0"/>
              <a:t>aT</a:t>
            </a:r>
            <a:r>
              <a:rPr lang="en-US" dirty="0" smtClean="0"/>
              <a:t>(n/b) + f(n), we can see that the work done at the root is f(n), and work done at all leaves is O(</a:t>
            </a:r>
            <a:r>
              <a:rPr lang="en-US" dirty="0" err="1" smtClean="0"/>
              <a:t>n</a:t>
            </a:r>
            <a:r>
              <a:rPr lang="en-US" baseline="30000" dirty="0" err="1" smtClean="0"/>
              <a:t>c</a:t>
            </a:r>
            <a:r>
              <a:rPr lang="en-US" dirty="0" smtClean="0"/>
              <a:t>) where c is </a:t>
            </a:r>
            <a:r>
              <a:rPr lang="en-US" dirty="0" err="1" smtClean="0"/>
              <a:t>Log</a:t>
            </a:r>
            <a:r>
              <a:rPr lang="en-US" baseline="-25000" dirty="0" err="1" smtClean="0"/>
              <a:t>b</a:t>
            </a:r>
            <a:r>
              <a:rPr lang="en-US" dirty="0" err="1" smtClean="0"/>
              <a:t>a</a:t>
            </a:r>
            <a:r>
              <a:rPr lang="en-US" dirty="0" smtClean="0"/>
              <a:t>. And the height of the recurrence tree is </a:t>
            </a:r>
            <a:r>
              <a:rPr lang="en-US" dirty="0" err="1" smtClean="0"/>
              <a:t>Log</a:t>
            </a:r>
            <a:r>
              <a:rPr lang="en-US" baseline="-25000" dirty="0" err="1" smtClean="0"/>
              <a:t>b</a:t>
            </a:r>
            <a:r>
              <a:rPr lang="en-US" dirty="0" err="1" smtClean="0"/>
              <a:t>n</a:t>
            </a:r>
            <a:r>
              <a:rPr lang="en-US" dirty="0" smtClean="0"/>
              <a:t> </a:t>
            </a:r>
            <a:endParaRPr lang="en-US" dirty="0" smtClean="0"/>
          </a:p>
          <a:p>
            <a:endParaRPr lang="en-US" dirty="0"/>
          </a:p>
        </p:txBody>
      </p:sp>
      <p:pic>
        <p:nvPicPr>
          <p:cNvPr id="30722" name="Picture 2"/>
          <p:cNvPicPr>
            <a:picLocks noChangeAspect="1" noChangeArrowheads="1"/>
          </p:cNvPicPr>
          <p:nvPr/>
        </p:nvPicPr>
        <p:blipFill>
          <a:blip r:embed="rId2" cstate="print"/>
          <a:srcRect/>
          <a:stretch>
            <a:fillRect/>
          </a:stretch>
        </p:blipFill>
        <p:spPr bwMode="auto">
          <a:xfrm>
            <a:off x="1905000" y="3362325"/>
            <a:ext cx="5067300" cy="3343275"/>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fontScale="92500" lnSpcReduction="20000"/>
          </a:bodyPr>
          <a:lstStyle/>
          <a:p>
            <a:pPr fontAlgn="base"/>
            <a:r>
              <a:rPr lang="en-US" dirty="0" smtClean="0"/>
              <a:t>In the recurrence tree method, we calculate the total work done. If the work done at leaves is </a:t>
            </a:r>
            <a:r>
              <a:rPr lang="en-US" dirty="0" err="1" smtClean="0"/>
              <a:t>polynomially</a:t>
            </a:r>
            <a:r>
              <a:rPr lang="en-US" dirty="0" smtClean="0"/>
              <a:t> more, then leaves are the dominant part, and our result becomes the work done at leaves (Case 1). If work done at leaves and root is asymptotically the same, then our result becomes height multiplied by work done at any level (Case 2). If work done at the root is asymptotically more, then our result becomes work done at the root (Case 3). </a:t>
            </a:r>
            <a:endParaRPr lang="en-US" dirty="0" smtClean="0"/>
          </a:p>
          <a:p>
            <a:pPr fontAlgn="base"/>
            <a:r>
              <a:rPr lang="en-US" b="1" dirty="0" smtClean="0"/>
              <a:t>Key Points</a:t>
            </a:r>
            <a:endParaRPr lang="en-US" b="1" dirty="0" smtClean="0"/>
          </a:p>
          <a:p>
            <a:pPr fontAlgn="base"/>
            <a:r>
              <a:rPr lang="en-US" dirty="0" smtClean="0"/>
              <a:t>The Master Theorem is specifically designed for divide-and-conquer recurrences</a:t>
            </a:r>
            <a:endParaRPr lang="en-US" dirty="0" smtClean="0"/>
          </a:p>
          <a:p>
            <a:pPr fontAlgn="base"/>
            <a:r>
              <a:rPr lang="en-US" dirty="0" smtClean="0"/>
              <a:t>It applies only to recurrences of the form: </a:t>
            </a:r>
            <a:endParaRPr lang="en-US" dirty="0" smtClean="0"/>
          </a:p>
          <a:p>
            <a:pPr fontAlgn="base">
              <a:buNone/>
            </a:pPr>
            <a:r>
              <a:rPr lang="en-US" dirty="0" smtClean="0"/>
              <a:t>		T(n) = </a:t>
            </a:r>
            <a:r>
              <a:rPr lang="en-US" dirty="0" err="1" smtClean="0"/>
              <a:t>aT</a:t>
            </a:r>
            <a:r>
              <a:rPr lang="en-US" dirty="0" smtClean="0"/>
              <a:t>(n/b) + f(n)</a:t>
            </a:r>
            <a:endParaRPr lang="en-US" dirty="0" smtClean="0"/>
          </a:p>
          <a:p>
            <a:pPr fontAlgn="base"/>
            <a:r>
              <a:rPr lang="en-US" dirty="0" smtClean="0"/>
              <a:t>It provides a quick and reliable way to compute asymptotic time complexity</a:t>
            </a:r>
            <a:endParaRPr lang="en-US" dirty="0" smtClean="0"/>
          </a:p>
          <a:p>
            <a:pPr fontAlgn="base"/>
            <a:r>
              <a:rPr lang="en-US" dirty="0" smtClean="0"/>
              <a:t>Not all recurrences can be solved using this method</a:t>
            </a:r>
            <a:endParaRPr lang="en-US" dirty="0" smtClean="0"/>
          </a:p>
          <a:p>
            <a:pPr fontAlgn="base"/>
            <a:r>
              <a:rPr lang="en-US" dirty="0" smtClean="0"/>
              <a:t>For unsupported cases, we either use Substitution Method or Recurrence Tree Method</a:t>
            </a:r>
            <a:endParaRPr lang="en-US" dirty="0" smtClean="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Amortized Analysis</a:t>
            </a:r>
            <a:br>
              <a:rPr lang="en-US" b="1" dirty="0" smtClean="0"/>
            </a:br>
            <a:endParaRPr lang="en-US" dirty="0"/>
          </a:p>
        </p:txBody>
      </p:sp>
      <p:sp>
        <p:nvSpPr>
          <p:cNvPr id="3" name="Content Placeholder 2"/>
          <p:cNvSpPr>
            <a:spLocks noGrp="1"/>
          </p:cNvSpPr>
          <p:nvPr>
            <p:ph idx="1"/>
          </p:nvPr>
        </p:nvSpPr>
        <p:spPr/>
        <p:txBody>
          <a:bodyPr/>
          <a:lstStyle/>
          <a:p>
            <a:pPr fontAlgn="base"/>
            <a:r>
              <a:rPr lang="en-US" dirty="0" smtClean="0"/>
              <a:t>Amortized analysis studies the average cost of operations over a sequence, rather than focusing on the worst-case of a single operation.</a:t>
            </a:r>
            <a:endParaRPr lang="en-US" dirty="0" smtClean="0"/>
          </a:p>
          <a:p>
            <a:pPr fontAlgn="base"/>
            <a:r>
              <a:rPr lang="en-US" dirty="0" smtClean="0"/>
              <a:t>It is especially useful for dynamic data structures like arrays, hash tables, and trees, where occasional expensive operations occur.</a:t>
            </a:r>
            <a:endParaRPr lang="en-US" dirty="0" smtClean="0"/>
          </a:p>
          <a:p>
            <a:pPr fontAlgn="base"/>
            <a:r>
              <a:rPr lang="en-US" dirty="0" smtClean="0"/>
              <a:t>By spreading the cost of rare costly operations across many cheap ones, it gives a realistic measure of algorithm efficiency.</a:t>
            </a:r>
            <a:endParaRPr lang="en-US" dirty="0" smtClean="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8229600" cy="5943600"/>
          </a:xfrm>
        </p:spPr>
        <p:txBody>
          <a:bodyPr>
            <a:normAutofit lnSpcReduction="10000"/>
          </a:bodyPr>
          <a:lstStyle/>
          <a:p>
            <a:r>
              <a:rPr lang="en-US" b="1" dirty="0" smtClean="0"/>
              <a:t>Example</a:t>
            </a:r>
            <a:r>
              <a:rPr lang="en-US" dirty="0" smtClean="0"/>
              <a:t>: In a dynamic array, inserting elements is usually cheap (O(1)), but occasionally the array needs resizing, which is costly. By spreading the cost of resizing over all insertions, the amortized cost per insertion remains O(1).</a:t>
            </a:r>
            <a:endParaRPr lang="en-US" dirty="0" smtClean="0"/>
          </a:p>
          <a:p>
            <a:endParaRPr lang="en-US" dirty="0" smtClean="0"/>
          </a:p>
          <a:p>
            <a:pPr fontAlgn="base"/>
            <a:r>
              <a:rPr lang="en-US" b="1" dirty="0" smtClean="0"/>
              <a:t>Techniques of Amortized Analysis</a:t>
            </a:r>
            <a:endParaRPr lang="en-US" b="1" dirty="0" smtClean="0"/>
          </a:p>
          <a:p>
            <a:pPr fontAlgn="base">
              <a:buNone/>
            </a:pPr>
            <a:r>
              <a:rPr lang="en-US" dirty="0" smtClean="0"/>
              <a:t>   There are three standard methods to perform amortized analysis:</a:t>
            </a:r>
            <a:endParaRPr lang="en-US" dirty="0" smtClean="0"/>
          </a:p>
          <a:p>
            <a:pPr fontAlgn="base">
              <a:buNone/>
            </a:pPr>
            <a:r>
              <a:rPr lang="en-US" b="1" dirty="0" smtClean="0"/>
              <a:t>1. Aggregate Method</a:t>
            </a:r>
            <a:endParaRPr lang="en-US" dirty="0" smtClean="0"/>
          </a:p>
          <a:p>
            <a:pPr fontAlgn="base">
              <a:buNone/>
            </a:pPr>
            <a:r>
              <a:rPr lang="en-US" dirty="0" smtClean="0"/>
              <a:t>Compute the total cost of 𝑛</a:t>
            </a:r>
            <a:r>
              <a:rPr lang="en-US" dirty="0" err="1" smtClean="0"/>
              <a:t>th</a:t>
            </a:r>
            <a:r>
              <a:rPr lang="en-US" dirty="0" smtClean="0"/>
              <a:t> operations and divide it by number of operations to obtain the average cost..</a:t>
            </a:r>
            <a:endParaRPr lang="en-US" dirty="0" smtClean="0"/>
          </a:p>
          <a:p>
            <a:pPr fontAlgn="base">
              <a:buNone/>
            </a:pPr>
            <a:r>
              <a:rPr lang="en-US" dirty="0" smtClean="0"/>
              <a:t>Example: Dynamic array insertions involve occasional costly resizes, but the average cost per insertion is low.</a:t>
            </a:r>
            <a:endParaRPr lang="en-US" dirty="0" smtClean="0"/>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486400"/>
          </a:xfrm>
        </p:spPr>
        <p:txBody>
          <a:bodyPr>
            <a:normAutofit/>
          </a:bodyPr>
          <a:lstStyle/>
          <a:p>
            <a:pPr fontAlgn="base">
              <a:buNone/>
            </a:pPr>
            <a:r>
              <a:rPr lang="en-US" b="1" dirty="0" smtClean="0"/>
              <a:t>2. Accounting Method</a:t>
            </a:r>
            <a:endParaRPr lang="en-US" dirty="0" smtClean="0"/>
          </a:p>
          <a:p>
            <a:pPr fontAlgn="base">
              <a:buNone/>
            </a:pPr>
            <a:r>
              <a:rPr lang="en-US" dirty="0" smtClean="0"/>
              <a:t>Assign credits to operations.</a:t>
            </a:r>
            <a:endParaRPr lang="en-US" dirty="0" smtClean="0"/>
          </a:p>
          <a:p>
            <a:pPr fontAlgn="base">
              <a:buNone/>
            </a:pPr>
            <a:r>
              <a:rPr lang="en-US" dirty="0" smtClean="0"/>
              <a:t>Cheap operations save credits to pay for future expensive operations.</a:t>
            </a:r>
            <a:endParaRPr lang="en-US" dirty="0" smtClean="0"/>
          </a:p>
          <a:p>
            <a:pPr fontAlgn="base">
              <a:buNone/>
            </a:pPr>
            <a:endParaRPr lang="en-US" dirty="0" smtClean="0"/>
          </a:p>
          <a:p>
            <a:pPr fontAlgn="base">
              <a:buNone/>
            </a:pPr>
            <a:r>
              <a:rPr lang="en-US" b="1" dirty="0" smtClean="0"/>
              <a:t>3. Potential Method</a:t>
            </a:r>
            <a:endParaRPr lang="en-US" dirty="0" smtClean="0"/>
          </a:p>
          <a:p>
            <a:pPr fontAlgn="base">
              <a:buNone/>
            </a:pPr>
            <a:r>
              <a:rPr lang="en-US" dirty="0" smtClean="0"/>
              <a:t>Define a potential function φ representing the “stored work” in a data structure.</a:t>
            </a:r>
            <a:endParaRPr lang="en-US" dirty="0" smtClean="0"/>
          </a:p>
          <a:p>
            <a:pPr fontAlgn="base">
              <a:buNone/>
            </a:pPr>
            <a:r>
              <a:rPr lang="en-US" dirty="0" smtClean="0"/>
              <a:t>Amortized cost = actual cost + change in potential.</a:t>
            </a:r>
            <a:endParaRPr lang="en-US" dirty="0" smtClean="0"/>
          </a:p>
          <a:p>
            <a:pPr fontAlgn="base">
              <a:buNone/>
            </a:pPr>
            <a:r>
              <a:rPr lang="en-US" dirty="0" smtClean="0"/>
              <a:t>Commonly used in balanced trees like Red-Black Trees.</a:t>
            </a:r>
            <a:endParaRPr lang="en-US" dirty="0" smtClean="0"/>
          </a:p>
          <a:p>
            <a:pPr>
              <a:buNone/>
            </a:pP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fontAlgn="base"/>
            <a:r>
              <a:rPr lang="en-US" dirty="0" smtClean="0"/>
              <a:t>The solution is to increase the table size whenever it's full. Here are the steps:</a:t>
            </a:r>
            <a:endParaRPr lang="en-US" dirty="0" smtClean="0"/>
          </a:p>
          <a:p>
            <a:pPr fontAlgn="base"/>
            <a:r>
              <a:rPr lang="en-US" dirty="0" smtClean="0"/>
              <a:t>Allocate memory for a larger table, typically twice the size of the old table.</a:t>
            </a:r>
            <a:endParaRPr lang="en-US" dirty="0" smtClean="0"/>
          </a:p>
          <a:p>
            <a:pPr fontAlgn="base"/>
            <a:r>
              <a:rPr lang="en-US" dirty="0" smtClean="0"/>
              <a:t>Copy the contents of the old table to the new table.</a:t>
            </a:r>
            <a:endParaRPr lang="en-US" dirty="0" smtClean="0"/>
          </a:p>
          <a:p>
            <a:pPr fontAlgn="base"/>
            <a:r>
              <a:rPr lang="en-US" dirty="0" smtClean="0"/>
              <a:t>Free the old table.</a:t>
            </a:r>
            <a:endParaRPr lang="en-US" dirty="0" smtClean="0"/>
          </a:p>
          <a:p>
            <a:pPr fontAlgn="base"/>
            <a:r>
              <a:rPr lang="en-US" dirty="0" smtClean="0"/>
              <a:t>If space is available, insert a new item.</a:t>
            </a:r>
            <a:endParaRPr lang="en-US" dirty="0" smtClean="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Grp="1" noChangeAspect="1" noChangeArrowheads="1"/>
          </p:cNvPicPr>
          <p:nvPr>
            <p:ph idx="1"/>
          </p:nvPr>
        </p:nvPicPr>
        <p:blipFill>
          <a:blip r:embed="rId1" cstate="print"/>
          <a:srcRect/>
          <a:stretch>
            <a:fillRect/>
          </a:stretch>
        </p:blipFill>
        <p:spPr bwMode="auto">
          <a:xfrm>
            <a:off x="457200" y="76200"/>
            <a:ext cx="8329638" cy="4739481"/>
          </a:xfrm>
          <a:prstGeom prst="rect">
            <a:avLst/>
          </a:prstGeom>
          <a:noFill/>
          <a:ln w="9525">
            <a:noFill/>
            <a:miter lim="800000"/>
            <a:headEnd/>
            <a:tailEnd/>
          </a:ln>
        </p:spPr>
      </p:pic>
      <p:sp>
        <p:nvSpPr>
          <p:cNvPr id="5" name="Rectangle 4"/>
          <p:cNvSpPr/>
          <p:nvPr/>
        </p:nvSpPr>
        <p:spPr>
          <a:xfrm>
            <a:off x="381000" y="4876800"/>
            <a:ext cx="8458200" cy="1938992"/>
          </a:xfrm>
          <a:prstGeom prst="rect">
            <a:avLst/>
          </a:prstGeom>
        </p:spPr>
        <p:txBody>
          <a:bodyPr wrap="square">
            <a:spAutoFit/>
          </a:bodyPr>
          <a:lstStyle/>
          <a:p>
            <a:r>
              <a:rPr lang="en-US" sz="2400" b="1" dirty="0" smtClean="0"/>
              <a:t>Time Complexity</a:t>
            </a:r>
            <a:r>
              <a:rPr lang="en-US" sz="2400" dirty="0" smtClean="0"/>
              <a:t>: If simple analysis is used, the worst-case insertion cost is O(n). Therefore, the worst-case cost for n insertions is n * O(n), which is O(n^2). However, this analysis provides an upper bound that isn't tight for n insertions, as not all insertions take O(n) time.</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2"/>
          <p:cNvPicPr>
            <a:picLocks noGrp="1" noChangeAspect="1" noChangeArrowheads="1"/>
          </p:cNvPicPr>
          <p:nvPr>
            <p:ph idx="1"/>
          </p:nvPr>
        </p:nvPicPr>
        <p:blipFill>
          <a:blip r:embed="rId1" cstate="print"/>
          <a:srcRect/>
          <a:stretch>
            <a:fillRect/>
          </a:stretch>
        </p:blipFill>
        <p:spPr bwMode="auto">
          <a:xfrm>
            <a:off x="533400" y="228600"/>
            <a:ext cx="7620000" cy="3810000"/>
          </a:xfrm>
          <a:prstGeom prst="rect">
            <a:avLst/>
          </a:prstGeom>
          <a:noFill/>
          <a:ln w="9525">
            <a:noFill/>
            <a:miter lim="800000"/>
            <a:headEnd/>
            <a:tailEnd/>
          </a:ln>
        </p:spPr>
      </p:pic>
      <p:sp>
        <p:nvSpPr>
          <p:cNvPr id="5" name="Rectangle 4"/>
          <p:cNvSpPr/>
          <p:nvPr/>
        </p:nvSpPr>
        <p:spPr>
          <a:xfrm>
            <a:off x="762000" y="4572000"/>
            <a:ext cx="7696200" cy="954107"/>
          </a:xfrm>
          <a:prstGeom prst="rect">
            <a:avLst/>
          </a:prstGeom>
        </p:spPr>
        <p:txBody>
          <a:bodyPr wrap="square">
            <a:spAutoFit/>
          </a:bodyPr>
          <a:lstStyle/>
          <a:p>
            <a:r>
              <a:rPr lang="en-US" sz="2800" dirty="0" smtClean="0"/>
              <a:t>Amortized Analysis proves the Dynamic Table scheme has O(1) insertion time</a:t>
            </a:r>
            <a:endParaRPr lang="en-US" sz="2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p:cNvPicPr>
            <a:picLocks noGrp="1" noChangeAspect="1" noChangeArrowheads="1"/>
          </p:cNvPicPr>
          <p:nvPr>
            <p:ph idx="1"/>
          </p:nvPr>
        </p:nvPicPr>
        <p:blipFill>
          <a:blip r:embed="rId1" cstate="print"/>
          <a:srcRect/>
          <a:stretch>
            <a:fillRect/>
          </a:stretch>
        </p:blipFill>
        <p:spPr bwMode="auto">
          <a:xfrm>
            <a:off x="221433" y="457200"/>
            <a:ext cx="8701136" cy="5867400"/>
          </a:xfrm>
          <a:prstGeom prst="rect">
            <a:avLst/>
          </a:prstGeom>
          <a:noFill/>
          <a:ln w="9525">
            <a:noFill/>
            <a:miter lim="800000"/>
            <a:headEnd/>
            <a:tailEnd/>
          </a:ln>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8401</Words>
  <Application>WPS Presentation</Application>
  <PresentationFormat>On-screen Show (4:3)</PresentationFormat>
  <Paragraphs>158</Paragraphs>
  <Slides>27</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27</vt:i4>
      </vt:variant>
    </vt:vector>
  </HeadingPairs>
  <TitlesOfParts>
    <vt:vector size="42" baseType="lpstr">
      <vt:lpstr>Arial</vt:lpstr>
      <vt:lpstr>SimSun</vt:lpstr>
      <vt:lpstr>Wingdings</vt:lpstr>
      <vt:lpstr>Wingdings 2</vt:lpstr>
      <vt:lpstr>Constantia</vt:lpstr>
      <vt:lpstr>URW Bookman</vt:lpstr>
      <vt:lpstr>Calibri</vt:lpstr>
      <vt:lpstr>DejaVu Sans</vt:lpstr>
      <vt:lpstr>微软雅黑</vt:lpstr>
      <vt:lpstr>Droid Sans Fallback</vt:lpstr>
      <vt:lpstr>Arial Unicode MS</vt:lpstr>
      <vt:lpstr>AR PL KaitiM Big5</vt:lpstr>
      <vt:lpstr>BatangChe</vt:lpstr>
      <vt:lpstr>Baekmuk Batang</vt:lpstr>
      <vt:lpstr>Flow</vt:lpstr>
      <vt:lpstr>Recursive Algorithms- Recurrence relations</vt:lpstr>
      <vt:lpstr>Recursive Algorithms- Recurrence relations</vt:lpstr>
      <vt:lpstr>Recurrence Relation</vt:lpstr>
      <vt:lpstr>PowerPoint 演示文稿</vt:lpstr>
      <vt:lpstr>PowerPoint 演示文稿</vt:lpstr>
      <vt:lpstr>Solving Recurrence Relations</vt:lpstr>
      <vt:lpstr>Substitution Method for Recurrences </vt:lpstr>
      <vt:lpstr>Substitution Method</vt:lpstr>
      <vt:lpstr>PowerPoint 演示文稿</vt:lpstr>
      <vt:lpstr>The recursion tree method</vt:lpstr>
      <vt:lpstr>PowerPoint 演示文稿</vt:lpstr>
      <vt:lpstr>PowerPoint 演示文稿</vt:lpstr>
      <vt:lpstr>PowerPoint 演示文稿</vt:lpstr>
      <vt:lpstr>PowerPoint 演示文稿</vt:lpstr>
      <vt:lpstr>Master Theorem for Divide and Conquer Recurrences </vt:lpstr>
      <vt:lpstr>PowerPoint 演示文稿</vt:lpstr>
      <vt:lpstr>PowerPoint 演示文稿</vt:lpstr>
      <vt:lpstr>PowerPoint 演示文稿</vt:lpstr>
      <vt:lpstr>PowerPoint 演示文稿</vt:lpstr>
      <vt:lpstr>PowerPoint 演示文稿</vt:lpstr>
      <vt:lpstr>Amortized Analysis </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The DataTech Labs</dc:creator>
  <cp:lastModifiedBy>bhavesh</cp:lastModifiedBy>
  <cp:revision>54</cp:revision>
  <dcterms:created xsi:type="dcterms:W3CDTF">2026-09-08T02:52:43Z</dcterms:created>
  <dcterms:modified xsi:type="dcterms:W3CDTF">2026-09-08T02:52:43Z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1033-10.1.0.6757</vt:lpwstr>
  </property>
</Properties>
</file>