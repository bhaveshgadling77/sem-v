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61" r:id="rId4"/>
    <p:sldId id="262" r:id="rId5"/>
    <p:sldId id="284" r:id="rId6"/>
    <p:sldId id="287" r:id="rId7"/>
    <p:sldId id="285" r:id="rId8"/>
    <p:sldId id="286" r:id="rId9"/>
    <p:sldId id="264" r:id="rId10"/>
    <p:sldId id="289" r:id="rId11"/>
    <p:sldId id="290" r:id="rId12"/>
    <p:sldId id="291" r:id="rId13"/>
    <p:sldId id="292" r:id="rId14"/>
    <p:sldId id="265" r:id="rId15"/>
    <p:sldId id="288" r:id="rId16"/>
    <p:sldId id="282" r:id="rId17"/>
    <p:sldId id="293" r:id="rId18"/>
    <p:sldId id="294" r:id="rId19"/>
    <p:sldId id="29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0" y="3124200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8000" y="5003322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2895600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0" y="5010150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235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1274"/>
            <a:ext cx="10972800" cy="624380"/>
          </a:xfrm>
        </p:spPr>
        <p:txBody>
          <a:bodyPr>
            <a:normAutofit/>
          </a:bodyPr>
          <a:lstStyle/>
          <a:p>
            <a:r>
              <a:rPr dirty="0"/>
              <a:t>Introduction to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328468"/>
            <a:ext cx="10972800" cy="4996132"/>
          </a:xfrm>
        </p:spPr>
        <p:txBody>
          <a:bodyPr>
            <a:normAutofit lnSpcReduction="10000"/>
          </a:bodyPr>
          <a:lstStyle/>
          <a:p>
            <a:pPr>
              <a:buNone/>
              <a:defRPr sz="2200"/>
            </a:pPr>
            <a:r>
              <a:rPr dirty="0" smtClean="0"/>
              <a:t> </a:t>
            </a:r>
            <a:r>
              <a:rPr sz="2200" b="1" dirty="0">
                <a:latin typeface="Arial" pitchFamily="34" charset="0"/>
                <a:cs typeface="Arial" pitchFamily="34" charset="0"/>
              </a:rPr>
              <a:t>Definition of </a:t>
            </a:r>
            <a:r>
              <a:rPr sz="2200" b="1" dirty="0" smtClean="0">
                <a:latin typeface="Arial" pitchFamily="34" charset="0"/>
                <a:cs typeface="Arial" pitchFamily="34" charset="0"/>
              </a:rPr>
              <a:t>algorithm</a:t>
            </a:r>
            <a:endParaRPr lang="en-US" sz="2200" b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  <a:defRPr sz="2200"/>
            </a:pPr>
            <a:r>
              <a:rPr lang="en-US" sz="2200" dirty="0" smtClean="0">
                <a:latin typeface="Arial" pitchFamily="34" charset="0"/>
                <a:cs typeface="Arial" pitchFamily="34" charset="0"/>
              </a:rPr>
              <a:t>    An </a:t>
            </a:r>
            <a:r>
              <a:rPr lang="en-US" sz="2200" b="1" dirty="0" smtClean="0">
                <a:latin typeface="Arial" pitchFamily="34" charset="0"/>
                <a:cs typeface="Arial" pitchFamily="34" charset="0"/>
              </a:rPr>
              <a:t>algorithm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is a finite, step-by-step, unambiguous set of instructions designed to perform a specific task or solve a particular problem. It takes an input, processes it through logical steps, and produces a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output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r>
              <a:rPr sz="2200" dirty="0">
                <a:latin typeface="Arial" pitchFamily="34" charset="0"/>
                <a:cs typeface="Arial" pitchFamily="34" charset="0"/>
              </a:rPr>
              <a:t/>
            </a:r>
            <a:br>
              <a:rPr sz="2200" dirty="0">
                <a:latin typeface="Arial" pitchFamily="34" charset="0"/>
                <a:cs typeface="Arial" pitchFamily="34" charset="0"/>
              </a:rPr>
            </a:br>
            <a:r>
              <a:rPr lang="en-US" sz="2200" b="1" dirty="0" smtClean="0">
                <a:latin typeface="Arial" pitchFamily="34" charset="0"/>
                <a:cs typeface="Arial" pitchFamily="34" charset="0"/>
              </a:rPr>
              <a:t>Characteristics of an Algorithm</a:t>
            </a:r>
          </a:p>
          <a:p>
            <a:r>
              <a:rPr lang="en-US" sz="2200" dirty="0" smtClean="0">
                <a:latin typeface="Arial" pitchFamily="34" charset="0"/>
                <a:cs typeface="Arial" pitchFamily="34" charset="0"/>
              </a:rPr>
              <a:t>To be considered a valid algorithm, a procedure must satisfy five core criteria:</a:t>
            </a:r>
          </a:p>
          <a:p>
            <a:r>
              <a:rPr lang="en-US" sz="2200" b="1" dirty="0" smtClean="0">
                <a:latin typeface="Arial" pitchFamily="34" charset="0"/>
                <a:cs typeface="Arial" pitchFamily="34" charset="0"/>
              </a:rPr>
              <a:t>Input: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Zero or more well-defined quantities supplied externally.</a:t>
            </a:r>
          </a:p>
          <a:p>
            <a:r>
              <a:rPr lang="en-US" sz="2200" b="1" dirty="0" smtClean="0">
                <a:latin typeface="Arial" pitchFamily="34" charset="0"/>
                <a:cs typeface="Arial" pitchFamily="34" charset="0"/>
              </a:rPr>
              <a:t>Output: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At least one clearly defined result produced.</a:t>
            </a:r>
          </a:p>
          <a:p>
            <a:r>
              <a:rPr lang="en-US" sz="2200" b="1" dirty="0" smtClean="0">
                <a:latin typeface="Arial" pitchFamily="34" charset="0"/>
                <a:cs typeface="Arial" pitchFamily="34" charset="0"/>
              </a:rPr>
              <a:t>Definiteness: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Every step must be unambiguous and clear.</a:t>
            </a:r>
          </a:p>
          <a:p>
            <a:r>
              <a:rPr lang="en-US" sz="2200" b="1" dirty="0" smtClean="0">
                <a:latin typeface="Arial" pitchFamily="34" charset="0"/>
                <a:cs typeface="Arial" pitchFamily="34" charset="0"/>
              </a:rPr>
              <a:t>Finiteness: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Must terminate after a finite number of steps for all input cases.</a:t>
            </a:r>
          </a:p>
          <a:p>
            <a:r>
              <a:rPr lang="en-US" sz="2200" b="1" dirty="0" smtClean="0">
                <a:latin typeface="Arial" pitchFamily="34" charset="0"/>
                <a:cs typeface="Arial" pitchFamily="34" charset="0"/>
              </a:rPr>
              <a:t>Effectiveness: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Every instruction must be very basic so that it can be carried out, in principle, by a person using only pencil and paper. It is not enough that each operation be definite as in criterion c; it also must be feasible.</a:t>
            </a:r>
          </a:p>
          <a:p>
            <a:pPr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90"/>
            <a:ext cx="10972800" cy="3052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</a:t>
            </a:r>
            <a:r>
              <a:rPr dirty="0" smtClean="0"/>
              <a:t>of </a:t>
            </a:r>
            <a:r>
              <a:rPr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009293"/>
            <a:ext cx="10972800" cy="5315309"/>
          </a:xfrm>
        </p:spPr>
        <p:txBody>
          <a:bodyPr>
            <a:normAutofit fontScale="62500" lnSpcReduction="20000"/>
          </a:bodyPr>
          <a:lstStyle/>
          <a:p>
            <a:pPr fontAlgn="base">
              <a:buNone/>
            </a:pPr>
            <a:r>
              <a:rPr lang="en-US" b="1" dirty="0" smtClean="0"/>
              <a:t>Problem Statement:</a:t>
            </a:r>
          </a:p>
          <a:p>
            <a:pPr fontAlgn="base">
              <a:buNone/>
            </a:pPr>
            <a:r>
              <a:rPr lang="en-US" dirty="0" smtClean="0"/>
              <a:t>Write a function that returns the largest </a:t>
            </a:r>
            <a:r>
              <a:rPr lang="en-US" dirty="0" smtClean="0"/>
              <a:t>from two numbers.</a:t>
            </a:r>
            <a:endParaRPr lang="en-US" dirty="0" smtClean="0"/>
          </a:p>
          <a:p>
            <a:pPr fontAlgn="base"/>
            <a:endParaRPr lang="en-US" dirty="0" smtClean="0"/>
          </a:p>
          <a:p>
            <a:pPr fontAlgn="base">
              <a:buNone/>
            </a:pPr>
            <a:r>
              <a:rPr lang="en-US" b="1" dirty="0" smtClean="0"/>
              <a:t>Algorithm:</a:t>
            </a:r>
          </a:p>
          <a:p>
            <a:pPr fontAlgn="base">
              <a:buNone/>
            </a:pPr>
            <a:r>
              <a:rPr lang="en-US" dirty="0" smtClean="0"/>
              <a:t>Algorithm </a:t>
            </a:r>
            <a:r>
              <a:rPr lang="en-US" dirty="0" err="1" smtClean="0"/>
              <a:t>LargestOfTwoNumbers</a:t>
            </a:r>
            <a:r>
              <a:rPr lang="en-US" dirty="0" smtClean="0"/>
              <a:t>(A, B) </a:t>
            </a:r>
          </a:p>
          <a:p>
            <a:pPr fontAlgn="base">
              <a:buNone/>
            </a:pPr>
            <a:r>
              <a:rPr lang="en-US" dirty="0" smtClean="0"/>
              <a:t>Step 1: Start </a:t>
            </a:r>
          </a:p>
          <a:p>
            <a:pPr fontAlgn="base">
              <a:buNone/>
            </a:pPr>
            <a:r>
              <a:rPr lang="en-US" dirty="0" smtClean="0"/>
              <a:t>Step 2: Read two numbers A and B </a:t>
            </a:r>
          </a:p>
          <a:p>
            <a:pPr fontAlgn="base">
              <a:buNone/>
            </a:pPr>
            <a:r>
              <a:rPr lang="en-US" dirty="0" smtClean="0"/>
              <a:t>Step 3: </a:t>
            </a:r>
          </a:p>
          <a:p>
            <a:pPr lvl="1" fontAlgn="base">
              <a:buNone/>
            </a:pPr>
            <a:r>
              <a:rPr lang="en-US" dirty="0" smtClean="0"/>
              <a:t>If A &gt; B </a:t>
            </a:r>
          </a:p>
          <a:p>
            <a:pPr lvl="1" fontAlgn="base">
              <a:buNone/>
            </a:pPr>
            <a:r>
              <a:rPr lang="en-US" dirty="0" smtClean="0"/>
              <a:t>Print "Largest Number =", A </a:t>
            </a:r>
          </a:p>
          <a:p>
            <a:pPr lvl="1" fontAlgn="base">
              <a:buNone/>
            </a:pPr>
            <a:r>
              <a:rPr lang="en-US" dirty="0" smtClean="0"/>
              <a:t>Else If B &gt; A </a:t>
            </a:r>
          </a:p>
          <a:p>
            <a:pPr lvl="1" fontAlgn="base">
              <a:buNone/>
            </a:pPr>
            <a:r>
              <a:rPr lang="en-US" dirty="0" smtClean="0"/>
              <a:t>Print "Largest Number =", B </a:t>
            </a:r>
          </a:p>
          <a:p>
            <a:pPr lvl="1" fontAlgn="base">
              <a:buNone/>
            </a:pPr>
            <a:r>
              <a:rPr lang="en-US" dirty="0" smtClean="0"/>
              <a:t>Else Print "Both numbers are equal" </a:t>
            </a:r>
          </a:p>
          <a:p>
            <a:pPr lvl="1" fontAlgn="base">
              <a:buNone/>
            </a:pPr>
            <a:r>
              <a:rPr lang="en-US" dirty="0" smtClean="0"/>
              <a:t>End If </a:t>
            </a:r>
          </a:p>
          <a:p>
            <a:pPr fontAlgn="base">
              <a:buNone/>
            </a:pPr>
            <a:r>
              <a:rPr lang="en-US" dirty="0" smtClean="0"/>
              <a:t>Step 4: Stop</a:t>
            </a:r>
          </a:p>
          <a:p>
            <a:pPr fontAlgn="base">
              <a:buNone/>
            </a:pPr>
            <a:endParaRPr lang="en-US" dirty="0" smtClean="0"/>
          </a:p>
          <a:p>
            <a:r>
              <a:rPr lang="en-US" b="1" dirty="0" smtClean="0"/>
              <a:t>Input: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 = 25 B = 18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Output: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Largest Number = 25</a:t>
            </a:r>
          </a:p>
          <a:p>
            <a:pPr fontAlgn="base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3658"/>
            <a:ext cx="10972800" cy="520863"/>
          </a:xfrm>
        </p:spPr>
        <p:txBody>
          <a:bodyPr>
            <a:normAutofit fontScale="90000"/>
          </a:bodyPr>
          <a:lstStyle/>
          <a:p>
            <a:r>
              <a:rPr dirty="0"/>
              <a:t>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388855"/>
            <a:ext cx="10972800" cy="4935747"/>
          </a:xfrm>
        </p:spPr>
        <p:txBody>
          <a:bodyPr>
            <a:normAutofit lnSpcReduction="10000"/>
          </a:bodyPr>
          <a:lstStyle/>
          <a:p>
            <a:pPr>
              <a:buNone/>
              <a:defRPr sz="2200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There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are two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ways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Time Complexity and Space Complexity. </a:t>
            </a:r>
          </a:p>
          <a:p>
            <a:pPr>
              <a:buNone/>
              <a:defRPr sz="2200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None/>
              <a:defRPr sz="2200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Space complexity:</a:t>
            </a:r>
          </a:p>
          <a:p>
            <a:pPr>
              <a:buNone/>
              <a:defRPr sz="2200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Total amount of computer memory required by an algorithm to complete its execution is called as space complexity of that algorithm. 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  <a:defRPr sz="2200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Space required by an algorithm is the sum of following components </a:t>
            </a:r>
          </a:p>
          <a:p>
            <a:pPr>
              <a:defRPr sz="2200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 fixed part that is independent of the input and output. This includes memory space for codes, variables, constants and so on. </a:t>
            </a:r>
          </a:p>
          <a:p>
            <a:pPr>
              <a:defRPr sz="2200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 variable part that depends on the input, output and recursion stack. ( We call these parameters as instance characteristics) </a:t>
            </a:r>
          </a:p>
          <a:p>
            <a:pPr>
              <a:defRPr sz="2200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Space requirement S(P) of an algorithm P, </a:t>
            </a:r>
          </a:p>
          <a:p>
            <a:pPr>
              <a:buNone/>
              <a:defRPr sz="2200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 S(P) = c + Sp </a:t>
            </a:r>
          </a:p>
          <a:p>
            <a:pPr>
              <a:buNone/>
              <a:defRPr sz="2200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where c is a constant depends on the fixed part, Sp is the instance characteristics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204" y="217732"/>
            <a:ext cx="10972800" cy="48635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Space </a:t>
            </a:r>
            <a:r>
              <a:rPr dirty="0" smtClean="0"/>
              <a:t>Complexity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704088"/>
            <a:ext cx="10972800" cy="5620512"/>
          </a:xfrm>
        </p:spPr>
        <p:txBody>
          <a:bodyPr>
            <a:normAutofit/>
          </a:bodyPr>
          <a:lstStyle/>
          <a:p>
            <a:r>
              <a:rPr lang="en-US" b="1" dirty="0" smtClean="0"/>
              <a:t>Example 1: Find the Sum of Two Numbers</a:t>
            </a:r>
          </a:p>
          <a:p>
            <a:endParaRPr lang="en-US" b="1" dirty="0" smtClean="0"/>
          </a:p>
          <a:p>
            <a:pPr>
              <a:buNone/>
            </a:pPr>
            <a:endParaRPr lang="en-US" b="1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4966" y="1478280"/>
          <a:ext cx="10019103" cy="5040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9476"/>
                <a:gridCol w="6409627"/>
              </a:tblGrid>
              <a:tr h="2966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smtClean="0"/>
                        <a:t>Algorithm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Algorithm Sum(A, B) 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Step 1: Read A and B 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Step 2: Sum = A + B 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Step 3: Print Sum Step 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4: Stop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smtClean="0"/>
                        <a:t>Memory Required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                Variable    Size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                      A          4 Bytes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                      B          4 Bytes  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                     Sum      4 Bytes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Total Variable Memory = </a:t>
                      </a:r>
                      <a:r>
                        <a:rPr lang="en-US" b="1" dirty="0" smtClean="0"/>
                        <a:t>12 Bytes</a:t>
                      </a:r>
                      <a:endParaRPr lang="en-US" dirty="0" smtClean="0"/>
                    </a:p>
                    <a:p>
                      <a:pPr>
                        <a:buNone/>
                      </a:pPr>
                      <a:r>
                        <a:rPr lang="en-US" dirty="0" smtClean="0"/>
                        <a:t>Assume Program Code and Constants = </a:t>
                      </a:r>
                      <a:r>
                        <a:rPr lang="en-US" b="1" dirty="0" smtClean="0"/>
                        <a:t>100 Bytes</a:t>
                      </a:r>
                      <a:endParaRPr lang="en-US" dirty="0" smtClean="0"/>
                    </a:p>
                    <a:p>
                      <a:pPr>
                        <a:buNone/>
                      </a:pPr>
                      <a:r>
                        <a:rPr lang="en-US" dirty="0" smtClean="0"/>
                        <a:t>Therefore,</a:t>
                      </a:r>
                    </a:p>
                    <a:p>
                      <a:pPr>
                        <a:buNone/>
                      </a:pPr>
                      <a:r>
                        <a:rPr lang="en-US" b="1" dirty="0" smtClean="0"/>
                        <a:t>c = 100 Bytes</a:t>
                      </a:r>
                      <a:r>
                        <a:rPr lang="en-US" dirty="0" smtClean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b="1" dirty="0" smtClean="0"/>
                        <a:t>Sp = 12 Bytes</a:t>
                      </a:r>
                      <a:r>
                        <a:rPr lang="en-US" dirty="0" smtClean="0"/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S(P)=100+12=112 Bytes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1657574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smtClean="0"/>
                        <a:t>Space Complexity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Since the number of variables does not change with the input size,</a:t>
                      </a:r>
                    </a:p>
                    <a:p>
                      <a:pPr>
                        <a:buNone/>
                      </a:pPr>
                      <a:r>
                        <a:rPr lang="en-US" dirty="0" smtClean="0"/>
                        <a:t>Space Complexity =O(1)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56604" y="101043"/>
            <a:ext cx="6961517" cy="6666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3873" y="142875"/>
            <a:ext cx="9781995" cy="672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Time complexity Usually, the execution time or run-time of the program is refereed as its time complexity denoted by </a:t>
            </a:r>
            <a:r>
              <a:rPr lang="en-US" dirty="0" err="1" smtClean="0"/>
              <a:t>tp</a:t>
            </a:r>
            <a:r>
              <a:rPr lang="en-US" dirty="0" smtClean="0"/>
              <a:t>(instance characteristics). This is the sum of the time taken to execute all instructions in the program.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72861" y="100371"/>
            <a:ext cx="9946257" cy="6685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Asymptotic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lang="en-US" sz="2200" dirty="0" smtClean="0"/>
              <a:t>Asymptotic notations are mathematical tools to represent the time complexity of algorithms for asymptotic analysis.</a:t>
            </a:r>
          </a:p>
          <a:p>
            <a:pPr fontAlgn="base"/>
            <a:endParaRPr lang="en-US" sz="2400" b="1" i="1" dirty="0" smtClean="0"/>
          </a:p>
          <a:p>
            <a:pPr lvl="1" fontAlgn="base">
              <a:buNone/>
            </a:pPr>
            <a:r>
              <a:rPr lang="en-US" sz="2200" b="1" i="1" dirty="0" smtClean="0"/>
              <a:t>There are mainly three asymptotic notations:</a:t>
            </a:r>
            <a:endParaRPr lang="en-US" sz="2200" i="1" dirty="0" smtClean="0"/>
          </a:p>
          <a:p>
            <a:pPr lvl="1" fontAlgn="base">
              <a:buNone/>
            </a:pPr>
            <a:r>
              <a:rPr lang="en-US" sz="2200" b="1" i="1" dirty="0" smtClean="0"/>
              <a:t>Big-O Notation (O-notation)</a:t>
            </a:r>
            <a:endParaRPr lang="en-US" sz="2200" i="1" dirty="0" smtClean="0"/>
          </a:p>
          <a:p>
            <a:pPr lvl="1" fontAlgn="base">
              <a:buNone/>
            </a:pPr>
            <a:r>
              <a:rPr lang="en-US" sz="2200" b="1" i="1" dirty="0" smtClean="0"/>
              <a:t>Omega Notation (Ω-notation)</a:t>
            </a:r>
            <a:endParaRPr lang="en-US" sz="2200" i="1" dirty="0" smtClean="0"/>
          </a:p>
          <a:p>
            <a:pPr lvl="1" fontAlgn="base">
              <a:buNone/>
            </a:pPr>
            <a:r>
              <a:rPr lang="en-US" sz="2200" b="1" i="1" dirty="0" smtClean="0"/>
              <a:t>Theta Notation (Θ-notation)</a:t>
            </a:r>
            <a:endParaRPr lang="en-US" sz="2200" i="1" dirty="0" smtClean="0"/>
          </a:p>
          <a:p>
            <a:pPr>
              <a:defRPr sz="2200"/>
            </a:pP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By using asymptotic notations, such as Big O, Big Omega, and Big Theta, we can categorize algorithms based on their worst-case, best-case, or average-case time or space complexities, providing valuable insights into their efficiency.</a:t>
            </a:r>
          </a:p>
          <a:p>
            <a:pPr>
              <a:buNone/>
              <a:defRPr sz="2200"/>
            </a:pPr>
            <a:endParaRPr lang="en-US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700147"/>
          </a:xfrm>
        </p:spPr>
        <p:txBody>
          <a:bodyPr>
            <a:normAutofit fontScale="90000"/>
          </a:bodyPr>
          <a:lstStyle/>
          <a:p>
            <a:r>
              <a:rPr lang="en-US" b="1" u="sng" dirty="0" smtClean="0"/>
              <a:t>1. </a:t>
            </a:r>
            <a:r>
              <a:rPr lang="en-US" b="1" u="sng" dirty="0" smtClean="0"/>
              <a:t>Big-O Notation (O-notation)</a:t>
            </a:r>
            <a:r>
              <a:rPr lang="en-US" b="1" dirty="0" smtClean="0"/>
              <a:t>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974785"/>
            <a:ext cx="9956800" cy="5499167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Big-O </a:t>
            </a:r>
            <a:r>
              <a:rPr lang="en-US" dirty="0" smtClean="0"/>
              <a:t>notation represents the upper bound of the running time of an algorithm. Therefore, it gives the worst-case complexity of an algorithm.</a:t>
            </a:r>
          </a:p>
          <a:p>
            <a:pPr fontAlgn="base"/>
            <a:r>
              <a:rPr lang="en-US" dirty="0" smtClean="0"/>
              <a:t>It </a:t>
            </a:r>
            <a:r>
              <a:rPr lang="en-US" dirty="0" smtClean="0"/>
              <a:t>is the most widely used notation for Asymptotic analysis.</a:t>
            </a:r>
            <a:br>
              <a:rPr lang="en-US" dirty="0" smtClean="0"/>
            </a:br>
            <a:r>
              <a:rPr lang="en-US" dirty="0" smtClean="0"/>
              <a:t>It </a:t>
            </a:r>
            <a:r>
              <a:rPr lang="en-US" dirty="0" smtClean="0"/>
              <a:t>specifies the upper bound of a function.</a:t>
            </a:r>
            <a:br>
              <a:rPr lang="en-US" dirty="0" smtClean="0"/>
            </a:br>
            <a:r>
              <a:rPr lang="en-US" dirty="0" smtClean="0"/>
              <a:t>The </a:t>
            </a:r>
            <a:r>
              <a:rPr lang="en-US" dirty="0" smtClean="0"/>
              <a:t>maximum time required by an algorithm or the worst-case time complexity.</a:t>
            </a:r>
            <a:br>
              <a:rPr lang="en-US" dirty="0" smtClean="0"/>
            </a:br>
            <a:r>
              <a:rPr lang="en-US" dirty="0" smtClean="0"/>
              <a:t>It </a:t>
            </a:r>
            <a:r>
              <a:rPr lang="en-US" dirty="0" smtClean="0"/>
              <a:t>returns the highest possible output value(big-O) for a given input.</a:t>
            </a:r>
            <a:br>
              <a:rPr lang="en-US" dirty="0" smtClean="0"/>
            </a:br>
            <a:r>
              <a:rPr lang="en-US" dirty="0" smtClean="0"/>
              <a:t>Big-O(Worst </a:t>
            </a:r>
            <a:r>
              <a:rPr lang="en-US" dirty="0" smtClean="0"/>
              <a:t>Case) It is defined as the condition that allows an algorithm to complete statement execution in the longest amount of time possible.</a:t>
            </a:r>
            <a:br>
              <a:rPr lang="en-US" dirty="0" smtClean="0"/>
            </a:br>
            <a:r>
              <a:rPr lang="en-US" dirty="0" smtClean="0"/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1. </a:t>
            </a:r>
            <a:r>
              <a:rPr lang="en-US" b="1" u="sng" dirty="0" smtClean="0"/>
              <a:t>Big-O Notation (O-notation)</a:t>
            </a:r>
            <a:r>
              <a:rPr lang="en-US" b="1" dirty="0" smtClean="0"/>
              <a:t>: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7" name="Content Placeholder 6" descr="AlgoAnalysis-2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275733" y="421735"/>
            <a:ext cx="3274204" cy="3391140"/>
          </a:xfrm>
        </p:spPr>
      </p:pic>
      <p:sp>
        <p:nvSpPr>
          <p:cNvPr id="8" name="Rectangle 7"/>
          <p:cNvSpPr/>
          <p:nvPr/>
        </p:nvSpPr>
        <p:spPr>
          <a:xfrm>
            <a:off x="609599" y="1854679"/>
            <a:ext cx="978523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dirty="0" smtClean="0"/>
              <a:t>If f(n) describes the running time of an algorithm, </a:t>
            </a:r>
            <a:endParaRPr lang="en-US" sz="2400" dirty="0" smtClean="0"/>
          </a:p>
          <a:p>
            <a:pPr fontAlgn="base"/>
            <a:r>
              <a:rPr lang="en-US" sz="2400" dirty="0" smtClean="0"/>
              <a:t>f(n</a:t>
            </a:r>
            <a:r>
              <a:rPr lang="en-US" sz="2400" dirty="0" smtClean="0"/>
              <a:t>) is O(g(n)) if there exist a positive constant C </a:t>
            </a:r>
            <a:endParaRPr lang="en-US" sz="2400" dirty="0" smtClean="0"/>
          </a:p>
          <a:p>
            <a:pPr fontAlgn="base"/>
            <a:r>
              <a:rPr lang="en-US" sz="2400" dirty="0" smtClean="0"/>
              <a:t>and </a:t>
            </a:r>
            <a:r>
              <a:rPr lang="en-US" sz="2400" dirty="0" smtClean="0"/>
              <a:t>n0 such that, 0 ≤ f(n) ≤ cg(n) for all n ≥ </a:t>
            </a:r>
            <a:r>
              <a:rPr lang="en-US" sz="2400" dirty="0" smtClean="0"/>
              <a:t>n0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b="1" dirty="0" smtClean="0"/>
              <a:t>It returns the highest possible output value </a:t>
            </a:r>
            <a:endParaRPr lang="en-US" sz="2400" b="1" dirty="0" smtClean="0"/>
          </a:p>
          <a:p>
            <a:pPr fontAlgn="base"/>
            <a:r>
              <a:rPr lang="en-US" sz="2400" b="1" dirty="0" smtClean="0"/>
              <a:t>(big-O) for </a:t>
            </a:r>
            <a:r>
              <a:rPr lang="en-US" sz="2400" b="1" dirty="0" smtClean="0"/>
              <a:t>a given input</a:t>
            </a:r>
            <a:r>
              <a:rPr lang="en-US" sz="2400" b="1" dirty="0" smtClean="0"/>
              <a:t>.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b="1" dirty="0" smtClean="0"/>
              <a:t>The execution time serves as an upper bound on the algorithm's time complexity.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r>
              <a:rPr lang="en-US" dirty="0" smtClean="0"/>
              <a:t>.</a:t>
            </a:r>
            <a:r>
              <a:rPr lang="en-US" b="1" u="sng" dirty="0" smtClean="0"/>
              <a:t> </a:t>
            </a:r>
            <a:r>
              <a:rPr lang="en-US" b="1" u="sng" dirty="0" smtClean="0"/>
              <a:t>Omega Notation (Ω-Notation)</a:t>
            </a:r>
            <a:r>
              <a:rPr lang="en-US" b="1" dirty="0" smtClean="0"/>
              <a:t>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Omega </a:t>
            </a:r>
            <a:r>
              <a:rPr lang="en-US" dirty="0" smtClean="0"/>
              <a:t>notation represents the lower bound of the running time of an algorithm. Thus, it provides the best case complexity of an algorithm.</a:t>
            </a:r>
          </a:p>
          <a:p>
            <a:pPr fontAlgn="base"/>
            <a:r>
              <a:rPr lang="en-US" b="1" dirty="0" smtClean="0"/>
              <a:t>The execution time serves as a lower bound on the algorithm's time complexity.</a:t>
            </a:r>
            <a:endParaRPr lang="en-US" dirty="0" smtClean="0"/>
          </a:p>
          <a:p>
            <a:pPr fontAlgn="base"/>
            <a:r>
              <a:rPr lang="en-US" b="1" dirty="0" smtClean="0"/>
              <a:t>It is defined as the condition that allows an algorithm to complete statement execution in the shortest amount of time.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631136"/>
          </a:xfrm>
        </p:spPr>
        <p:txBody>
          <a:bodyPr>
            <a:normAutofit/>
          </a:bodyPr>
          <a:lstStyle/>
          <a:p>
            <a:r>
              <a:rPr lang="en-US" dirty="0" smtClean="0"/>
              <a:t>2.</a:t>
            </a:r>
            <a:r>
              <a:rPr lang="en-US" b="1" u="sng" dirty="0" smtClean="0"/>
              <a:t> </a:t>
            </a:r>
            <a:r>
              <a:rPr lang="en-US" b="1" u="sng" dirty="0" smtClean="0"/>
              <a:t>Omega Notation (Ω-Notation)</a:t>
            </a:r>
            <a:r>
              <a:rPr lang="en-US" b="1" dirty="0" smtClean="0"/>
              <a:t>:</a:t>
            </a:r>
            <a:endParaRPr lang="en-US" dirty="0"/>
          </a:p>
        </p:txBody>
      </p:sp>
      <p:pic>
        <p:nvPicPr>
          <p:cNvPr id="4" name="Content Placeholder 3" descr="AlgoAnalysis-3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286893" y="1550987"/>
            <a:ext cx="4005234" cy="3693873"/>
          </a:xfrm>
        </p:spPr>
      </p:pic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609600" y="1463175"/>
            <a:ext cx="6351917" cy="44319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Nunito"/>
                <a:cs typeface="Arial" pitchFamily="34" charset="0"/>
              </a:rPr>
              <a:t>Mathematical Representation of Omega notation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Nunito"/>
                <a:cs typeface="Arial" pitchFamily="34" charset="0"/>
              </a:rPr>
              <a:t>Ω(g(n)) = { f(n): there exist positive constants c and n0 such that 0 ≤ cg(n) ≤ f(n) for all n ≥ n0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 smtClean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/>
              <a:t>Let </a:t>
            </a:r>
            <a:r>
              <a:rPr lang="en-US" sz="2400" dirty="0" smtClean="0"/>
              <a:t>g and f be the function from the set of natural numbers to itself. </a:t>
            </a:r>
            <a:endParaRPr lang="en-US" sz="2400" dirty="0" smtClean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/>
              <a:t>The </a:t>
            </a:r>
            <a:r>
              <a:rPr lang="en-US" sz="2400" dirty="0" smtClean="0"/>
              <a:t>function f is said to be Ω(g), if there is a constant c &gt; 0 and a natural number n0 such that c*g(n) ≤ f(n) for all n ≥ n0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273239"/>
              </a:solidFill>
              <a:effectLst/>
              <a:latin typeface="Nunito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u="sng" dirty="0" smtClean="0"/>
              <a:t>3</a:t>
            </a:r>
            <a:r>
              <a:rPr lang="en-US" b="1" u="sng" dirty="0" smtClean="0"/>
              <a:t>. </a:t>
            </a:r>
            <a:r>
              <a:rPr lang="en-US" b="1" u="sng" dirty="0" smtClean="0"/>
              <a:t>Theta Notation (Θ-Notation)</a:t>
            </a:r>
            <a:r>
              <a:rPr lang="en-US" b="1" dirty="0" smtClean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/>
              <a:t>Theta notation represents the upper and the lower bound of the running time of an algorithm, it is used for analyzing the </a:t>
            </a:r>
            <a:r>
              <a:rPr lang="en-US" b="1" dirty="0" smtClean="0"/>
              <a:t>average-case</a:t>
            </a:r>
            <a:r>
              <a:rPr lang="en-US" dirty="0" smtClean="0"/>
              <a:t> complexity of an algorithm.</a:t>
            </a:r>
          </a:p>
          <a:p>
            <a:pPr fontAlgn="base"/>
            <a:r>
              <a:rPr lang="en-US" dirty="0" smtClean="0"/>
              <a:t>Theta (Average Case) You add the running times for each possible input combination and take the average in the average case.</a:t>
            </a:r>
          </a:p>
          <a:p>
            <a:pPr fontAlgn="base"/>
            <a:r>
              <a:rPr lang="en-US" dirty="0" smtClean="0"/>
              <a:t>Let g and f be the function from the set of natural numbers to itself. </a:t>
            </a:r>
          </a:p>
          <a:p>
            <a:pPr fontAlgn="base">
              <a:buNone/>
            </a:pPr>
            <a:r>
              <a:rPr lang="en-US" dirty="0" smtClean="0"/>
              <a:t>   The function f is said to be Θ(g), if there are constants c1, c2 &gt; 0 and a natural number n0 such that c1* g(n) ≤ f(n) ≤ c2 * g(n) for all n ≥ n0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Θ-Notation(Average Case)</a:t>
            </a:r>
            <a:endParaRPr lang="en-US" dirty="0"/>
          </a:p>
        </p:txBody>
      </p:sp>
      <p:pic>
        <p:nvPicPr>
          <p:cNvPr id="4" name="Content Placeholder 3" descr="thetanotation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712014" y="-17251"/>
            <a:ext cx="4479985" cy="3419722"/>
          </a:xfrm>
        </p:spPr>
      </p:pic>
      <p:sp>
        <p:nvSpPr>
          <p:cNvPr id="7" name="TextBox 6"/>
          <p:cNvSpPr txBox="1"/>
          <p:nvPr/>
        </p:nvSpPr>
        <p:spPr>
          <a:xfrm>
            <a:off x="609601" y="2760785"/>
            <a:ext cx="108116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 smtClean="0"/>
              <a:t>Mathematical Representation of Theta notation:</a:t>
            </a:r>
          </a:p>
          <a:p>
            <a:pPr fontAlgn="base"/>
            <a:r>
              <a:rPr lang="en-US" dirty="0" smtClean="0"/>
              <a:t>Θ (g(n)) = </a:t>
            </a:r>
            <a:r>
              <a:rPr lang="en-US" dirty="0" smtClean="0"/>
              <a:t>{ f(n</a:t>
            </a:r>
            <a:r>
              <a:rPr lang="en-US" dirty="0" smtClean="0"/>
              <a:t>): there exist positive constants c1, c2 and n0 such that </a:t>
            </a:r>
            <a:endParaRPr lang="en-US" dirty="0" smtClean="0"/>
          </a:p>
          <a:p>
            <a:pPr fontAlgn="base"/>
            <a:r>
              <a:rPr lang="en-US" dirty="0" smtClean="0"/>
              <a:t>0 </a:t>
            </a:r>
            <a:r>
              <a:rPr lang="en-US" dirty="0" smtClean="0"/>
              <a:t>≤ c1 * g(n) ≤ f(n) ≤ c2 * g(n) for all n ≥ </a:t>
            </a:r>
            <a:r>
              <a:rPr lang="en-US" dirty="0" smtClean="0"/>
              <a:t>n0 }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Note:</a:t>
            </a:r>
            <a:r>
              <a:rPr lang="en-US" dirty="0" smtClean="0"/>
              <a:t> Θ(g) is a </a:t>
            </a:r>
            <a:r>
              <a:rPr lang="en-US" dirty="0" smtClean="0"/>
              <a:t>set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The above expression can be described as if f(n) is theta of g(n), then the value f(n</a:t>
            </a:r>
            <a:r>
              <a:rPr lang="en-US" dirty="0" smtClean="0"/>
              <a:t>)</a:t>
            </a:r>
          </a:p>
          <a:p>
            <a:pPr fontAlgn="base"/>
            <a:r>
              <a:rPr lang="en-US" dirty="0" smtClean="0"/>
              <a:t> </a:t>
            </a:r>
            <a:r>
              <a:rPr lang="en-US" dirty="0" smtClean="0"/>
              <a:t>is always between c1 * g(n) and c2 * g(n) for large values of n (n ≥ n0). </a:t>
            </a:r>
            <a:endParaRPr lang="en-US" dirty="0" smtClean="0"/>
          </a:p>
          <a:p>
            <a:pPr fontAlgn="base"/>
            <a:r>
              <a:rPr lang="en-US" dirty="0" smtClean="0"/>
              <a:t>The </a:t>
            </a:r>
            <a:r>
              <a:rPr lang="en-US" dirty="0" smtClean="0"/>
              <a:t>definition of theta also requires that f(n) must be non-negative for values of n greater than n0.</a:t>
            </a:r>
          </a:p>
          <a:p>
            <a:pPr fontAlgn="base"/>
            <a:r>
              <a:rPr lang="en-US" b="1" dirty="0" smtClean="0"/>
              <a:t>The execution time serves as both a lower and upper bound on the algorithm's time complexity.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224287"/>
            <a:ext cx="9956800" cy="6469811"/>
          </a:xfrm>
        </p:spPr>
        <p:txBody>
          <a:bodyPr>
            <a:normAutofit fontScale="77500" lnSpcReduction="20000"/>
          </a:bodyPr>
          <a:lstStyle/>
          <a:p>
            <a:pPr>
              <a:buNone/>
              <a:defRPr sz="2200"/>
            </a:pPr>
            <a:r>
              <a:rPr lang="en-US" dirty="0" smtClean="0"/>
              <a:t>// </a:t>
            </a:r>
            <a:r>
              <a:rPr lang="en-US" dirty="0" smtClean="0"/>
              <a:t>Function to perform linear search</a:t>
            </a:r>
          </a:p>
          <a:p>
            <a:pPr>
              <a:buNone/>
              <a:defRPr sz="2200"/>
            </a:pPr>
            <a:r>
              <a:rPr lang="en-US" dirty="0" err="1" smtClean="0"/>
              <a:t>bool</a:t>
            </a:r>
            <a:r>
              <a:rPr lang="en-US" dirty="0" smtClean="0"/>
              <a:t> search(</a:t>
            </a:r>
            <a:r>
              <a:rPr lang="en-US" dirty="0" err="1" smtClean="0"/>
              <a:t>int</a:t>
            </a:r>
            <a:r>
              <a:rPr lang="en-US" dirty="0" smtClean="0"/>
              <a:t> arr[], </a:t>
            </a:r>
            <a:r>
              <a:rPr lang="en-US" dirty="0" err="1" smtClean="0"/>
              <a:t>int</a:t>
            </a:r>
            <a:r>
              <a:rPr lang="en-US" dirty="0" smtClean="0"/>
              <a:t> n, </a:t>
            </a:r>
            <a:r>
              <a:rPr lang="en-US" dirty="0" err="1" smtClean="0"/>
              <a:t>int</a:t>
            </a:r>
            <a:r>
              <a:rPr lang="en-US" dirty="0" smtClean="0"/>
              <a:t> target) {</a:t>
            </a:r>
          </a:p>
          <a:p>
            <a:pPr>
              <a:buNone/>
              <a:defRPr sz="2200"/>
            </a:pPr>
            <a:r>
              <a:rPr lang="en-US" dirty="0" smtClean="0"/>
              <a:t>    for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n; </a:t>
            </a:r>
            <a:r>
              <a:rPr lang="en-US" dirty="0" err="1" smtClean="0"/>
              <a:t>i</a:t>
            </a:r>
            <a:r>
              <a:rPr lang="en-US" dirty="0" smtClean="0"/>
              <a:t>++) {   // Loop executes up to 'n' times</a:t>
            </a:r>
          </a:p>
          <a:p>
            <a:pPr>
              <a:buNone/>
              <a:defRPr sz="2200"/>
            </a:pPr>
            <a:r>
              <a:rPr lang="en-US" dirty="0" smtClean="0"/>
              <a:t>        if (arr[</a:t>
            </a:r>
            <a:r>
              <a:rPr lang="en-US" dirty="0" err="1" smtClean="0"/>
              <a:t>i</a:t>
            </a:r>
            <a:r>
              <a:rPr lang="en-US" dirty="0" smtClean="0"/>
              <a:t>] == target) {     // 1 comparison step</a:t>
            </a:r>
          </a:p>
          <a:p>
            <a:pPr>
              <a:buNone/>
              <a:defRPr sz="2200"/>
            </a:pPr>
            <a:r>
              <a:rPr lang="en-US" dirty="0" smtClean="0"/>
              <a:t>            return true;            // Target found!</a:t>
            </a:r>
          </a:p>
          <a:p>
            <a:pPr>
              <a:buNone/>
              <a:defRPr sz="2200"/>
            </a:pPr>
            <a:r>
              <a:rPr lang="en-US" dirty="0" smtClean="0"/>
              <a:t>        }</a:t>
            </a:r>
          </a:p>
          <a:p>
            <a:pPr>
              <a:buNone/>
              <a:defRPr sz="2200"/>
            </a:pPr>
            <a:r>
              <a:rPr lang="en-US" dirty="0" smtClean="0"/>
              <a:t>    }</a:t>
            </a:r>
          </a:p>
          <a:p>
            <a:pPr>
              <a:buNone/>
              <a:defRPr sz="2200"/>
            </a:pPr>
            <a:r>
              <a:rPr lang="en-US" dirty="0" smtClean="0"/>
              <a:t>    return false;                   // Target not found</a:t>
            </a:r>
          </a:p>
          <a:p>
            <a:pPr>
              <a:buNone/>
              <a:defRPr sz="2200"/>
            </a:pPr>
            <a:r>
              <a:rPr lang="en-US" dirty="0" smtClean="0"/>
              <a:t>}</a:t>
            </a:r>
          </a:p>
          <a:p>
            <a:pPr>
              <a:buNone/>
              <a:defRPr sz="2200"/>
            </a:pPr>
            <a:endParaRPr lang="en-US" dirty="0" smtClean="0"/>
          </a:p>
          <a:p>
            <a:pPr>
              <a:buNone/>
              <a:defRPr sz="2200"/>
            </a:pPr>
            <a:r>
              <a:rPr lang="en-US" dirty="0" err="1" smtClean="0"/>
              <a:t>int</a:t>
            </a:r>
            <a:r>
              <a:rPr lang="en-US" dirty="0" smtClean="0"/>
              <a:t> main() {</a:t>
            </a:r>
          </a:p>
          <a:p>
            <a:pPr>
              <a:buNone/>
              <a:defRPr sz="2200"/>
            </a:pP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arr[] = {10, 25, 30, 45, 50};</a:t>
            </a:r>
          </a:p>
          <a:p>
            <a:pPr>
              <a:buNone/>
              <a:defRPr sz="2200"/>
            </a:pP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n = </a:t>
            </a:r>
            <a:r>
              <a:rPr lang="en-US" dirty="0" err="1" smtClean="0"/>
              <a:t>sizeof</a:t>
            </a:r>
            <a:r>
              <a:rPr lang="en-US" dirty="0" smtClean="0"/>
              <a:t>(arr) / </a:t>
            </a:r>
            <a:r>
              <a:rPr lang="en-US" dirty="0" err="1" smtClean="0"/>
              <a:t>sizeof</a:t>
            </a:r>
            <a:r>
              <a:rPr lang="en-US" dirty="0" smtClean="0"/>
              <a:t>(arr[0]);</a:t>
            </a:r>
          </a:p>
          <a:p>
            <a:pPr>
              <a:buNone/>
              <a:defRPr sz="2200"/>
            </a:pP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target = 45;</a:t>
            </a:r>
          </a:p>
          <a:p>
            <a:pPr>
              <a:buNone/>
              <a:defRPr sz="2200"/>
            </a:pPr>
            <a:endParaRPr lang="en-US" dirty="0" smtClean="0"/>
          </a:p>
          <a:p>
            <a:pPr>
              <a:buNone/>
              <a:defRPr sz="2200"/>
            </a:pPr>
            <a:r>
              <a:rPr lang="en-US" dirty="0" smtClean="0"/>
              <a:t>    if (search(arr, n, target)) {</a:t>
            </a:r>
          </a:p>
          <a:p>
            <a:pPr>
              <a:buNone/>
              <a:defRPr sz="2200"/>
            </a:pPr>
            <a:r>
              <a:rPr lang="en-US" dirty="0" smtClean="0"/>
              <a:t>        </a:t>
            </a:r>
            <a:r>
              <a:rPr lang="en-US" dirty="0" err="1" smtClean="0"/>
              <a:t>printf</a:t>
            </a:r>
            <a:r>
              <a:rPr lang="en-US" dirty="0" smtClean="0"/>
              <a:t>("Element %d found in the array.\n", target);</a:t>
            </a:r>
          </a:p>
          <a:p>
            <a:pPr>
              <a:buNone/>
              <a:defRPr sz="2200"/>
            </a:pPr>
            <a:r>
              <a:rPr lang="en-US" dirty="0" smtClean="0"/>
              <a:t>    } else {</a:t>
            </a:r>
          </a:p>
          <a:p>
            <a:pPr>
              <a:buNone/>
              <a:defRPr sz="2200"/>
            </a:pPr>
            <a:r>
              <a:rPr lang="en-US" dirty="0" smtClean="0"/>
              <a:t>        </a:t>
            </a:r>
            <a:r>
              <a:rPr lang="en-US" dirty="0" err="1" smtClean="0"/>
              <a:t>printf</a:t>
            </a:r>
            <a:r>
              <a:rPr lang="en-US" dirty="0" smtClean="0"/>
              <a:t>("Element %d not found in the array.\n", target);</a:t>
            </a:r>
          </a:p>
          <a:p>
            <a:pPr>
              <a:buNone/>
              <a:defRPr sz="2200"/>
            </a:pPr>
            <a:r>
              <a:rPr lang="en-US" dirty="0" smtClean="0"/>
              <a:t>    }</a:t>
            </a:r>
          </a:p>
          <a:p>
            <a:pPr>
              <a:buNone/>
              <a:defRPr sz="2200"/>
            </a:pPr>
            <a:r>
              <a:rPr lang="en-US" dirty="0" smtClean="0"/>
              <a:t>    </a:t>
            </a:r>
            <a:r>
              <a:rPr lang="en-US" dirty="0" smtClean="0"/>
              <a:t>return 0;</a:t>
            </a:r>
          </a:p>
          <a:p>
            <a:pPr>
              <a:buNone/>
              <a:defRPr sz="2200"/>
            </a:pPr>
            <a:r>
              <a:rPr lang="en-US" dirty="0" smtClean="0"/>
              <a:t>}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327805"/>
            <a:ext cx="9956800" cy="61461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Calculating Big </a:t>
            </a:r>
            <a:r>
              <a:rPr lang="en-US" b="1" dirty="0" smtClean="0"/>
              <a:t>O </a:t>
            </a:r>
            <a:r>
              <a:rPr lang="en-US" b="1" dirty="0" smtClean="0"/>
              <a:t>— Worst Case</a:t>
            </a:r>
          </a:p>
          <a:p>
            <a:pPr>
              <a:buNone/>
            </a:pPr>
            <a:r>
              <a:rPr lang="en-US" b="1" dirty="0" smtClean="0"/>
              <a:t>Scenario:</a:t>
            </a:r>
            <a:r>
              <a:rPr lang="en-US" dirty="0" smtClean="0"/>
              <a:t> The target is </a:t>
            </a:r>
            <a:r>
              <a:rPr lang="en-US" b="1" dirty="0" smtClean="0"/>
              <a:t>absent from the array</a:t>
            </a:r>
            <a:r>
              <a:rPr lang="en-US" dirty="0" smtClean="0"/>
              <a:t> (or at the last index </a:t>
            </a:r>
            <a:r>
              <a:rPr lang="en-US" dirty="0" smtClean="0"/>
              <a:t>n </a:t>
            </a:r>
            <a:r>
              <a:rPr lang="en-US" dirty="0" smtClean="0"/>
              <a:t>- </a:t>
            </a:r>
            <a:r>
              <a:rPr lang="en-US" dirty="0" smtClean="0"/>
              <a:t>1).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Code Trace: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Initializing </a:t>
            </a:r>
            <a:r>
              <a:rPr lang="en-US" dirty="0" err="1" smtClean="0"/>
              <a:t>i</a:t>
            </a:r>
            <a:r>
              <a:rPr lang="en-US" dirty="0" smtClean="0"/>
              <a:t> = 0: Executed </a:t>
            </a:r>
            <a:r>
              <a:rPr lang="en-US" dirty="0" smtClean="0"/>
              <a:t>1 </a:t>
            </a:r>
            <a:r>
              <a:rPr lang="en-US" dirty="0" smtClean="0"/>
              <a:t>time.</a:t>
            </a:r>
          </a:p>
          <a:p>
            <a:pPr lvl="1">
              <a:buNone/>
            </a:pPr>
            <a:r>
              <a:rPr lang="en-US" dirty="0" smtClean="0"/>
              <a:t>Condition check </a:t>
            </a:r>
            <a:r>
              <a:rPr lang="en-US" dirty="0" err="1" smtClean="0"/>
              <a:t>i</a:t>
            </a:r>
            <a:r>
              <a:rPr lang="en-US" dirty="0" smtClean="0"/>
              <a:t> &lt; n: Executed </a:t>
            </a:r>
            <a:r>
              <a:rPr lang="en-US" dirty="0" smtClean="0"/>
              <a:t>n </a:t>
            </a:r>
            <a:r>
              <a:rPr lang="en-US" dirty="0" smtClean="0"/>
              <a:t>+ </a:t>
            </a:r>
            <a:r>
              <a:rPr lang="en-US" dirty="0" smtClean="0"/>
              <a:t>1 </a:t>
            </a:r>
            <a:r>
              <a:rPr lang="en-US" dirty="0" smtClean="0"/>
              <a:t>times.</a:t>
            </a:r>
          </a:p>
          <a:p>
            <a:pPr lvl="1">
              <a:buNone/>
            </a:pPr>
            <a:r>
              <a:rPr lang="en-US" dirty="0" smtClean="0"/>
              <a:t>Increment 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++: Executed </a:t>
            </a:r>
            <a:r>
              <a:rPr lang="en-US" dirty="0" smtClean="0"/>
              <a:t>n </a:t>
            </a:r>
            <a:r>
              <a:rPr lang="en-US" dirty="0" smtClean="0"/>
              <a:t>times.</a:t>
            </a:r>
          </a:p>
          <a:p>
            <a:pPr lvl="1">
              <a:buNone/>
            </a:pPr>
            <a:r>
              <a:rPr lang="en-US" dirty="0" smtClean="0"/>
              <a:t>Comparison if (arr[</a:t>
            </a:r>
            <a:r>
              <a:rPr lang="en-US" dirty="0" err="1" smtClean="0"/>
              <a:t>i</a:t>
            </a:r>
            <a:r>
              <a:rPr lang="en-US" dirty="0" smtClean="0"/>
              <a:t>] == target): Executed </a:t>
            </a:r>
            <a:r>
              <a:rPr lang="en-US" dirty="0" smtClean="0"/>
              <a:t>n </a:t>
            </a:r>
            <a:r>
              <a:rPr lang="en-US" dirty="0" smtClean="0"/>
              <a:t>times.</a:t>
            </a:r>
          </a:p>
          <a:p>
            <a:pPr>
              <a:buNone/>
            </a:pPr>
            <a:r>
              <a:rPr lang="en-US" b="1" dirty="0" smtClean="0"/>
              <a:t>Total Basic Operations: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T(n</a:t>
            </a:r>
            <a:r>
              <a:rPr lang="en-US" dirty="0" smtClean="0"/>
              <a:t>) = 1 + (n + 1) + n + n = 3n + </a:t>
            </a:r>
            <a:r>
              <a:rPr lang="en-US" dirty="0" smtClean="0"/>
              <a:t>2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Mathematical Bound</a:t>
            </a:r>
            <a:r>
              <a:rPr lang="en-US" b="1" dirty="0" smtClean="0"/>
              <a:t>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3n </a:t>
            </a:r>
            <a:r>
              <a:rPr lang="en-US" dirty="0" smtClean="0"/>
              <a:t>+ 2 </a:t>
            </a:r>
            <a:r>
              <a:rPr lang="en-US" dirty="0" smtClean="0"/>
              <a:t>&lt;= </a:t>
            </a:r>
            <a:r>
              <a:rPr lang="en-US" dirty="0" smtClean="0"/>
              <a:t>4n </a:t>
            </a:r>
            <a:r>
              <a:rPr lang="en-US" dirty="0" smtClean="0"/>
              <a:t>for </a:t>
            </a:r>
            <a:r>
              <a:rPr lang="en-US" dirty="0" smtClean="0"/>
              <a:t>all </a:t>
            </a:r>
            <a:r>
              <a:rPr lang="en-US" dirty="0" smtClean="0"/>
              <a:t> </a:t>
            </a:r>
            <a:r>
              <a:rPr lang="en-US" dirty="0" smtClean="0"/>
              <a:t>n </a:t>
            </a:r>
            <a:r>
              <a:rPr lang="en-US" dirty="0" smtClean="0"/>
              <a:t>&gt;= </a:t>
            </a:r>
            <a:r>
              <a:rPr lang="en-US" dirty="0" smtClean="0"/>
              <a:t>2 </a:t>
            </a:r>
            <a:r>
              <a:rPr lang="en-US" dirty="0" smtClean="0"/>
              <a:t>=&gt; c </a:t>
            </a:r>
            <a:r>
              <a:rPr lang="en-US" dirty="0" smtClean="0"/>
              <a:t>= 4, n_0 = </a:t>
            </a:r>
            <a:r>
              <a:rPr lang="en-US" dirty="0" smtClean="0"/>
              <a:t>2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Complexity:</a:t>
            </a:r>
            <a:r>
              <a:rPr lang="en-US" dirty="0" smtClean="0"/>
              <a:t> </a:t>
            </a:r>
            <a:r>
              <a:rPr lang="en-US" b="1" dirty="0" smtClean="0"/>
              <a:t>O(n) </a:t>
            </a:r>
            <a:r>
              <a:rPr lang="en-US" i="1" dirty="0" smtClean="0"/>
              <a:t>(</a:t>
            </a:r>
            <a:r>
              <a:rPr lang="en-US" i="1" dirty="0" smtClean="0"/>
              <a:t>Linear Time</a:t>
            </a:r>
            <a:r>
              <a:rPr lang="en-US" i="1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46649"/>
            <a:ext cx="9956800" cy="6327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Calculating Big </a:t>
            </a:r>
            <a:r>
              <a:rPr lang="en-US" b="1" dirty="0" smtClean="0"/>
              <a:t>Omega </a:t>
            </a:r>
            <a:r>
              <a:rPr lang="en-US" dirty="0" smtClean="0">
                <a:latin typeface="Nunito"/>
                <a:cs typeface="Arial" pitchFamily="34" charset="0"/>
              </a:rPr>
              <a:t>Ω</a:t>
            </a:r>
            <a:r>
              <a:rPr lang="en-US" b="1" dirty="0" smtClean="0"/>
              <a:t>  </a:t>
            </a:r>
            <a:r>
              <a:rPr lang="en-US" b="1" dirty="0" smtClean="0"/>
              <a:t>— Best Case</a:t>
            </a:r>
          </a:p>
          <a:p>
            <a:pPr>
              <a:buNone/>
            </a:pPr>
            <a:r>
              <a:rPr lang="en-US" b="1" dirty="0" smtClean="0"/>
              <a:t>Scenario:</a:t>
            </a:r>
            <a:r>
              <a:rPr lang="en-US" dirty="0" smtClean="0"/>
              <a:t> The target is at the </a:t>
            </a:r>
            <a:r>
              <a:rPr lang="en-US" b="1" dirty="0" smtClean="0"/>
              <a:t>very first position</a:t>
            </a:r>
            <a:r>
              <a:rPr lang="en-US" dirty="0" smtClean="0"/>
              <a:t> (arr[0]).</a:t>
            </a:r>
          </a:p>
          <a:p>
            <a:pPr>
              <a:buNone/>
            </a:pPr>
            <a:r>
              <a:rPr lang="en-US" b="1" dirty="0" smtClean="0"/>
              <a:t>Code Trace: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Initializing </a:t>
            </a:r>
            <a:r>
              <a:rPr lang="en-US" dirty="0" err="1" smtClean="0"/>
              <a:t>i</a:t>
            </a:r>
            <a:r>
              <a:rPr lang="en-US" dirty="0" smtClean="0"/>
              <a:t> = 0: Executed </a:t>
            </a:r>
            <a:r>
              <a:rPr lang="en-US" dirty="0" smtClean="0"/>
              <a:t>1 time</a:t>
            </a:r>
            <a:r>
              <a:rPr lang="en-US" dirty="0" smtClean="0"/>
              <a:t>.</a:t>
            </a:r>
          </a:p>
          <a:p>
            <a:pPr lvl="1">
              <a:buNone/>
            </a:pPr>
            <a:r>
              <a:rPr lang="en-US" dirty="0" smtClean="0"/>
              <a:t>Condition check </a:t>
            </a:r>
            <a:r>
              <a:rPr lang="en-US" dirty="0" err="1" smtClean="0"/>
              <a:t>i</a:t>
            </a:r>
            <a:r>
              <a:rPr lang="en-US" dirty="0" smtClean="0"/>
              <a:t> &lt; n (for </a:t>
            </a:r>
            <a:r>
              <a:rPr lang="en-US" dirty="0" err="1" smtClean="0"/>
              <a:t>i</a:t>
            </a:r>
            <a:r>
              <a:rPr lang="en-US" dirty="0" smtClean="0"/>
              <a:t>=0): </a:t>
            </a:r>
            <a:r>
              <a:rPr lang="en-US" dirty="0" smtClean="0"/>
              <a:t>Executed </a:t>
            </a:r>
            <a:r>
              <a:rPr lang="en-US" dirty="0" smtClean="0"/>
              <a:t>1 </a:t>
            </a:r>
            <a:r>
              <a:rPr lang="en-US" dirty="0" smtClean="0"/>
              <a:t>time.</a:t>
            </a:r>
          </a:p>
          <a:p>
            <a:pPr lvl="1">
              <a:buNone/>
            </a:pPr>
            <a:r>
              <a:rPr lang="en-US" dirty="0" smtClean="0"/>
              <a:t>Comparison arr[0] == target: Executed </a:t>
            </a:r>
            <a:r>
              <a:rPr lang="en-US" dirty="0" smtClean="0"/>
              <a:t>1 </a:t>
            </a:r>
            <a:r>
              <a:rPr lang="en-US" dirty="0" smtClean="0"/>
              <a:t>time (evaluates to true).</a:t>
            </a:r>
          </a:p>
          <a:p>
            <a:pPr lvl="1">
              <a:buNone/>
            </a:pPr>
            <a:r>
              <a:rPr lang="en-US" dirty="0" smtClean="0"/>
              <a:t>Returns true immediately.</a:t>
            </a:r>
          </a:p>
          <a:p>
            <a:pPr>
              <a:buNone/>
            </a:pPr>
            <a:r>
              <a:rPr lang="en-US" b="1" dirty="0" smtClean="0"/>
              <a:t>Total Basic Operations: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T(n</a:t>
            </a:r>
            <a:r>
              <a:rPr lang="en-US" dirty="0" smtClean="0"/>
              <a:t>) = 1 + 1 + 1 = 3 </a:t>
            </a:r>
            <a:r>
              <a:rPr lang="en-US" dirty="0" smtClean="0"/>
              <a:t>(Constant)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Mathematical Bound: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3 &gt;= </a:t>
            </a:r>
            <a:r>
              <a:rPr lang="en-US" dirty="0" smtClean="0"/>
              <a:t>1 .</a:t>
            </a:r>
            <a:r>
              <a:rPr lang="en-US" dirty="0" smtClean="0"/>
              <a:t> 1 for </a:t>
            </a:r>
            <a:r>
              <a:rPr lang="en-US" dirty="0" smtClean="0"/>
              <a:t>all </a:t>
            </a:r>
            <a:r>
              <a:rPr lang="en-US" dirty="0" smtClean="0"/>
              <a:t> </a:t>
            </a:r>
            <a:r>
              <a:rPr lang="en-US" dirty="0" smtClean="0"/>
              <a:t>n </a:t>
            </a:r>
            <a:r>
              <a:rPr lang="en-US" dirty="0" smtClean="0"/>
              <a:t>&gt;= </a:t>
            </a:r>
            <a:r>
              <a:rPr lang="en-US" dirty="0" smtClean="0"/>
              <a:t>1 </a:t>
            </a:r>
            <a:r>
              <a:rPr lang="en-US" dirty="0" smtClean="0"/>
              <a:t>=&gt; </a:t>
            </a:r>
            <a:r>
              <a:rPr lang="en-US" dirty="0" smtClean="0"/>
              <a:t>c = 1, n_0 = </a:t>
            </a:r>
            <a:r>
              <a:rPr lang="en-US" dirty="0" smtClean="0"/>
              <a:t>1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Complexity:</a:t>
            </a:r>
            <a:r>
              <a:rPr lang="en-US" dirty="0" smtClean="0"/>
              <a:t> </a:t>
            </a:r>
            <a:r>
              <a:rPr lang="en-US" dirty="0" smtClean="0">
                <a:latin typeface="Nunito"/>
                <a:cs typeface="Arial" pitchFamily="34" charset="0"/>
              </a:rPr>
              <a:t>Ω </a:t>
            </a:r>
            <a:r>
              <a:rPr lang="en-US" b="1" dirty="0" smtClean="0"/>
              <a:t>(1)</a:t>
            </a:r>
            <a:r>
              <a:rPr lang="en-US" dirty="0" smtClean="0"/>
              <a:t> </a:t>
            </a:r>
            <a:r>
              <a:rPr lang="en-US" i="1" dirty="0" smtClean="0"/>
              <a:t>(Constant Time)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657015"/>
          </a:xfrm>
        </p:spPr>
        <p:txBody>
          <a:bodyPr/>
          <a:lstStyle/>
          <a:p>
            <a:r>
              <a:rPr lang="en-US" dirty="0" smtClean="0"/>
              <a:t>From Best to Worst</a:t>
            </a:r>
            <a:endParaRPr lang="en-US" dirty="0"/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39019"/>
            <a:ext cx="10209538" cy="4977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221</TotalTime>
  <Words>1421</Words>
  <Application>Microsoft Office PowerPoint</Application>
  <PresentationFormat>Custom</PresentationFormat>
  <Paragraphs>162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Oriel</vt:lpstr>
      <vt:lpstr>Introduction to Algorithms</vt:lpstr>
      <vt:lpstr>Example of Algorithm</vt:lpstr>
      <vt:lpstr>Performance Analysis</vt:lpstr>
      <vt:lpstr>Space Complexity</vt:lpstr>
      <vt:lpstr>Slide 5</vt:lpstr>
      <vt:lpstr>Slide 6</vt:lpstr>
      <vt:lpstr>Time complexity</vt:lpstr>
      <vt:lpstr>Slide 8</vt:lpstr>
      <vt:lpstr>Asymptotic Analysis</vt:lpstr>
      <vt:lpstr>1. Big-O Notation (O-notation): </vt:lpstr>
      <vt:lpstr>1. Big-O Notation (O-notation): </vt:lpstr>
      <vt:lpstr>2. Omega Notation (Ω-Notation): </vt:lpstr>
      <vt:lpstr>2. Omega Notation (Ω-Notation):</vt:lpstr>
      <vt:lpstr>3. Theta Notation (Θ-Notation):</vt:lpstr>
      <vt:lpstr>Θ-Notation(Average Case)</vt:lpstr>
      <vt:lpstr>Slide 16</vt:lpstr>
      <vt:lpstr>Slide 17</vt:lpstr>
      <vt:lpstr>Slide 18</vt:lpstr>
      <vt:lpstr>From Best to Worst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Algorithms</dc:title>
  <dc:subject/>
  <dc:creator/>
  <cp:keywords/>
  <dc:description>generated using python-pptx</dc:description>
  <cp:lastModifiedBy>The DataTech Labs</cp:lastModifiedBy>
  <cp:revision>46</cp:revision>
  <dcterms:created xsi:type="dcterms:W3CDTF">2013-01-27T09:14:16Z</dcterms:created>
  <dcterms:modified xsi:type="dcterms:W3CDTF">2026-07-22T10:51:55Z</dcterms:modified>
  <cp:category/>
</cp:coreProperties>
</file>