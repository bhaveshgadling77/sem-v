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1944" y="-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609600"/>
            <a:ext cx="7772400" cy="685800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Tree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143000"/>
            <a:ext cx="7848600" cy="2590800"/>
          </a:xfrm>
        </p:spPr>
        <p:txBody>
          <a:bodyPr>
            <a:normAutofit fontScale="70000" lnSpcReduction="20000"/>
          </a:bodyPr>
          <a:lstStyle/>
          <a:p>
            <a:pPr algn="l" fontAlgn="base"/>
            <a:r>
              <a:rPr lang="en-US" b="1" dirty="0" smtClean="0">
                <a:solidFill>
                  <a:schemeClr val="tx1"/>
                </a:solidFill>
              </a:rPr>
              <a:t>Tree Data Structure</a:t>
            </a:r>
            <a:r>
              <a:rPr lang="en-US" dirty="0" smtClean="0">
                <a:solidFill>
                  <a:schemeClr val="tx1"/>
                </a:solidFill>
              </a:rPr>
              <a:t> is a non-linear data </a:t>
            </a:r>
            <a:r>
              <a:rPr lang="en-US" dirty="0" smtClean="0">
                <a:solidFill>
                  <a:schemeClr val="tx1"/>
                </a:solidFill>
              </a:rPr>
              <a:t>structure and </a:t>
            </a:r>
            <a:r>
              <a:rPr lang="en-US" b="1" dirty="0" smtClean="0">
                <a:solidFill>
                  <a:schemeClr val="tx1"/>
                </a:solidFill>
              </a:rPr>
              <a:t>hierarchical</a:t>
            </a:r>
            <a:r>
              <a:rPr lang="en-US" dirty="0" smtClean="0">
                <a:solidFill>
                  <a:schemeClr val="tx1"/>
                </a:solidFill>
              </a:rPr>
              <a:t> data structure used to organize and represent data in a </a:t>
            </a:r>
            <a:r>
              <a:rPr lang="en-US" b="1" dirty="0" smtClean="0">
                <a:solidFill>
                  <a:schemeClr val="tx1"/>
                </a:solidFill>
              </a:rPr>
              <a:t>parent–child </a:t>
            </a:r>
            <a:r>
              <a:rPr lang="en-US" dirty="0" smtClean="0">
                <a:solidFill>
                  <a:schemeClr val="tx1"/>
                </a:solidFill>
              </a:rPr>
              <a:t>relationship.</a:t>
            </a:r>
            <a:br>
              <a:rPr lang="en-US" dirty="0" smtClean="0">
                <a:solidFill>
                  <a:schemeClr val="tx1"/>
                </a:solidFill>
              </a:rPr>
            </a:br>
            <a:r>
              <a:rPr lang="en-US" dirty="0" smtClean="0">
                <a:solidFill>
                  <a:schemeClr val="tx1"/>
                </a:solidFill>
              </a:rPr>
              <a:t>It consists of nodes, where the topmost node is called the </a:t>
            </a:r>
            <a:r>
              <a:rPr lang="en-US" b="1" dirty="0" smtClean="0">
                <a:solidFill>
                  <a:schemeClr val="tx1"/>
                </a:solidFill>
              </a:rPr>
              <a:t>root</a:t>
            </a:r>
            <a:r>
              <a:rPr lang="en-US" dirty="0" smtClean="0">
                <a:solidFill>
                  <a:schemeClr val="tx1"/>
                </a:solidFill>
              </a:rPr>
              <a:t>, and every other node can have one or more </a:t>
            </a:r>
            <a:r>
              <a:rPr lang="en-US" b="1" dirty="0" smtClean="0">
                <a:solidFill>
                  <a:schemeClr val="tx1"/>
                </a:solidFill>
              </a:rPr>
              <a:t>child nodes</a:t>
            </a:r>
            <a:r>
              <a:rPr lang="en-US" dirty="0" smtClean="0">
                <a:solidFill>
                  <a:schemeClr val="tx1"/>
                </a:solidFill>
              </a:rPr>
              <a:t>.</a:t>
            </a:r>
          </a:p>
          <a:p>
            <a:r>
              <a:rPr lang="en-US" dirty="0" smtClean="0">
                <a:solidFill>
                  <a:schemeClr val="tx1"/>
                </a:solidFill>
              </a:rPr>
              <a:t/>
            </a:r>
            <a:br>
              <a:rPr lang="en-US" dirty="0" smtClean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762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Importance of Tree Data Structure: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fontAlgn="base"/>
            <a:r>
              <a:rPr lang="en-US" dirty="0" smtClean="0"/>
              <a:t>Trees </a:t>
            </a:r>
            <a:r>
              <a:rPr lang="en-US" dirty="0" smtClean="0"/>
              <a:t>are useful for storing data that naturally forms a hierarchy.</a:t>
            </a:r>
          </a:p>
          <a:p>
            <a:pPr fontAlgn="base"/>
            <a:r>
              <a:rPr lang="en-US" dirty="0" smtClean="0"/>
              <a:t>File systems on computers are structured as trees, with folders containing subfolders and files.</a:t>
            </a:r>
          </a:p>
          <a:p>
            <a:pPr fontAlgn="base"/>
            <a:r>
              <a:rPr lang="en-US" dirty="0" smtClean="0"/>
              <a:t>The DOM (Document Object Model) of an HTML page is a </a:t>
            </a:r>
            <a:r>
              <a:rPr lang="en-US" dirty="0" err="1" smtClean="0"/>
              <a:t>tree:The</a:t>
            </a:r>
            <a:r>
              <a:rPr lang="en-US" dirty="0" smtClean="0"/>
              <a:t> &lt;html&gt; tag is the root.&lt;head&gt; and &lt;body&gt; are its </a:t>
            </a:r>
            <a:r>
              <a:rPr lang="en-US" dirty="0" err="1" smtClean="0"/>
              <a:t>children.These</a:t>
            </a:r>
            <a:r>
              <a:rPr lang="en-US" dirty="0" smtClean="0"/>
              <a:t> tags can have their own child nodes, forming a hierarchical structure.</a:t>
            </a:r>
          </a:p>
          <a:p>
            <a:pPr fontAlgn="base"/>
            <a:r>
              <a:rPr lang="en-US" dirty="0" smtClean="0"/>
              <a:t>Trees help in efficient data organization and retrieval for hierarchical relationships.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Types of Tree Data Structures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fontAlgn="base"/>
            <a:r>
              <a:rPr lang="en-US" dirty="0" smtClean="0"/>
              <a:t>Tree data structures can be classified based on the number of children each node can have.</a:t>
            </a:r>
          </a:p>
          <a:p>
            <a:pPr fontAlgn="base"/>
            <a:r>
              <a:rPr lang="en-US" b="1" dirty="0" smtClean="0"/>
              <a:t>Binary Tree:</a:t>
            </a:r>
          </a:p>
          <a:p>
            <a:pPr fontAlgn="base"/>
            <a:r>
              <a:rPr lang="en-US" dirty="0" smtClean="0"/>
              <a:t>Each node can have a maximum of two children.</a:t>
            </a:r>
          </a:p>
          <a:p>
            <a:pPr fontAlgn="base"/>
            <a:r>
              <a:rPr lang="en-US" b="1" dirty="0" smtClean="0"/>
              <a:t>Full Binary Tree</a:t>
            </a:r>
            <a:r>
              <a:rPr lang="en-US" dirty="0" smtClean="0"/>
              <a:t> – every node has either 0 or 2 children.</a:t>
            </a:r>
          </a:p>
          <a:p>
            <a:pPr fontAlgn="base"/>
            <a:r>
              <a:rPr lang="en-US" b="1" dirty="0" smtClean="0"/>
              <a:t>Complete Binary Tree</a:t>
            </a:r>
            <a:r>
              <a:rPr lang="en-US" dirty="0" smtClean="0"/>
              <a:t> – all levels are fully filled except possibly the last, which is filled from left to right.</a:t>
            </a:r>
          </a:p>
          <a:p>
            <a:pPr fontAlgn="base"/>
            <a:r>
              <a:rPr lang="en-US" b="1" dirty="0" smtClean="0"/>
              <a:t>Balanced Binary Tree </a:t>
            </a:r>
            <a:r>
              <a:rPr lang="en-US" dirty="0" smtClean="0"/>
              <a:t>– height difference between left and right </a:t>
            </a:r>
            <a:r>
              <a:rPr lang="en-US" dirty="0" err="1" smtClean="0"/>
              <a:t>subtrees</a:t>
            </a:r>
            <a:r>
              <a:rPr lang="en-US" dirty="0" smtClean="0"/>
              <a:t> of every node is minimal.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33400"/>
            <a:ext cx="8229600" cy="5592763"/>
          </a:xfrm>
        </p:spPr>
        <p:txBody>
          <a:bodyPr>
            <a:normAutofit lnSpcReduction="10000"/>
          </a:bodyPr>
          <a:lstStyle/>
          <a:p>
            <a:pPr fontAlgn="base"/>
            <a:r>
              <a:rPr lang="en-US" b="1" dirty="0" smtClean="0"/>
              <a:t>Ternary Tree:</a:t>
            </a:r>
          </a:p>
          <a:p>
            <a:pPr fontAlgn="base">
              <a:buNone/>
            </a:pPr>
            <a:r>
              <a:rPr lang="en-US" dirty="0" smtClean="0"/>
              <a:t>   Each </a:t>
            </a:r>
            <a:r>
              <a:rPr lang="en-US" dirty="0" smtClean="0"/>
              <a:t>node can have at most three children, often labeled as left, middle, and right</a:t>
            </a:r>
            <a:r>
              <a:rPr lang="en-US" dirty="0" smtClean="0"/>
              <a:t>.</a:t>
            </a:r>
          </a:p>
          <a:p>
            <a:pPr fontAlgn="base">
              <a:buNone/>
            </a:pPr>
            <a:endParaRPr lang="en-US" dirty="0" smtClean="0"/>
          </a:p>
          <a:p>
            <a:pPr fontAlgn="base"/>
            <a:r>
              <a:rPr lang="en-US" b="1" dirty="0" smtClean="0"/>
              <a:t>N-</a:t>
            </a:r>
            <a:r>
              <a:rPr lang="en-US" b="1" dirty="0" err="1" smtClean="0"/>
              <a:t>ary</a:t>
            </a:r>
            <a:r>
              <a:rPr lang="en-US" b="1" dirty="0" smtClean="0"/>
              <a:t> Tree (or Generic Tree):</a:t>
            </a:r>
          </a:p>
          <a:p>
            <a:pPr fontAlgn="base">
              <a:buNone/>
            </a:pPr>
            <a:r>
              <a:rPr lang="en-US" dirty="0" smtClean="0"/>
              <a:t>	Each </a:t>
            </a:r>
            <a:r>
              <a:rPr lang="en-US" dirty="0" smtClean="0"/>
              <a:t>node can have any number of children.</a:t>
            </a:r>
          </a:p>
          <a:p>
            <a:pPr fontAlgn="base">
              <a:buNone/>
            </a:pPr>
            <a:r>
              <a:rPr lang="en-US" dirty="0" smtClean="0"/>
              <a:t>	Each </a:t>
            </a:r>
            <a:r>
              <a:rPr lang="en-US" dirty="0" smtClean="0"/>
              <a:t>node typically contains: Some data , A list of references to its children (duplicates are not allowed).</a:t>
            </a:r>
          </a:p>
          <a:p>
            <a:pPr fontAlgn="base">
              <a:buNone/>
            </a:pPr>
            <a:r>
              <a:rPr lang="en-US" dirty="0" smtClean="0"/>
              <a:t>	Unlike </a:t>
            </a:r>
            <a:r>
              <a:rPr lang="en-US" dirty="0" smtClean="0"/>
              <a:t>linked lists, nodes store references to multiple child nodes.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Basic Operations Of Tree Data Structure: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base"/>
            <a:r>
              <a:rPr lang="en-US" b="1" dirty="0" smtClean="0"/>
              <a:t>Create</a:t>
            </a:r>
            <a:r>
              <a:rPr lang="en-US" dirty="0" smtClean="0"/>
              <a:t> – create a tree in the data structure.</a:t>
            </a:r>
          </a:p>
          <a:p>
            <a:pPr fontAlgn="base"/>
            <a:r>
              <a:rPr lang="en-US" b="1" dirty="0" smtClean="0"/>
              <a:t>Insert</a:t>
            </a:r>
            <a:r>
              <a:rPr lang="en-US" dirty="0" smtClean="0"/>
              <a:t> − Inserts data in a tree.</a:t>
            </a:r>
          </a:p>
          <a:p>
            <a:pPr fontAlgn="base"/>
            <a:r>
              <a:rPr lang="en-US" b="1" dirty="0" smtClean="0"/>
              <a:t>Search</a:t>
            </a:r>
            <a:r>
              <a:rPr lang="en-US" dirty="0" smtClean="0"/>
              <a:t> − Searches specific data in a tree to check whether it is present or not.</a:t>
            </a:r>
          </a:p>
          <a:p>
            <a:pPr marL="514350" indent="-514350"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400" y="3962400"/>
          <a:ext cx="8153400" cy="2590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76700"/>
                <a:gridCol w="4076700"/>
              </a:tblGrid>
              <a:tr h="2590800">
                <a:tc>
                  <a:txBody>
                    <a:bodyPr/>
                    <a:lstStyle/>
                    <a:p>
                      <a:pPr fontAlgn="base"/>
                      <a:r>
                        <a:rPr lang="en-US" sz="3600" dirty="0" smtClean="0"/>
                        <a:t>Traversal:</a:t>
                      </a:r>
                    </a:p>
                    <a:p>
                      <a:pPr marL="514350" indent="-514350">
                        <a:buFont typeface="+mj-lt"/>
                        <a:buAutoNum type="arabicPeriod"/>
                      </a:pPr>
                      <a:r>
                        <a:rPr lang="en-US" sz="3600" dirty="0" smtClean="0"/>
                        <a:t>Preorder</a:t>
                      </a:r>
                    </a:p>
                    <a:p>
                      <a:pPr marL="514350" indent="-514350">
                        <a:buFont typeface="+mj-lt"/>
                        <a:buAutoNum type="arabicPeriod"/>
                      </a:pPr>
                      <a:r>
                        <a:rPr lang="en-US" sz="3600" dirty="0" err="1" smtClean="0"/>
                        <a:t>Inorder</a:t>
                      </a:r>
                      <a:endParaRPr lang="en-US" sz="3600" dirty="0" smtClean="0"/>
                    </a:p>
                    <a:p>
                      <a:pPr marL="514350" indent="-514350">
                        <a:buFont typeface="+mj-lt"/>
                        <a:buAutoNum type="arabicPeriod"/>
                      </a:pPr>
                      <a:r>
                        <a:rPr lang="en-US" sz="3600" dirty="0" err="1" smtClean="0"/>
                        <a:t>Postorder</a:t>
                      </a:r>
                      <a:endParaRPr lang="en-US" sz="3600" dirty="0" smtClean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3200" dirty="0" smtClean="0"/>
                        <a:t>        A</a:t>
                      </a:r>
                    </a:p>
                    <a:p>
                      <a:r>
                        <a:rPr lang="pt-BR" sz="3200" dirty="0" smtClean="0"/>
                        <a:t>      /   \</a:t>
                      </a:r>
                    </a:p>
                    <a:p>
                      <a:r>
                        <a:rPr lang="pt-BR" sz="3200" dirty="0" smtClean="0"/>
                        <a:t>     B     C</a:t>
                      </a:r>
                    </a:p>
                    <a:p>
                      <a:r>
                        <a:rPr lang="pt-BR" sz="3200" dirty="0" smtClean="0"/>
                        <a:t>    /  \</a:t>
                      </a:r>
                    </a:p>
                    <a:p>
                      <a:r>
                        <a:rPr lang="pt-BR" sz="3200" dirty="0" smtClean="0"/>
                        <a:t>   D   E</a:t>
                      </a:r>
                      <a:endParaRPr lang="en-US" sz="3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Binary Search Tree (BST)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/>
              <a:t>A </a:t>
            </a:r>
            <a:r>
              <a:rPr lang="en-US" dirty="0" smtClean="0"/>
              <a:t>Binary Search Tree follows:</a:t>
            </a:r>
          </a:p>
          <a:p>
            <a:r>
              <a:rPr lang="en-US" dirty="0" smtClean="0"/>
              <a:t>Left </a:t>
            </a:r>
            <a:r>
              <a:rPr lang="en-US" dirty="0" err="1" smtClean="0"/>
              <a:t>subtree</a:t>
            </a:r>
            <a:r>
              <a:rPr lang="en-US" dirty="0" smtClean="0"/>
              <a:t> &lt; Root </a:t>
            </a:r>
          </a:p>
          <a:p>
            <a:r>
              <a:rPr lang="en-US" dirty="0" smtClean="0"/>
              <a:t>Right </a:t>
            </a:r>
            <a:r>
              <a:rPr lang="en-US" dirty="0" err="1" smtClean="0"/>
              <a:t>subtree</a:t>
            </a:r>
            <a:r>
              <a:rPr lang="en-US" dirty="0" smtClean="0"/>
              <a:t> &gt; Root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Graphs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</a:t>
            </a:r>
            <a:r>
              <a:rPr lang="en-US" b="1" dirty="0" smtClean="0"/>
              <a:t>Graph</a:t>
            </a:r>
            <a:r>
              <a:rPr lang="en-US" dirty="0" smtClean="0"/>
              <a:t> is a </a:t>
            </a:r>
            <a:r>
              <a:rPr lang="en-US" b="1" dirty="0" smtClean="0"/>
              <a:t>non-linear data structure</a:t>
            </a:r>
            <a:r>
              <a:rPr lang="en-US" dirty="0" smtClean="0"/>
              <a:t> consisting of a set of </a:t>
            </a:r>
            <a:r>
              <a:rPr lang="en-US" b="1" dirty="0" smtClean="0"/>
              <a:t>vertices (nodes)</a:t>
            </a:r>
            <a:r>
              <a:rPr lang="en-US" dirty="0" smtClean="0"/>
              <a:t> and </a:t>
            </a:r>
            <a:r>
              <a:rPr lang="en-US" b="1" dirty="0" smtClean="0"/>
              <a:t>edges</a:t>
            </a:r>
            <a:r>
              <a:rPr lang="en-US" dirty="0" smtClean="0"/>
              <a:t> that connect pairs of vertices.</a:t>
            </a:r>
          </a:p>
          <a:p>
            <a:r>
              <a:rPr lang="en-US" dirty="0" smtClean="0"/>
              <a:t>A graph is represented </a:t>
            </a:r>
            <a:r>
              <a:rPr lang="en-US" dirty="0" smtClean="0"/>
              <a:t>as:    G</a:t>
            </a:r>
            <a:r>
              <a:rPr lang="en-US" dirty="0" smtClean="0"/>
              <a:t>=(</a:t>
            </a:r>
            <a:r>
              <a:rPr lang="en-US" dirty="0" smtClean="0"/>
              <a:t>V,E)</a:t>
            </a:r>
          </a:p>
          <a:p>
            <a:pPr>
              <a:buNone/>
            </a:pPr>
            <a:r>
              <a:rPr lang="en-US" dirty="0" smtClean="0"/>
              <a:t>where:</a:t>
            </a:r>
          </a:p>
          <a:p>
            <a:pPr>
              <a:buNone/>
            </a:pPr>
            <a:r>
              <a:rPr lang="en-US" b="1" dirty="0" smtClean="0"/>
              <a:t>V</a:t>
            </a:r>
            <a:r>
              <a:rPr lang="en-US" dirty="0" smtClean="0"/>
              <a:t> = Set of Vertices (Nodes) </a:t>
            </a:r>
          </a:p>
          <a:p>
            <a:pPr>
              <a:buNone/>
            </a:pPr>
            <a:r>
              <a:rPr lang="en-US" b="1" dirty="0" smtClean="0"/>
              <a:t>E</a:t>
            </a:r>
            <a:r>
              <a:rPr lang="en-US" dirty="0" smtClean="0"/>
              <a:t> = Set of Edges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9762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Fundamental Terminology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8200"/>
            <a:ext cx="8229600" cy="5638800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 smtClean="0"/>
              <a:t>Adjacent </a:t>
            </a:r>
            <a:r>
              <a:rPr lang="en-US" b="1" dirty="0" smtClean="0"/>
              <a:t>Vertices:</a:t>
            </a:r>
            <a:r>
              <a:rPr lang="en-US" dirty="0" smtClean="0"/>
              <a:t> Two vertices connected directly by an edge.</a:t>
            </a:r>
          </a:p>
          <a:p>
            <a:r>
              <a:rPr lang="en-US" b="1" dirty="0" smtClean="0"/>
              <a:t>Degree of a Vertex:</a:t>
            </a:r>
            <a:r>
              <a:rPr lang="en-US" dirty="0" smtClean="0"/>
              <a:t> Total number of edges connected to a vertex.</a:t>
            </a:r>
          </a:p>
          <a:p>
            <a:pPr lvl="1"/>
            <a:r>
              <a:rPr lang="en-US" b="1" dirty="0" smtClean="0"/>
              <a:t>In-degree (Directed Graphs):</a:t>
            </a:r>
            <a:r>
              <a:rPr lang="en-US" dirty="0" smtClean="0"/>
              <a:t> Number of incoming edges.</a:t>
            </a:r>
          </a:p>
          <a:p>
            <a:pPr lvl="1"/>
            <a:r>
              <a:rPr lang="en-US" b="1" dirty="0" smtClean="0"/>
              <a:t>Out-degree (Directed Graphs):</a:t>
            </a:r>
            <a:r>
              <a:rPr lang="en-US" dirty="0" smtClean="0"/>
              <a:t> Number of outgoing edges.</a:t>
            </a:r>
          </a:p>
          <a:p>
            <a:r>
              <a:rPr lang="en-US" b="1" dirty="0" smtClean="0"/>
              <a:t>Path:</a:t>
            </a:r>
            <a:r>
              <a:rPr lang="en-US" dirty="0" smtClean="0"/>
              <a:t> A sequence of vertices where each adjacent pair is connected by an edge.</a:t>
            </a:r>
          </a:p>
          <a:p>
            <a:r>
              <a:rPr lang="en-US" b="1" dirty="0" smtClean="0"/>
              <a:t>Cycle:</a:t>
            </a:r>
            <a:r>
              <a:rPr lang="en-US" dirty="0" smtClean="0"/>
              <a:t> A path that starts and ends at the same vertex with no repeated edges.</a:t>
            </a:r>
          </a:p>
          <a:p>
            <a:r>
              <a:rPr lang="en-US" b="1" dirty="0" smtClean="0"/>
              <a:t>Self-Loop:</a:t>
            </a:r>
            <a:r>
              <a:rPr lang="en-US" dirty="0" smtClean="0"/>
              <a:t> An edge that connects a vertex to itself.</a:t>
            </a:r>
          </a:p>
          <a:p>
            <a:r>
              <a:rPr lang="en-US" b="1" dirty="0" smtClean="0"/>
              <a:t>Parallel Edges:</a:t>
            </a:r>
            <a:r>
              <a:rPr lang="en-US" dirty="0" smtClean="0"/>
              <a:t> Two or more edges connecting the same pair of vertices.</a:t>
            </a:r>
          </a:p>
          <a:p>
            <a:r>
              <a:rPr lang="en-US" b="1" dirty="0" smtClean="0"/>
              <a:t>Simple Graph:</a:t>
            </a:r>
            <a:r>
              <a:rPr lang="en-US" dirty="0" smtClean="0"/>
              <a:t> A graph with no self-loops or parallel edges.</a:t>
            </a:r>
          </a:p>
          <a:p>
            <a:r>
              <a:rPr lang="en-US" b="1" dirty="0" smtClean="0"/>
              <a:t>Connected Graph (Undirected):</a:t>
            </a:r>
            <a:r>
              <a:rPr lang="en-US" dirty="0" smtClean="0"/>
              <a:t> A graph where a path exists between every pair of vertices.</a:t>
            </a:r>
          </a:p>
          <a:p>
            <a:r>
              <a:rPr lang="en-US" b="1" dirty="0" smtClean="0"/>
              <a:t>Strongly Connected (Directed):</a:t>
            </a:r>
            <a:r>
              <a:rPr lang="en-US" dirty="0" smtClean="0"/>
              <a:t> Every vertex is reachable from every other vertex.</a:t>
            </a:r>
          </a:p>
          <a:p>
            <a:r>
              <a:rPr lang="en-US" b="1" dirty="0" smtClean="0"/>
              <a:t>Weakly Connected (Directed):</a:t>
            </a:r>
            <a:r>
              <a:rPr lang="en-US" dirty="0" smtClean="0"/>
              <a:t> Connected when direction of edges is ignored.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Graph Classification</a:t>
            </a:r>
            <a:br>
              <a:rPr lang="en-US" b="1" dirty="0" smtClean="0"/>
            </a:b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38100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 dirty="0"/>
                        <a:t>Graph Type</a:t>
                      </a:r>
                      <a:endParaRPr lang="en-US" dirty="0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/>
                        <a:t>Description</a:t>
                      </a:r>
                      <a:endParaRPr lang="en-US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/>
                        <a:t>Undirected</a:t>
                      </a:r>
                      <a:endParaRPr lang="en-US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/>
                        <a:t>Edges have no direction; </a:t>
                      </a:r>
                      <a:r>
                        <a:rPr lang="en-US" dirty="0" smtClean="0"/>
                        <a:t>(</a:t>
                      </a:r>
                      <a:r>
                        <a:rPr lang="en-US" dirty="0"/>
                        <a:t>u, v) = (v, u</a:t>
                      </a:r>
                      <a:r>
                        <a:rPr lang="en-US" dirty="0" smtClean="0"/>
                        <a:t>).</a:t>
                      </a:r>
                      <a:endParaRPr lang="en-US" dirty="0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/>
                        <a:t>Directed (Digraph)</a:t>
                      </a:r>
                      <a:endParaRPr lang="en-US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/>
                        <a:t>Edges have direction; </a:t>
                      </a:r>
                      <a:r>
                        <a:rPr lang="en-US" dirty="0" smtClean="0"/>
                        <a:t>(</a:t>
                      </a:r>
                      <a:r>
                        <a:rPr lang="en-US" dirty="0"/>
                        <a:t>u, v) </a:t>
                      </a:r>
                      <a:r>
                        <a:rPr lang="en-US" dirty="0" smtClean="0"/>
                        <a:t>!= </a:t>
                      </a:r>
                      <a:r>
                        <a:rPr lang="en-US" dirty="0"/>
                        <a:t>(v, u</a:t>
                      </a:r>
                      <a:r>
                        <a:rPr lang="en-US" dirty="0" smtClean="0"/>
                        <a:t>)</a:t>
                      </a:r>
                      <a:endParaRPr lang="en-US" dirty="0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 dirty="0"/>
                        <a:t>Weighted</a:t>
                      </a:r>
                      <a:endParaRPr lang="en-US" dirty="0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/>
                        <a:t>Edges carry numerical values (weights/costs/distances).</a:t>
                      </a:r>
                      <a:endParaRPr lang="en-US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/>
                        <a:t>Unweighted</a:t>
                      </a:r>
                      <a:endParaRPr lang="en-US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/>
                        <a:t>All edges have equal weight (usually considered </a:t>
                      </a:r>
                      <a:r>
                        <a:rPr lang="en-US" dirty="0" smtClean="0"/>
                        <a:t>1).</a:t>
                      </a:r>
                      <a:endParaRPr lang="en-US" dirty="0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/>
                        <a:t>Cyclic / Acyclic</a:t>
                      </a:r>
                      <a:endParaRPr lang="en-US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fr-FR"/>
                        <a:t>Contains cycles / contains no cycles.</a:t>
                      </a:r>
                      <a:endParaRPr lang="fr-FR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/>
                        <a:t>DAG (Directed Acyclic Graph)</a:t>
                      </a:r>
                      <a:endParaRPr lang="en-US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/>
                        <a:t>Directed graph with no directed cycles (used in scheduling/dependencies).</a:t>
                      </a:r>
                      <a:endParaRPr lang="en-US" dirty="0">
                        <a:solidFill>
                          <a:srgbClr val="1F1F1F"/>
                        </a:solidFill>
                        <a:latin typeface="Google Sans Text"/>
                      </a:endParaRPr>
                    </a:p>
                  </a:txBody>
                  <a:tcPr marL="114300" marR="114300" marT="76200" marB="762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Graph Storage Representations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two most common ways to represent a graph in computer memory are </a:t>
            </a:r>
            <a:r>
              <a:rPr lang="en-US" b="1" dirty="0" smtClean="0"/>
              <a:t>Adjacency Matrix</a:t>
            </a:r>
            <a:r>
              <a:rPr lang="en-US" dirty="0" smtClean="0"/>
              <a:t> and </a:t>
            </a:r>
            <a:r>
              <a:rPr lang="en-US" b="1" dirty="0" smtClean="0"/>
              <a:t>Adjacency List</a:t>
            </a:r>
            <a:r>
              <a:rPr lang="en-US" dirty="0" smtClean="0"/>
              <a:t>.</a:t>
            </a:r>
          </a:p>
          <a:p>
            <a:r>
              <a:rPr lang="en-US" b="1" dirty="0" smtClean="0"/>
              <a:t>A. Adjacency Matrix</a:t>
            </a:r>
          </a:p>
          <a:p>
            <a:r>
              <a:rPr lang="en-US" dirty="0" smtClean="0"/>
              <a:t>A 2D array </a:t>
            </a:r>
            <a:r>
              <a:rPr lang="en-US" dirty="0" smtClean="0"/>
              <a:t>A </a:t>
            </a:r>
            <a:r>
              <a:rPr lang="en-US" dirty="0" smtClean="0"/>
              <a:t>of size </a:t>
            </a:r>
            <a:r>
              <a:rPr lang="en-US" dirty="0" smtClean="0"/>
              <a:t>V * V, </a:t>
            </a:r>
            <a:r>
              <a:rPr lang="en-US" dirty="0" smtClean="0"/>
              <a:t>where </a:t>
            </a:r>
            <a:r>
              <a:rPr lang="en-US" dirty="0" smtClean="0"/>
              <a:t>A[</a:t>
            </a:r>
            <a:r>
              <a:rPr lang="en-US" dirty="0" err="1" smtClean="0"/>
              <a:t>i</a:t>
            </a:r>
            <a:r>
              <a:rPr lang="en-US" dirty="0" smtClean="0"/>
              <a:t>][j] = </a:t>
            </a:r>
            <a:r>
              <a:rPr lang="en-US" dirty="0" smtClean="0"/>
              <a:t>1 </a:t>
            </a:r>
            <a:r>
              <a:rPr lang="en-US" dirty="0" smtClean="0"/>
              <a:t>(or edge weight) if an edge exists from vertex </a:t>
            </a:r>
            <a:r>
              <a:rPr lang="en-US" dirty="0" err="1" smtClean="0"/>
              <a:t>i</a:t>
            </a:r>
            <a:r>
              <a:rPr lang="en-US" dirty="0" smtClean="0"/>
              <a:t> </a:t>
            </a:r>
            <a:r>
              <a:rPr lang="en-US" dirty="0" smtClean="0"/>
              <a:t>to vertex </a:t>
            </a:r>
            <a:r>
              <a:rPr lang="en-US" dirty="0" smtClean="0"/>
              <a:t>j, </a:t>
            </a:r>
            <a:r>
              <a:rPr lang="en-US" dirty="0" smtClean="0"/>
              <a:t>and </a:t>
            </a:r>
            <a:r>
              <a:rPr lang="en-US" dirty="0" smtClean="0"/>
              <a:t>0 </a:t>
            </a:r>
            <a:r>
              <a:rPr lang="en-US" dirty="0" smtClean="0"/>
              <a:t>otherwise.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Adjacency Matrix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219200"/>
            <a:ext cx="5562600" cy="34188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19200" y="4876800"/>
            <a:ext cx="4057650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Adjacency List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066800"/>
            <a:ext cx="8763000" cy="1143000"/>
          </a:xfrm>
        </p:spPr>
        <p:txBody>
          <a:bodyPr>
            <a:normAutofit fontScale="92500"/>
          </a:bodyPr>
          <a:lstStyle/>
          <a:p>
            <a:r>
              <a:rPr lang="en-US" dirty="0" smtClean="0"/>
              <a:t>An </a:t>
            </a:r>
            <a:r>
              <a:rPr lang="en-US" dirty="0" smtClean="0"/>
              <a:t>array or dynamic list of size </a:t>
            </a:r>
            <a:r>
              <a:rPr lang="en-US" dirty="0" smtClean="0"/>
              <a:t>V, </a:t>
            </a:r>
            <a:r>
              <a:rPr lang="en-US" dirty="0" smtClean="0"/>
              <a:t>where each index </a:t>
            </a:r>
            <a:r>
              <a:rPr lang="en-US" dirty="0" err="1" smtClean="0"/>
              <a:t>i</a:t>
            </a:r>
            <a:r>
              <a:rPr lang="en-US" dirty="0" smtClean="0"/>
              <a:t> </a:t>
            </a:r>
            <a:r>
              <a:rPr lang="en-US" dirty="0" smtClean="0"/>
              <a:t>stores a linked list/vector of adjacent vertices.</a:t>
            </a:r>
          </a:p>
          <a:p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057400"/>
            <a:ext cx="5248275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857750"/>
            <a:ext cx="5953125" cy="200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Graph </a:t>
            </a:r>
            <a:r>
              <a:rPr lang="en-US" dirty="0" smtClean="0"/>
              <a:t>Traversals</a:t>
            </a:r>
            <a:br>
              <a:rPr lang="en-US" dirty="0" smtClean="0"/>
            </a:br>
            <a:r>
              <a:rPr lang="en-US" b="1" dirty="0" smtClean="0"/>
              <a:t>A. Breadth-First Search (BFS)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951037"/>
            <a:ext cx="8229600" cy="4525963"/>
          </a:xfrm>
        </p:spPr>
        <p:txBody>
          <a:bodyPr/>
          <a:lstStyle/>
          <a:p>
            <a:r>
              <a:rPr lang="en-US" b="1" dirty="0" smtClean="0"/>
              <a:t>Strategy</a:t>
            </a:r>
            <a:r>
              <a:rPr lang="en-US" b="1" dirty="0" smtClean="0"/>
              <a:t>:</a:t>
            </a:r>
            <a:r>
              <a:rPr lang="en-US" dirty="0" smtClean="0"/>
              <a:t> Explores vertices level-by-level starting from a source node using a </a:t>
            </a:r>
            <a:r>
              <a:rPr lang="en-US" b="1" dirty="0" smtClean="0"/>
              <a:t>Queue (FIFO)</a:t>
            </a:r>
            <a:r>
              <a:rPr lang="en-US" dirty="0" smtClean="0"/>
              <a:t> data structure.</a:t>
            </a:r>
          </a:p>
          <a:p>
            <a:r>
              <a:rPr lang="en-US" b="1" dirty="0" smtClean="0"/>
              <a:t>Use Cases:</a:t>
            </a:r>
            <a:r>
              <a:rPr lang="en-US" dirty="0" smtClean="0"/>
              <a:t> Shortest path in </a:t>
            </a:r>
            <a:r>
              <a:rPr lang="en-US" dirty="0" err="1" smtClean="0"/>
              <a:t>unweighted</a:t>
            </a:r>
            <a:r>
              <a:rPr lang="en-US" dirty="0" smtClean="0"/>
              <a:t> graphs, finding connected components.</a:t>
            </a:r>
          </a:p>
          <a:p>
            <a:r>
              <a:rPr lang="en-US" b="1" dirty="0" smtClean="0"/>
              <a:t>Time Complexity:</a:t>
            </a:r>
            <a:r>
              <a:rPr lang="en-US" dirty="0" smtClean="0"/>
              <a:t> </a:t>
            </a:r>
            <a:r>
              <a:rPr lang="en-US" dirty="0" smtClean="0"/>
              <a:t>O(V </a:t>
            </a:r>
            <a:r>
              <a:rPr lang="en-US" dirty="0" smtClean="0"/>
              <a:t>+ E</a:t>
            </a:r>
            <a:r>
              <a:rPr lang="en-US" dirty="0" smtClean="0"/>
              <a:t>)</a:t>
            </a:r>
            <a:endParaRPr lang="en-US" dirty="0" smtClean="0"/>
          </a:p>
          <a:p>
            <a:r>
              <a:rPr lang="en-US" b="1" dirty="0" smtClean="0"/>
              <a:t>Space Complexity:</a:t>
            </a:r>
            <a:r>
              <a:rPr lang="en-US" dirty="0" smtClean="0"/>
              <a:t> </a:t>
            </a:r>
            <a:r>
              <a:rPr lang="en-US" dirty="0" smtClean="0"/>
              <a:t>O(V)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B. Depth-First Search (DFS)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Strategy</a:t>
            </a:r>
            <a:r>
              <a:rPr lang="en-US" b="1" dirty="0" smtClean="0"/>
              <a:t>:</a:t>
            </a:r>
            <a:r>
              <a:rPr lang="en-US" dirty="0" smtClean="0"/>
              <a:t> Explores as deep as possible along each branch before backtracking, using a </a:t>
            </a:r>
            <a:r>
              <a:rPr lang="en-US" b="1" dirty="0" smtClean="0"/>
              <a:t>Stack (LIFO)</a:t>
            </a:r>
            <a:r>
              <a:rPr lang="en-US" dirty="0" smtClean="0"/>
              <a:t> or recursion.</a:t>
            </a:r>
          </a:p>
          <a:p>
            <a:r>
              <a:rPr lang="en-US" b="1" dirty="0" smtClean="0"/>
              <a:t>Use Cases:</a:t>
            </a:r>
            <a:r>
              <a:rPr lang="en-US" dirty="0" smtClean="0"/>
              <a:t> Cycle detection, topological sorting, solving mazes.</a:t>
            </a:r>
          </a:p>
          <a:p>
            <a:r>
              <a:rPr lang="en-US" b="1" dirty="0" smtClean="0"/>
              <a:t>Time Complexity:</a:t>
            </a:r>
            <a:r>
              <a:rPr lang="en-US" dirty="0" smtClean="0"/>
              <a:t> </a:t>
            </a:r>
            <a:r>
              <a:rPr lang="en-US" dirty="0" smtClean="0"/>
              <a:t>O(V </a:t>
            </a:r>
            <a:r>
              <a:rPr lang="en-US" dirty="0" smtClean="0"/>
              <a:t>+ E</a:t>
            </a:r>
            <a:r>
              <a:rPr lang="en-US" dirty="0" smtClean="0"/>
              <a:t>)</a:t>
            </a:r>
            <a:endParaRPr lang="en-US" dirty="0" smtClean="0"/>
          </a:p>
          <a:p>
            <a:r>
              <a:rPr lang="en-US" b="1" dirty="0" smtClean="0"/>
              <a:t>Space Complexity:</a:t>
            </a:r>
            <a:r>
              <a:rPr lang="en-US" dirty="0" smtClean="0"/>
              <a:t> </a:t>
            </a:r>
            <a:r>
              <a:rPr lang="en-US" dirty="0" smtClean="0"/>
              <a:t>O(V)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762000"/>
            <a:ext cx="8229600" cy="52759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694</Words>
  <Application>Microsoft Office PowerPoint</Application>
  <PresentationFormat>On-screen Show (4:3)</PresentationFormat>
  <Paragraphs>90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Tree </vt:lpstr>
      <vt:lpstr>Importance of Tree Data Structure: </vt:lpstr>
      <vt:lpstr>Types of Tree Data Structures </vt:lpstr>
      <vt:lpstr>Slide 4</vt:lpstr>
      <vt:lpstr>Basic Operations Of Tree Data Structure: </vt:lpstr>
      <vt:lpstr>Binary Search Tree (BST) </vt:lpstr>
      <vt:lpstr>Graphs</vt:lpstr>
      <vt:lpstr>Fundamental Terminology </vt:lpstr>
      <vt:lpstr>Graph Classification </vt:lpstr>
      <vt:lpstr>Graph Storage Representations</vt:lpstr>
      <vt:lpstr>Adjacency Matrix </vt:lpstr>
      <vt:lpstr>Adjacency List </vt:lpstr>
      <vt:lpstr>Graph Traversals A. Breadth-First Search (BFS) </vt:lpstr>
      <vt:lpstr>B. Depth-First Search (DFS) </vt:lpstr>
      <vt:lpstr>Slide 15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 </dc:title>
  <dc:creator>The DataTech Labs</dc:creator>
  <cp:lastModifiedBy>The DataTech Labs</cp:lastModifiedBy>
  <cp:revision>22</cp:revision>
  <dcterms:created xsi:type="dcterms:W3CDTF">2006-08-16T00:00:00Z</dcterms:created>
  <dcterms:modified xsi:type="dcterms:W3CDTF">2026-07-29T10:37:49Z</dcterms:modified>
</cp:coreProperties>
</file>