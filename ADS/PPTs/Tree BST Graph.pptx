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æ æ ·å¼ï¼ç½æ ¼å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æµè²æ ·å¼ 3 - å¼ºè°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609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Tree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143000"/>
            <a:ext cx="7848600" cy="2590800"/>
          </a:xfrm>
        </p:spPr>
        <p:txBody>
          <a:bodyPr>
            <a:normAutofit fontScale="70000" lnSpcReduction="20000"/>
          </a:bodyPr>
          <a:lstStyle/>
          <a:p>
            <a:pPr algn="l" fontAlgn="base"/>
            <a:r>
              <a:rPr lang="en-US" b="1" dirty="0" smtClean="0">
                <a:solidFill>
                  <a:schemeClr val="tx1"/>
                </a:solidFill>
              </a:rPr>
              <a:t>Tree Data Structure</a:t>
            </a:r>
            <a:r>
              <a:rPr lang="en-US" dirty="0" smtClean="0">
                <a:solidFill>
                  <a:schemeClr val="tx1"/>
                </a:solidFill>
              </a:rPr>
              <a:t> is a non-linear data structure and </a:t>
            </a:r>
            <a:r>
              <a:rPr lang="en-US" b="1" dirty="0" smtClean="0">
                <a:solidFill>
                  <a:schemeClr val="tx1"/>
                </a:solidFill>
              </a:rPr>
              <a:t>hierarchical</a:t>
            </a:r>
            <a:r>
              <a:rPr lang="en-US" dirty="0" smtClean="0">
                <a:solidFill>
                  <a:schemeClr val="tx1"/>
                </a:solidFill>
              </a:rPr>
              <a:t> data structure used to organize and represent data in a </a:t>
            </a:r>
            <a:r>
              <a:rPr lang="en-US" b="1" dirty="0" smtClean="0">
                <a:solidFill>
                  <a:schemeClr val="tx1"/>
                </a:solidFill>
              </a:rPr>
              <a:t>parent–child </a:t>
            </a:r>
            <a:r>
              <a:rPr lang="en-US" dirty="0" smtClean="0">
                <a:solidFill>
                  <a:schemeClr val="tx1"/>
                </a:solidFill>
              </a:rPr>
              <a:t>relationship.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It consists of nodes, where the topmost node is called the </a:t>
            </a:r>
            <a:r>
              <a:rPr lang="en-US" b="1" dirty="0" smtClean="0">
                <a:solidFill>
                  <a:schemeClr val="tx1"/>
                </a:solidFill>
              </a:rPr>
              <a:t>root</a:t>
            </a:r>
            <a:r>
              <a:rPr lang="en-US" dirty="0" smtClean="0">
                <a:solidFill>
                  <a:schemeClr val="tx1"/>
                </a:solidFill>
              </a:rPr>
              <a:t>, and every other node can have one or more </a:t>
            </a:r>
            <a:r>
              <a:rPr lang="en-US" b="1" dirty="0" smtClean="0">
                <a:solidFill>
                  <a:schemeClr val="tx1"/>
                </a:solidFill>
              </a:rPr>
              <a:t>child nodes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en-US" dirty="0" smtClean="0">
              <a:solidFill>
                <a:schemeClr val="tx1"/>
              </a:solidFill>
            </a:endParaRPr>
          </a:p>
          <a:p>
            <a:br>
              <a:rPr lang="en-US" dirty="0" smtClean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0" y="2743200"/>
            <a:ext cx="7620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Importance of Tree Data Structure: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 smtClean="0"/>
              <a:t>Trees are useful for storing data that naturally forms a hierarchy.</a:t>
            </a:r>
            <a:endParaRPr lang="en-US" dirty="0" smtClean="0"/>
          </a:p>
          <a:p>
            <a:pPr fontAlgn="base"/>
            <a:r>
              <a:rPr lang="en-US" dirty="0" smtClean="0"/>
              <a:t>File systems on computers are structured as trees, with folders containing subfolders and files.</a:t>
            </a:r>
            <a:endParaRPr lang="en-US" dirty="0" smtClean="0"/>
          </a:p>
          <a:p>
            <a:pPr fontAlgn="base"/>
            <a:r>
              <a:rPr lang="en-US" dirty="0" smtClean="0"/>
              <a:t>The DOM (Document Object Model) of an HTML page is a </a:t>
            </a:r>
            <a:r>
              <a:rPr lang="en-US" dirty="0" err="1" smtClean="0"/>
              <a:t>tree:The</a:t>
            </a:r>
            <a:r>
              <a:rPr lang="en-US" dirty="0" smtClean="0"/>
              <a:t> &lt;html&gt; tag is the root.&lt;head&gt; and &lt;body&gt; are its </a:t>
            </a:r>
            <a:r>
              <a:rPr lang="en-US" dirty="0" err="1" smtClean="0"/>
              <a:t>children.These</a:t>
            </a:r>
            <a:r>
              <a:rPr lang="en-US" dirty="0" smtClean="0"/>
              <a:t> tags can have their own child nodes, forming a hierarchical structure.</a:t>
            </a:r>
            <a:endParaRPr lang="en-US" dirty="0" smtClean="0"/>
          </a:p>
          <a:p>
            <a:pPr fontAlgn="base"/>
            <a:r>
              <a:rPr lang="en-US" dirty="0" smtClean="0"/>
              <a:t>Trees help in efficient data organization and retrieval for hierarchical relationships.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Types of Tree Data Structures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fontAlgn="base"/>
            <a:r>
              <a:rPr lang="en-US" dirty="0" smtClean="0"/>
              <a:t>Tree data structures can be classified based on the number of children each node can have.</a:t>
            </a:r>
            <a:endParaRPr lang="en-US" dirty="0" smtClean="0"/>
          </a:p>
          <a:p>
            <a:pPr fontAlgn="base"/>
            <a:r>
              <a:rPr lang="en-US" b="1" dirty="0" smtClean="0"/>
              <a:t>Binary Tree:</a:t>
            </a:r>
            <a:endParaRPr lang="en-US" b="1" dirty="0" smtClean="0"/>
          </a:p>
          <a:p>
            <a:pPr fontAlgn="base"/>
            <a:r>
              <a:rPr lang="en-US" dirty="0" smtClean="0"/>
              <a:t>Each node can have a maximum of two children.</a:t>
            </a:r>
            <a:endParaRPr lang="en-US" dirty="0" smtClean="0"/>
          </a:p>
          <a:p>
            <a:pPr fontAlgn="base"/>
            <a:r>
              <a:rPr lang="en-US" b="1" dirty="0" smtClean="0"/>
              <a:t>Full Binary Tree</a:t>
            </a:r>
            <a:r>
              <a:rPr lang="en-US" dirty="0" smtClean="0"/>
              <a:t> – every node has either 0 or 2 children.</a:t>
            </a:r>
            <a:endParaRPr lang="en-US" dirty="0" smtClean="0"/>
          </a:p>
          <a:p>
            <a:pPr fontAlgn="base"/>
            <a:r>
              <a:rPr lang="en-US" b="1" dirty="0" smtClean="0"/>
              <a:t>Complete Binary Tree</a:t>
            </a:r>
            <a:r>
              <a:rPr lang="en-US" dirty="0" smtClean="0"/>
              <a:t> – all levels are fully filled except possibly the last, which is filled from left to right.</a:t>
            </a:r>
            <a:endParaRPr lang="en-US" dirty="0" smtClean="0"/>
          </a:p>
          <a:p>
            <a:pPr fontAlgn="base"/>
            <a:r>
              <a:rPr lang="en-US" b="1" dirty="0" smtClean="0"/>
              <a:t>Balanced Binary Tree </a:t>
            </a:r>
            <a:r>
              <a:rPr lang="en-US" dirty="0" smtClean="0"/>
              <a:t>– height difference between left and right </a:t>
            </a:r>
            <a:r>
              <a:rPr lang="en-US" dirty="0" err="1" smtClean="0"/>
              <a:t>subtrees</a:t>
            </a:r>
            <a:r>
              <a:rPr lang="en-US" dirty="0" smtClean="0"/>
              <a:t> of every node is minimal.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dirty="0" smtClean="0"/>
              <a:t>Ternary Tree:</a:t>
            </a:r>
            <a:endParaRPr lang="en-US" b="1" dirty="0" smtClean="0"/>
          </a:p>
          <a:p>
            <a:pPr fontAlgn="base">
              <a:buNone/>
            </a:pPr>
            <a:r>
              <a:rPr lang="en-US" dirty="0" smtClean="0"/>
              <a:t>   Each node can have at most three children, often labeled as left, middle, and right.</a:t>
            </a:r>
            <a:endParaRPr lang="en-US" dirty="0" smtClean="0"/>
          </a:p>
          <a:p>
            <a:pPr fontAlgn="base">
              <a:buNone/>
            </a:pPr>
            <a:endParaRPr lang="en-US" dirty="0" smtClean="0"/>
          </a:p>
          <a:p>
            <a:pPr fontAlgn="base"/>
            <a:r>
              <a:rPr lang="en-US" b="1" dirty="0" smtClean="0"/>
              <a:t>N-</a:t>
            </a:r>
            <a:r>
              <a:rPr lang="en-US" b="1" dirty="0" err="1" smtClean="0"/>
              <a:t>ary</a:t>
            </a:r>
            <a:r>
              <a:rPr lang="en-US" b="1" dirty="0" smtClean="0"/>
              <a:t> Tree (or Generic Tree):</a:t>
            </a:r>
            <a:endParaRPr lang="en-US" b="1" dirty="0" smtClean="0"/>
          </a:p>
          <a:p>
            <a:pPr fontAlgn="base">
              <a:buNone/>
            </a:pPr>
            <a:r>
              <a:rPr lang="en-US" dirty="0" smtClean="0"/>
              <a:t>	Each node can have any number of children.</a:t>
            </a:r>
            <a:endParaRPr lang="en-US" dirty="0" smtClean="0"/>
          </a:p>
          <a:p>
            <a:pPr fontAlgn="base">
              <a:buNone/>
            </a:pPr>
            <a:r>
              <a:rPr lang="en-US" dirty="0" smtClean="0"/>
              <a:t>	Each node typically contains: Some data , A list of references to its children (duplicates are not allowed).</a:t>
            </a:r>
            <a:endParaRPr lang="en-US" dirty="0" smtClean="0"/>
          </a:p>
          <a:p>
            <a:pPr fontAlgn="base">
              <a:buNone/>
            </a:pPr>
            <a:r>
              <a:rPr lang="en-US" dirty="0" smtClean="0"/>
              <a:t>	Unlike linked lists, nodes store references to multiple child nodes.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Basic Operations Of Tree Data Structure: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smtClean="0"/>
              <a:t>Create</a:t>
            </a:r>
            <a:r>
              <a:rPr lang="en-US" dirty="0" smtClean="0"/>
              <a:t> – create a tree in the data structure.</a:t>
            </a:r>
            <a:endParaRPr lang="en-US" dirty="0" smtClean="0"/>
          </a:p>
          <a:p>
            <a:pPr fontAlgn="base"/>
            <a:r>
              <a:rPr lang="en-US" b="1" dirty="0" smtClean="0"/>
              <a:t>Insert</a:t>
            </a:r>
            <a:r>
              <a:rPr lang="en-US" dirty="0" smtClean="0"/>
              <a:t> − Inserts data in a tree.</a:t>
            </a:r>
            <a:endParaRPr lang="en-US" dirty="0" smtClean="0"/>
          </a:p>
          <a:p>
            <a:pPr fontAlgn="base"/>
            <a:r>
              <a:rPr lang="en-US" b="1" dirty="0" smtClean="0"/>
              <a:t>Search</a:t>
            </a:r>
            <a:r>
              <a:rPr lang="en-US" dirty="0" smtClean="0"/>
              <a:t> − Searches specific data in a tree to check whether it is present or not.</a:t>
            </a: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3962400"/>
          <a:ext cx="8153400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76700"/>
                <a:gridCol w="4076700"/>
              </a:tblGrid>
              <a:tr h="2590800">
                <a:tc>
                  <a:txBody>
                    <a:bodyPr/>
                    <a:lstStyle/>
                    <a:p>
                      <a:pPr fontAlgn="base"/>
                      <a:r>
                        <a:rPr lang="en-US" sz="3600" dirty="0" smtClean="0"/>
                        <a:t>Traversal:</a:t>
                      </a:r>
                      <a:endParaRPr lang="en-US" sz="3600" dirty="0" smtClean="0"/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3600" dirty="0" smtClean="0"/>
                        <a:t>Preorder</a:t>
                      </a:r>
                      <a:endParaRPr lang="en-US" sz="3600" dirty="0" smtClean="0"/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3600" dirty="0" err="1" smtClean="0"/>
                        <a:t>Inorder</a:t>
                      </a:r>
                      <a:endParaRPr lang="en-US" sz="3600" dirty="0" smtClean="0"/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3600" dirty="0" err="1" smtClean="0"/>
                        <a:t>Postorder</a:t>
                      </a:r>
                      <a:endParaRPr lang="en-US" sz="360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 smtClean="0"/>
                        <a:t>        A</a:t>
                      </a:r>
                      <a:endParaRPr lang="pt-BR" sz="3200" dirty="0" smtClean="0"/>
                    </a:p>
                    <a:p>
                      <a:r>
                        <a:rPr lang="pt-BR" sz="3200" dirty="0" smtClean="0"/>
                        <a:t>      /   \</a:t>
                      </a:r>
                      <a:endParaRPr lang="pt-BR" sz="3200" dirty="0" smtClean="0"/>
                    </a:p>
                    <a:p>
                      <a:r>
                        <a:rPr lang="pt-BR" sz="3200" dirty="0" smtClean="0"/>
                        <a:t>     B     C</a:t>
                      </a:r>
                      <a:endParaRPr lang="pt-BR" sz="3200" dirty="0" smtClean="0"/>
                    </a:p>
                    <a:p>
                      <a:r>
                        <a:rPr lang="pt-BR" sz="3200" dirty="0" smtClean="0"/>
                        <a:t>    /  \</a:t>
                      </a:r>
                      <a:endParaRPr lang="pt-BR" sz="3200" dirty="0" smtClean="0"/>
                    </a:p>
                    <a:p>
                      <a:r>
                        <a:rPr lang="pt-BR" sz="3200" dirty="0" smtClean="0"/>
                        <a:t>   D   E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Binary Search Tree (BST)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 Binary Search Tree follows:</a:t>
            </a:r>
            <a:endParaRPr lang="en-US" dirty="0" smtClean="0"/>
          </a:p>
          <a:p>
            <a:r>
              <a:rPr lang="en-US" dirty="0" smtClean="0"/>
              <a:t>Left </a:t>
            </a:r>
            <a:r>
              <a:rPr lang="en-US" dirty="0" err="1" smtClean="0"/>
              <a:t>subtree</a:t>
            </a:r>
            <a:r>
              <a:rPr lang="en-US" dirty="0" smtClean="0"/>
              <a:t> &lt; Root </a:t>
            </a:r>
            <a:endParaRPr lang="en-US" dirty="0" smtClean="0"/>
          </a:p>
          <a:p>
            <a:r>
              <a:rPr lang="en-US" dirty="0" smtClean="0"/>
              <a:t>Right </a:t>
            </a:r>
            <a:r>
              <a:rPr lang="en-US" dirty="0" err="1" smtClean="0"/>
              <a:t>subtree</a:t>
            </a:r>
            <a:r>
              <a:rPr lang="en-US" dirty="0" smtClean="0"/>
              <a:t> &gt; Root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Graph</a:t>
            </a:r>
            <a:r>
              <a:rPr lang="en-US" dirty="0" smtClean="0"/>
              <a:t> is a </a:t>
            </a:r>
            <a:r>
              <a:rPr lang="en-US" b="1" dirty="0" smtClean="0"/>
              <a:t>non-linear data structure</a:t>
            </a:r>
            <a:r>
              <a:rPr lang="en-US" dirty="0" smtClean="0"/>
              <a:t> consisting of a set of </a:t>
            </a:r>
            <a:r>
              <a:rPr lang="en-US" b="1" dirty="0" smtClean="0"/>
              <a:t>vertices (nodes)</a:t>
            </a:r>
            <a:r>
              <a:rPr lang="en-US" dirty="0" smtClean="0"/>
              <a:t> and </a:t>
            </a:r>
            <a:r>
              <a:rPr lang="en-US" b="1" dirty="0" smtClean="0"/>
              <a:t>edges</a:t>
            </a:r>
            <a:r>
              <a:rPr lang="en-US" dirty="0" smtClean="0"/>
              <a:t> that connect pairs of vertices.</a:t>
            </a:r>
            <a:endParaRPr lang="en-US" dirty="0" smtClean="0"/>
          </a:p>
          <a:p>
            <a:r>
              <a:rPr lang="en-US" dirty="0" smtClean="0"/>
              <a:t>A graph is represented as:    G=(V,E)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where: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V</a:t>
            </a:r>
            <a:r>
              <a:rPr lang="en-US" dirty="0" smtClean="0"/>
              <a:t> = Set of Vertices (Nodes) 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E</a:t>
            </a:r>
            <a:r>
              <a:rPr lang="en-US" dirty="0" smtClean="0"/>
              <a:t> = Set of Edges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Fundamental Terminology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Adjacent Vertices:</a:t>
            </a:r>
            <a:r>
              <a:rPr lang="en-US" dirty="0" smtClean="0"/>
              <a:t> Two vertices connected directly by an edge.</a:t>
            </a:r>
            <a:endParaRPr lang="en-US" dirty="0" smtClean="0"/>
          </a:p>
          <a:p>
            <a:r>
              <a:rPr lang="en-US" b="1" dirty="0" smtClean="0"/>
              <a:t>Degree of a Vertex:</a:t>
            </a:r>
            <a:r>
              <a:rPr lang="en-US" dirty="0" smtClean="0"/>
              <a:t> Total number of edges connected to a vertex.</a:t>
            </a:r>
            <a:endParaRPr lang="en-US" dirty="0" smtClean="0"/>
          </a:p>
          <a:p>
            <a:pPr lvl="1"/>
            <a:r>
              <a:rPr lang="en-US" b="1" dirty="0" smtClean="0"/>
              <a:t>In-degree (Directed Graphs):</a:t>
            </a:r>
            <a:r>
              <a:rPr lang="en-US" dirty="0" smtClean="0"/>
              <a:t> Number of incoming edges.</a:t>
            </a:r>
            <a:endParaRPr lang="en-US" dirty="0" smtClean="0"/>
          </a:p>
          <a:p>
            <a:pPr lvl="1"/>
            <a:r>
              <a:rPr lang="en-US" b="1" dirty="0" smtClean="0"/>
              <a:t>Out-degree (Directed Graphs):</a:t>
            </a:r>
            <a:r>
              <a:rPr lang="en-US" dirty="0" smtClean="0"/>
              <a:t> Number of outgoing edges.</a:t>
            </a:r>
            <a:endParaRPr lang="en-US" dirty="0" smtClean="0"/>
          </a:p>
          <a:p>
            <a:r>
              <a:rPr lang="en-US" b="1" dirty="0" smtClean="0"/>
              <a:t>Path:</a:t>
            </a:r>
            <a:r>
              <a:rPr lang="en-US" dirty="0" smtClean="0"/>
              <a:t> A sequence of vertices where each adjacent pair is connected by an edge.</a:t>
            </a:r>
            <a:endParaRPr lang="en-US" dirty="0" smtClean="0"/>
          </a:p>
          <a:p>
            <a:r>
              <a:rPr lang="en-US" b="1" dirty="0" smtClean="0"/>
              <a:t>Cycle:</a:t>
            </a:r>
            <a:r>
              <a:rPr lang="en-US" dirty="0" smtClean="0"/>
              <a:t> A path that starts and ends at the same vertex with no repeated edges.</a:t>
            </a:r>
            <a:endParaRPr lang="en-US" dirty="0" smtClean="0"/>
          </a:p>
          <a:p>
            <a:r>
              <a:rPr lang="en-US" b="1" dirty="0" smtClean="0"/>
              <a:t>Self-Loop:</a:t>
            </a:r>
            <a:r>
              <a:rPr lang="en-US" dirty="0" smtClean="0"/>
              <a:t> An edge that connects a vertex to itself.</a:t>
            </a:r>
            <a:endParaRPr lang="en-US" dirty="0" smtClean="0"/>
          </a:p>
          <a:p>
            <a:r>
              <a:rPr lang="en-US" b="1" dirty="0" smtClean="0"/>
              <a:t>Parallel Edges:</a:t>
            </a:r>
            <a:r>
              <a:rPr lang="en-US" dirty="0" smtClean="0"/>
              <a:t> Two or more edges connecting the same pair of vertices.</a:t>
            </a:r>
            <a:endParaRPr lang="en-US" dirty="0" smtClean="0"/>
          </a:p>
          <a:p>
            <a:r>
              <a:rPr lang="en-US" b="1" dirty="0" smtClean="0"/>
              <a:t>Simple Graph:</a:t>
            </a:r>
            <a:r>
              <a:rPr lang="en-US" dirty="0" smtClean="0"/>
              <a:t> A graph with no self-loops or parallel edges.</a:t>
            </a:r>
            <a:endParaRPr lang="en-US" dirty="0" smtClean="0"/>
          </a:p>
          <a:p>
            <a:r>
              <a:rPr lang="en-US" b="1" dirty="0" smtClean="0"/>
              <a:t>Connected Graph (Undirected):</a:t>
            </a:r>
            <a:r>
              <a:rPr lang="en-US" dirty="0" smtClean="0"/>
              <a:t> A graph where a path exists between every pair of vertices.</a:t>
            </a:r>
            <a:endParaRPr lang="en-US" dirty="0" smtClean="0"/>
          </a:p>
          <a:p>
            <a:r>
              <a:rPr lang="en-US" b="1" dirty="0" smtClean="0"/>
              <a:t>Strongly Connected (Directed):</a:t>
            </a:r>
            <a:r>
              <a:rPr lang="en-US" dirty="0" smtClean="0"/>
              <a:t> Every vertex is reachable from every other vertex.</a:t>
            </a:r>
            <a:endParaRPr lang="en-US" dirty="0" smtClean="0"/>
          </a:p>
          <a:p>
            <a:r>
              <a:rPr lang="en-US" b="1" dirty="0" smtClean="0"/>
              <a:t>Weakly Connected (Directed):</a:t>
            </a:r>
            <a:r>
              <a:rPr lang="en-US" dirty="0" smtClean="0"/>
              <a:t> Connected when direction of edges is ignored.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Graph Classification</a:t>
            </a:r>
            <a:br>
              <a:rPr lang="en-US" b="1" dirty="0" smtClean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810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Graph Type</a:t>
                      </a:r>
                      <a:endParaRPr lang="en-US" dirty="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/>
                        <a:t>Description</a:t>
                      </a:r>
                      <a:endParaRPr lang="en-US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/>
                        <a:t>Undirected</a:t>
                      </a:r>
                      <a:endParaRPr lang="en-US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Edges have no direction; </a:t>
                      </a:r>
                      <a:r>
                        <a:rPr lang="en-US" dirty="0" smtClean="0"/>
                        <a:t>(</a:t>
                      </a:r>
                      <a:r>
                        <a:rPr lang="en-US" dirty="0"/>
                        <a:t>u, v) = (v, u</a:t>
                      </a:r>
                      <a:r>
                        <a:rPr lang="en-US" dirty="0" smtClean="0"/>
                        <a:t>).</a:t>
                      </a:r>
                      <a:endParaRPr lang="en-US" dirty="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/>
                        <a:t>Directed (Digraph)</a:t>
                      </a:r>
                      <a:endParaRPr lang="en-US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Edges have direction; </a:t>
                      </a:r>
                      <a:r>
                        <a:rPr lang="en-US" dirty="0" smtClean="0"/>
                        <a:t>(</a:t>
                      </a:r>
                      <a:r>
                        <a:rPr lang="en-US" dirty="0"/>
                        <a:t>u, v) </a:t>
                      </a:r>
                      <a:r>
                        <a:rPr lang="en-US" dirty="0" smtClean="0"/>
                        <a:t>!= </a:t>
                      </a:r>
                      <a:r>
                        <a:rPr lang="en-US" dirty="0"/>
                        <a:t>(v, u</a:t>
                      </a:r>
                      <a:r>
                        <a:rPr lang="en-US" dirty="0" smtClean="0"/>
                        <a:t>)</a:t>
                      </a:r>
                      <a:endParaRPr lang="en-US" dirty="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Weighted</a:t>
                      </a:r>
                      <a:endParaRPr lang="en-US" dirty="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/>
                        <a:t>Edges carry numerical values (weights/costs/distances).</a:t>
                      </a:r>
                      <a:endParaRPr lang="en-US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/>
                        <a:t>Unweighted</a:t>
                      </a:r>
                      <a:endParaRPr lang="en-US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All edges have equal weight (usually considered </a:t>
                      </a:r>
                      <a:r>
                        <a:rPr lang="en-US" dirty="0" smtClean="0"/>
                        <a:t>1).</a:t>
                      </a:r>
                      <a:endParaRPr lang="en-US" dirty="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/>
                        <a:t>Cyclic / Acyclic</a:t>
                      </a:r>
                      <a:endParaRPr lang="en-US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/>
                        <a:t>Contains cycles / contains no cycles.</a:t>
                      </a:r>
                      <a:endParaRPr lang="fr-FR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/>
                        <a:t>DAG (Directed Acyclic Graph)</a:t>
                      </a:r>
                      <a:endParaRPr lang="en-US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Directed graph with no directed cycles (used in scheduling/dependencies).</a:t>
                      </a:r>
                      <a:endParaRPr lang="en-US" dirty="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 Storage Representations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two most common ways to represent a graph in computer memory are </a:t>
            </a:r>
            <a:r>
              <a:rPr lang="en-US" b="1" dirty="0" smtClean="0"/>
              <a:t>Adjacency Matrix</a:t>
            </a:r>
            <a:r>
              <a:rPr lang="en-US" dirty="0" smtClean="0"/>
              <a:t> and </a:t>
            </a:r>
            <a:r>
              <a:rPr lang="en-US" b="1" dirty="0" smtClean="0"/>
              <a:t>Adjacency List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b="1" dirty="0" smtClean="0"/>
              <a:t>A. Adjacency Matrix</a:t>
            </a:r>
            <a:endParaRPr lang="en-US" b="1" dirty="0" smtClean="0"/>
          </a:p>
          <a:p>
            <a:r>
              <a:rPr lang="en-US" dirty="0" smtClean="0"/>
              <a:t>A 2D array A of size V * V, where A[</a:t>
            </a:r>
            <a:r>
              <a:rPr lang="en-US" dirty="0" err="1" smtClean="0"/>
              <a:t>i</a:t>
            </a:r>
            <a:r>
              <a:rPr lang="en-US" dirty="0" smtClean="0"/>
              <a:t>][j] = 1 (or edge weight) if an edge exists from vertex </a:t>
            </a:r>
            <a:r>
              <a:rPr lang="en-US" dirty="0" err="1" smtClean="0"/>
              <a:t>i</a:t>
            </a:r>
            <a:r>
              <a:rPr lang="en-US" dirty="0" smtClean="0"/>
              <a:t> to vertex j, and 0 otherwise.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Adjacency Matrix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000" y="1219200"/>
            <a:ext cx="5562600" cy="3418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4876800"/>
            <a:ext cx="405765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Adjacency List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763000" cy="11430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An array or dynamic list of size V, where each index </a:t>
            </a:r>
            <a:r>
              <a:rPr lang="en-US" dirty="0" err="1" smtClean="0"/>
              <a:t>i</a:t>
            </a:r>
            <a:r>
              <a:rPr lang="en-US" dirty="0" smtClean="0"/>
              <a:t> stores a linked list/vector of adjacent vertices.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3400" y="2066925"/>
            <a:ext cx="5248275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857750"/>
            <a:ext cx="5953125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Graph Traversals</a:t>
            </a:r>
            <a:br>
              <a:rPr lang="en-US" dirty="0" smtClean="0"/>
            </a:br>
            <a:r>
              <a:rPr lang="en-US" b="1" dirty="0" smtClean="0"/>
              <a:t>A. Breadth-First Search (BFS)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51037"/>
            <a:ext cx="8229600" cy="4525963"/>
          </a:xfrm>
        </p:spPr>
        <p:txBody>
          <a:bodyPr/>
          <a:lstStyle/>
          <a:p>
            <a:r>
              <a:rPr lang="en-US" b="1" dirty="0" smtClean="0"/>
              <a:t>Strategy:</a:t>
            </a:r>
            <a:r>
              <a:rPr lang="en-US" dirty="0" smtClean="0"/>
              <a:t> Explores vertices level-by-level starting from a source node using a </a:t>
            </a:r>
            <a:r>
              <a:rPr lang="en-US" b="1" dirty="0" smtClean="0"/>
              <a:t>Queue (FIFO)</a:t>
            </a:r>
            <a:r>
              <a:rPr lang="en-US" dirty="0" smtClean="0"/>
              <a:t> data structure.</a:t>
            </a:r>
            <a:endParaRPr lang="en-US" dirty="0" smtClean="0"/>
          </a:p>
          <a:p>
            <a:r>
              <a:rPr lang="en-US" b="1" dirty="0" smtClean="0"/>
              <a:t>Use Cases:</a:t>
            </a:r>
            <a:r>
              <a:rPr lang="en-US" dirty="0" smtClean="0"/>
              <a:t> Shortest path in </a:t>
            </a:r>
            <a:r>
              <a:rPr lang="en-US" dirty="0" err="1" smtClean="0"/>
              <a:t>unweighted</a:t>
            </a:r>
            <a:r>
              <a:rPr lang="en-US" dirty="0" smtClean="0"/>
              <a:t> graphs, finding connected components.</a:t>
            </a:r>
            <a:endParaRPr lang="en-US" dirty="0" smtClean="0"/>
          </a:p>
          <a:p>
            <a:r>
              <a:rPr lang="en-US" b="1" dirty="0" smtClean="0"/>
              <a:t>Time Complexity:</a:t>
            </a:r>
            <a:r>
              <a:rPr lang="en-US" dirty="0" smtClean="0"/>
              <a:t> O(V + E)</a:t>
            </a:r>
            <a:endParaRPr lang="en-US" dirty="0" smtClean="0"/>
          </a:p>
          <a:p>
            <a:r>
              <a:rPr lang="en-US" b="1" dirty="0" smtClean="0"/>
              <a:t>Space Complexity:</a:t>
            </a:r>
            <a:r>
              <a:rPr lang="en-US" dirty="0" smtClean="0"/>
              <a:t> O(V)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B. Depth-First Search (DFS)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Strategy:</a:t>
            </a:r>
            <a:r>
              <a:rPr lang="en-US" dirty="0" smtClean="0"/>
              <a:t> Explores as deep as possible along each branch before backtracking, using a </a:t>
            </a:r>
            <a:r>
              <a:rPr lang="en-US" b="1" dirty="0" smtClean="0"/>
              <a:t>Stack (LIFO)</a:t>
            </a:r>
            <a:r>
              <a:rPr lang="en-US" dirty="0" smtClean="0"/>
              <a:t> or recursion.</a:t>
            </a:r>
            <a:endParaRPr lang="en-US" dirty="0" smtClean="0"/>
          </a:p>
          <a:p>
            <a:r>
              <a:rPr lang="en-US" b="1" dirty="0" smtClean="0"/>
              <a:t>Use Cases:</a:t>
            </a:r>
            <a:r>
              <a:rPr lang="en-US" dirty="0" smtClean="0"/>
              <a:t> Cycle detection, topological sorting, solving mazes.</a:t>
            </a:r>
            <a:endParaRPr lang="en-US" dirty="0" smtClean="0"/>
          </a:p>
          <a:p>
            <a:r>
              <a:rPr lang="en-US" b="1" dirty="0" smtClean="0"/>
              <a:t>Time Complexity:</a:t>
            </a:r>
            <a:r>
              <a:rPr lang="en-US" dirty="0" smtClean="0"/>
              <a:t> O(V + E)</a:t>
            </a:r>
            <a:endParaRPr lang="en-US" dirty="0" smtClean="0"/>
          </a:p>
          <a:p>
            <a:r>
              <a:rPr lang="en-US" b="1" dirty="0" smtClean="0"/>
              <a:t>Space Complexity:</a:t>
            </a:r>
            <a:r>
              <a:rPr lang="en-US" dirty="0" smtClean="0"/>
              <a:t> O(V)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57200" y="762000"/>
            <a:ext cx="8229600" cy="5275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4346</Words>
  <Application>WPS Presentation</Application>
  <PresentationFormat>On-screen Show (4:3)</PresentationFormat>
  <Paragraphs>143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Google Sans Text</vt:lpstr>
      <vt:lpstr>Calibri</vt:lpstr>
      <vt:lpstr>DejaVu Sans</vt:lpstr>
      <vt:lpstr>微软雅黑</vt:lpstr>
      <vt:lpstr>Droid Sans Fallback</vt:lpstr>
      <vt:lpstr>Arial Unicode MS</vt:lpstr>
      <vt:lpstr>AR PL KaitiM Big5</vt:lpstr>
      <vt:lpstr>URW Bookman</vt:lpstr>
      <vt:lpstr>Office Theme</vt:lpstr>
      <vt:lpstr>Tree </vt:lpstr>
      <vt:lpstr>Importance of Tree Data Structure: </vt:lpstr>
      <vt:lpstr>Types of Tree Data Structures </vt:lpstr>
      <vt:lpstr>PowerPoint 演示文稿</vt:lpstr>
      <vt:lpstr>Basic Operations Of Tree Data Structure: </vt:lpstr>
      <vt:lpstr>Binary Search Tree (BST) </vt:lpstr>
      <vt:lpstr>Graphs</vt:lpstr>
      <vt:lpstr>Fundamental Terminology </vt:lpstr>
      <vt:lpstr>Graph Classification </vt:lpstr>
      <vt:lpstr>Graph Storage Representations</vt:lpstr>
      <vt:lpstr>Adjacency Matrix </vt:lpstr>
      <vt:lpstr>Adjacency List </vt:lpstr>
      <vt:lpstr>Graph Traversals A. Breadth-First Search (BFS) </vt:lpstr>
      <vt:lpstr>B. Depth-First Search (DFS)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 </dc:title>
  <dc:creator>The DataTech Labs</dc:creator>
  <cp:lastModifiedBy>bhavesh</cp:lastModifiedBy>
  <cp:revision>23</cp:revision>
  <dcterms:created xsi:type="dcterms:W3CDTF">2026-09-08T03:10:28Z</dcterms:created>
  <dcterms:modified xsi:type="dcterms:W3CDTF">2026-09-08T03:10:28Z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