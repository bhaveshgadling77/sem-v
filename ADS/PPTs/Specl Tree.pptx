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69" r:id="rId5"/>
    <p:sldId id="258" r:id="rId6"/>
    <p:sldId id="259" r:id="rId7"/>
    <p:sldId id="260" r:id="rId8"/>
    <p:sldId id="262" r:id="rId9"/>
    <p:sldId id="261" r:id="rId10"/>
    <p:sldId id="263" r:id="rId11"/>
    <p:sldId id="264" r:id="rId12"/>
    <p:sldId id="265"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708"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159289A-40E8-449E-A33B-812DC283330B}"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1D03B5-021B-42A0-8C9C-7110F2DC2D7F}" type="slidenum">
              <a:rPr lang="en-US" smtClean="0"/>
              <a:t>‹#›</a:t>
            </a:fld>
            <a:endParaRPr lang="en-US"/>
          </a:p>
        </p:txBody>
      </p:sp>
    </p:spTree>
    <p:extLst>
      <p:ext uri="{BB962C8B-B14F-4D97-AF65-F5344CB8AC3E}">
        <p14:creationId xmlns:p14="http://schemas.microsoft.com/office/powerpoint/2010/main" val="120091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159289A-40E8-449E-A33B-812DC283330B}"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1D03B5-021B-42A0-8C9C-7110F2DC2D7F}" type="slidenum">
              <a:rPr lang="en-US" smtClean="0"/>
              <a:t>‹#›</a:t>
            </a:fld>
            <a:endParaRPr lang="en-US"/>
          </a:p>
        </p:txBody>
      </p:sp>
    </p:spTree>
    <p:extLst>
      <p:ext uri="{BB962C8B-B14F-4D97-AF65-F5344CB8AC3E}">
        <p14:creationId xmlns:p14="http://schemas.microsoft.com/office/powerpoint/2010/main" val="1937353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159289A-40E8-449E-A33B-812DC283330B}"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1D03B5-021B-42A0-8C9C-7110F2DC2D7F}" type="slidenum">
              <a:rPr lang="en-US" smtClean="0"/>
              <a:t>‹#›</a:t>
            </a:fld>
            <a:endParaRPr lang="en-US"/>
          </a:p>
        </p:txBody>
      </p:sp>
    </p:spTree>
    <p:extLst>
      <p:ext uri="{BB962C8B-B14F-4D97-AF65-F5344CB8AC3E}">
        <p14:creationId xmlns:p14="http://schemas.microsoft.com/office/powerpoint/2010/main" val="1181938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159289A-40E8-449E-A33B-812DC283330B}"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1D03B5-021B-42A0-8C9C-7110F2DC2D7F}" type="slidenum">
              <a:rPr lang="en-US" smtClean="0"/>
              <a:t>‹#›</a:t>
            </a:fld>
            <a:endParaRPr lang="en-US"/>
          </a:p>
        </p:txBody>
      </p:sp>
    </p:spTree>
    <p:extLst>
      <p:ext uri="{BB962C8B-B14F-4D97-AF65-F5344CB8AC3E}">
        <p14:creationId xmlns:p14="http://schemas.microsoft.com/office/powerpoint/2010/main" val="270881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159289A-40E8-449E-A33B-812DC283330B}" type="datetimeFigureOut">
              <a:rPr lang="en-US" smtClean="0"/>
              <a:t>8/27/2026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41D03B5-021B-42A0-8C9C-7110F2DC2D7F}" type="slidenum">
              <a:rPr lang="en-US" smtClean="0"/>
              <a:t>‹#›</a:t>
            </a:fld>
            <a:endParaRPr lang="en-US"/>
          </a:p>
        </p:txBody>
      </p:sp>
    </p:spTree>
    <p:extLst>
      <p:ext uri="{BB962C8B-B14F-4D97-AF65-F5344CB8AC3E}">
        <p14:creationId xmlns:p14="http://schemas.microsoft.com/office/powerpoint/2010/main" val="1442839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159289A-40E8-449E-A33B-812DC283330B}" type="datetimeFigureOut">
              <a:rPr lang="en-US" smtClean="0"/>
              <a:t>8/27/2026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41D03B5-021B-42A0-8C9C-7110F2DC2D7F}" type="slidenum">
              <a:rPr lang="en-US" smtClean="0"/>
              <a:t>‹#›</a:t>
            </a:fld>
            <a:endParaRPr lang="en-US"/>
          </a:p>
        </p:txBody>
      </p:sp>
    </p:spTree>
    <p:extLst>
      <p:ext uri="{BB962C8B-B14F-4D97-AF65-F5344CB8AC3E}">
        <p14:creationId xmlns:p14="http://schemas.microsoft.com/office/powerpoint/2010/main" val="2679254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59289A-40E8-449E-A33B-812DC283330B}" type="datetimeFigureOut">
              <a:rPr lang="en-US" smtClean="0"/>
              <a:t>8/27/2026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41D03B5-021B-42A0-8C9C-7110F2DC2D7F}" type="slidenum">
              <a:rPr lang="en-US" smtClean="0"/>
              <a:t>‹#›</a:t>
            </a:fld>
            <a:endParaRPr lang="en-US"/>
          </a:p>
        </p:txBody>
      </p:sp>
    </p:spTree>
    <p:extLst>
      <p:ext uri="{BB962C8B-B14F-4D97-AF65-F5344CB8AC3E}">
        <p14:creationId xmlns:p14="http://schemas.microsoft.com/office/powerpoint/2010/main" val="513448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159289A-40E8-449E-A33B-812DC283330B}"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1D03B5-021B-42A0-8C9C-7110F2DC2D7F}" type="slidenum">
              <a:rPr lang="en-US" smtClean="0"/>
              <a:t>‹#›</a:t>
            </a:fld>
            <a:endParaRPr lang="en-US"/>
          </a:p>
        </p:txBody>
      </p:sp>
    </p:spTree>
    <p:extLst>
      <p:ext uri="{BB962C8B-B14F-4D97-AF65-F5344CB8AC3E}">
        <p14:creationId xmlns:p14="http://schemas.microsoft.com/office/powerpoint/2010/main" val="2458622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159289A-40E8-449E-A33B-812DC283330B}"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1D03B5-021B-42A0-8C9C-7110F2DC2D7F}" type="slidenum">
              <a:rPr lang="en-US" smtClean="0"/>
              <a:t>‹#›</a:t>
            </a:fld>
            <a:endParaRPr lang="en-US"/>
          </a:p>
        </p:txBody>
      </p:sp>
    </p:spTree>
    <p:extLst>
      <p:ext uri="{BB962C8B-B14F-4D97-AF65-F5344CB8AC3E}">
        <p14:creationId xmlns:p14="http://schemas.microsoft.com/office/powerpoint/2010/main" val="519910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159289A-40E8-449E-A33B-812DC283330B}"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1D03B5-021B-42A0-8C9C-7110F2DC2D7F}" type="slidenum">
              <a:rPr lang="en-US" smtClean="0"/>
              <a:t>‹#›</a:t>
            </a:fld>
            <a:endParaRPr lang="en-US"/>
          </a:p>
        </p:txBody>
      </p:sp>
    </p:spTree>
    <p:extLst>
      <p:ext uri="{BB962C8B-B14F-4D97-AF65-F5344CB8AC3E}">
        <p14:creationId xmlns:p14="http://schemas.microsoft.com/office/powerpoint/2010/main" val="255797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159289A-40E8-449E-A33B-812DC283330B}"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1D03B5-021B-42A0-8C9C-7110F2DC2D7F}" type="slidenum">
              <a:rPr lang="en-US" smtClean="0"/>
              <a:t>‹#›</a:t>
            </a:fld>
            <a:endParaRPr lang="en-US"/>
          </a:p>
        </p:txBody>
      </p:sp>
    </p:spTree>
    <p:extLst>
      <p:ext uri="{BB962C8B-B14F-4D97-AF65-F5344CB8AC3E}">
        <p14:creationId xmlns:p14="http://schemas.microsoft.com/office/powerpoint/2010/main" val="3866228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59289A-40E8-449E-A33B-812DC283330B}" type="datetimeFigureOut">
              <a:rPr lang="en-US" smtClean="0"/>
              <a:t>8/27/2026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1D03B5-021B-42A0-8C9C-7110F2DC2D7F}" type="slidenum">
              <a:rPr lang="en-US" smtClean="0"/>
              <a:t>‹#›</a:t>
            </a:fld>
            <a:endParaRPr lang="en-US"/>
          </a:p>
        </p:txBody>
      </p:sp>
    </p:spTree>
    <p:extLst>
      <p:ext uri="{BB962C8B-B14F-4D97-AF65-F5344CB8AC3E}">
        <p14:creationId xmlns:p14="http://schemas.microsoft.com/office/powerpoint/2010/main" val="22689956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Specialized </a:t>
            </a:r>
            <a:r>
              <a:rPr lang="en-US" dirty="0"/>
              <a:t>S</a:t>
            </a:r>
            <a:r>
              <a:rPr lang="en-US" dirty="0" smtClean="0"/>
              <a:t>earch </a:t>
            </a:r>
            <a:r>
              <a:rPr lang="en-US" dirty="0"/>
              <a:t>T</a:t>
            </a:r>
            <a:r>
              <a:rPr lang="en-US" dirty="0" smtClean="0"/>
              <a:t>rees</a:t>
            </a: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9959236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IN" dirty="0"/>
              <a:t>Specialized search trees are </a:t>
            </a:r>
            <a:r>
              <a:rPr lang="en-IN" dirty="0" smtClean="0"/>
              <a:t>advanced tree-based data structures optimized for specific types of data, storage systems, or query operations beyond standard binary search trees (BSTs).</a:t>
            </a:r>
          </a:p>
          <a:p>
            <a:r>
              <a:rPr lang="en-IN" dirty="0"/>
              <a:t>A </a:t>
            </a:r>
            <a:r>
              <a:rPr lang="en-IN" b="1" dirty="0" err="1"/>
              <a:t>treap</a:t>
            </a:r>
            <a:r>
              <a:rPr lang="en-IN" dirty="0" smtClean="0"/>
              <a:t> is a randomized data structure that combines a binary search tree (BST) and a binary heap</a:t>
            </a:r>
            <a:r>
              <a:rPr lang="en-IN" dirty="0" smtClean="0"/>
              <a:t>.</a:t>
            </a:r>
          </a:p>
          <a:p>
            <a:r>
              <a:rPr lang="en-IN" b="1" dirty="0"/>
              <a:t>Skip List</a:t>
            </a:r>
            <a:r>
              <a:rPr lang="en-IN" dirty="0"/>
              <a:t> is an advanced data structure that is used for storing a sorted list of elements.</a:t>
            </a:r>
            <a:endParaRPr lang="en-IN" dirty="0" smtClean="0"/>
          </a:p>
          <a:p>
            <a:endParaRPr lang="en-US" dirty="0"/>
          </a:p>
        </p:txBody>
      </p:sp>
    </p:spTree>
    <p:extLst>
      <p:ext uri="{BB962C8B-B14F-4D97-AF65-F5344CB8AC3E}">
        <p14:creationId xmlns:p14="http://schemas.microsoft.com/office/powerpoint/2010/main" val="34564837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Treap</a:t>
            </a:r>
            <a:r>
              <a:rPr lang="en-US" dirty="0" smtClean="0"/>
              <a:t> Algorithm</a:t>
            </a:r>
            <a:endParaRPr lang="en-US" dirty="0"/>
          </a:p>
        </p:txBody>
      </p:sp>
      <p:sp>
        <p:nvSpPr>
          <p:cNvPr id="3" name="Content Placeholder 2"/>
          <p:cNvSpPr>
            <a:spLocks noGrp="1"/>
          </p:cNvSpPr>
          <p:nvPr>
            <p:ph idx="1"/>
          </p:nvPr>
        </p:nvSpPr>
        <p:spPr/>
        <p:txBody>
          <a:bodyPr/>
          <a:lstStyle/>
          <a:p>
            <a:pPr marL="514350" indent="-514350">
              <a:buAutoNum type="arabicPeriod"/>
            </a:pPr>
            <a:r>
              <a:rPr lang="en-IN" dirty="0" smtClean="0"/>
              <a:t>If </a:t>
            </a:r>
            <a:r>
              <a:rPr lang="en-IN" dirty="0"/>
              <a:t>the root is NULL, create a new node with the key and priority and return the node. </a:t>
            </a:r>
            <a:endParaRPr lang="en-IN" dirty="0" smtClean="0"/>
          </a:p>
          <a:p>
            <a:pPr marL="514350" indent="-514350">
              <a:buAutoNum type="arabicPeriod"/>
            </a:pPr>
            <a:r>
              <a:rPr lang="en-IN" dirty="0" smtClean="0"/>
              <a:t>If </a:t>
            </a:r>
            <a:r>
              <a:rPr lang="en-IN" dirty="0"/>
              <a:t>the key is less than the root, insert in the left </a:t>
            </a:r>
            <a:r>
              <a:rPr lang="en-IN" dirty="0" err="1"/>
              <a:t>subtree</a:t>
            </a:r>
            <a:r>
              <a:rPr lang="en-IN" dirty="0"/>
              <a:t>. </a:t>
            </a:r>
            <a:endParaRPr lang="en-IN" dirty="0" smtClean="0"/>
          </a:p>
          <a:p>
            <a:pPr marL="514350" indent="-514350">
              <a:buAutoNum type="arabicPeriod"/>
            </a:pPr>
            <a:r>
              <a:rPr lang="en-IN" dirty="0" smtClean="0"/>
              <a:t>If </a:t>
            </a:r>
            <a:r>
              <a:rPr lang="en-IN" dirty="0"/>
              <a:t>the key is greater than the root, insert in the right </a:t>
            </a:r>
            <a:r>
              <a:rPr lang="en-IN" dirty="0" err="1"/>
              <a:t>subtree</a:t>
            </a:r>
            <a:r>
              <a:rPr lang="en-IN" dirty="0"/>
              <a:t>. </a:t>
            </a:r>
            <a:endParaRPr lang="en-IN" dirty="0" smtClean="0"/>
          </a:p>
          <a:p>
            <a:pPr marL="514350" indent="-514350">
              <a:buAutoNum type="arabicPeriod"/>
            </a:pPr>
            <a:r>
              <a:rPr lang="en-IN" dirty="0" smtClean="0"/>
              <a:t>If </a:t>
            </a:r>
            <a:r>
              <a:rPr lang="en-IN" dirty="0"/>
              <a:t>the priority of the new node is greater than the priority of the root, rotate the new node with the root. </a:t>
            </a:r>
            <a:endParaRPr lang="en-IN" dirty="0" smtClean="0"/>
          </a:p>
          <a:p>
            <a:pPr marL="514350" indent="-514350">
              <a:buAutoNum type="arabicPeriod"/>
            </a:pPr>
            <a:r>
              <a:rPr lang="en-IN" dirty="0" smtClean="0"/>
              <a:t>Repeat </a:t>
            </a:r>
            <a:r>
              <a:rPr lang="en-IN" dirty="0"/>
              <a:t>the process until the new node is inserted.</a:t>
            </a:r>
            <a:endParaRPr lang="en-US" dirty="0"/>
          </a:p>
        </p:txBody>
      </p:sp>
    </p:spTree>
    <p:extLst>
      <p:ext uri="{BB962C8B-B14F-4D97-AF65-F5344CB8AC3E}">
        <p14:creationId xmlns:p14="http://schemas.microsoft.com/office/powerpoint/2010/main" val="35211570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 for Deleting a Node in </a:t>
            </a:r>
            <a:r>
              <a:rPr lang="en-US" dirty="0" err="1"/>
              <a:t>Treaps</a:t>
            </a:r>
            <a:endParaRPr lang="en-US" dirty="0"/>
          </a:p>
        </p:txBody>
      </p:sp>
      <p:sp>
        <p:nvSpPr>
          <p:cNvPr id="3" name="Content Placeholder 2"/>
          <p:cNvSpPr>
            <a:spLocks noGrp="1"/>
          </p:cNvSpPr>
          <p:nvPr>
            <p:ph idx="1"/>
          </p:nvPr>
        </p:nvSpPr>
        <p:spPr/>
        <p:txBody>
          <a:bodyPr/>
          <a:lstStyle/>
          <a:p>
            <a:pPr marL="514350" indent="-514350">
              <a:buAutoNum type="arabicPeriod"/>
            </a:pPr>
            <a:r>
              <a:rPr lang="en-IN" dirty="0" smtClean="0"/>
              <a:t>Search </a:t>
            </a:r>
            <a:r>
              <a:rPr lang="en-IN" dirty="0"/>
              <a:t>for the key to be deleted. </a:t>
            </a:r>
            <a:endParaRPr lang="en-IN" dirty="0" smtClean="0"/>
          </a:p>
          <a:p>
            <a:pPr marL="514350" indent="-514350">
              <a:buAutoNum type="arabicPeriod"/>
            </a:pPr>
            <a:r>
              <a:rPr lang="en-IN" dirty="0" smtClean="0"/>
              <a:t>If </a:t>
            </a:r>
            <a:r>
              <a:rPr lang="en-IN" dirty="0"/>
              <a:t>the key is not found, return NULL. </a:t>
            </a:r>
            <a:endParaRPr lang="en-IN" dirty="0" smtClean="0"/>
          </a:p>
          <a:p>
            <a:pPr marL="514350" indent="-514350">
              <a:buAutoNum type="arabicPeriod"/>
            </a:pPr>
            <a:r>
              <a:rPr lang="en-IN" dirty="0" smtClean="0"/>
              <a:t>If </a:t>
            </a:r>
            <a:r>
              <a:rPr lang="en-IN" dirty="0"/>
              <a:t>the key is found, delete the node. </a:t>
            </a:r>
            <a:endParaRPr lang="en-IN" dirty="0" smtClean="0"/>
          </a:p>
          <a:p>
            <a:pPr marL="514350" indent="-514350">
              <a:buAutoNum type="arabicPeriod"/>
            </a:pPr>
            <a:r>
              <a:rPr lang="en-IN" dirty="0" smtClean="0"/>
              <a:t>If </a:t>
            </a:r>
            <a:r>
              <a:rPr lang="en-IN" dirty="0"/>
              <a:t>the node has no children, delete the node</a:t>
            </a:r>
            <a:r>
              <a:rPr lang="en-IN" dirty="0" smtClean="0"/>
              <a:t>.</a:t>
            </a:r>
          </a:p>
          <a:p>
            <a:pPr marL="514350" indent="-514350">
              <a:buAutoNum type="arabicPeriod"/>
            </a:pPr>
            <a:r>
              <a:rPr lang="en-IN" dirty="0" smtClean="0"/>
              <a:t>If </a:t>
            </a:r>
            <a:r>
              <a:rPr lang="en-IN" dirty="0"/>
              <a:t>the node has one child, replace the node with the child. </a:t>
            </a:r>
            <a:endParaRPr lang="en-IN" dirty="0" smtClean="0"/>
          </a:p>
          <a:p>
            <a:pPr marL="514350" indent="-514350">
              <a:buAutoNum type="arabicPeriod"/>
            </a:pPr>
            <a:r>
              <a:rPr lang="en-IN" dirty="0" smtClean="0"/>
              <a:t>If </a:t>
            </a:r>
            <a:r>
              <a:rPr lang="en-IN" dirty="0"/>
              <a:t>the node has two children, replace the node with the node that has the smallest priority in the right </a:t>
            </a:r>
            <a:r>
              <a:rPr lang="en-IN" dirty="0" err="1"/>
              <a:t>subtree</a:t>
            </a:r>
            <a:r>
              <a:rPr lang="en-IN" dirty="0"/>
              <a:t> or the node that has the largest priority in the left </a:t>
            </a:r>
            <a:r>
              <a:rPr lang="en-IN" dirty="0" err="1"/>
              <a:t>subtree</a:t>
            </a:r>
            <a:r>
              <a:rPr lang="en-IN" dirty="0"/>
              <a:t>. </a:t>
            </a:r>
            <a:endParaRPr lang="en-IN" dirty="0" smtClean="0"/>
          </a:p>
          <a:p>
            <a:pPr marL="514350" indent="-514350">
              <a:buAutoNum type="arabicPeriod"/>
            </a:pPr>
            <a:r>
              <a:rPr lang="en-IN" dirty="0" smtClean="0"/>
              <a:t>7</a:t>
            </a:r>
            <a:r>
              <a:rPr lang="en-IN" dirty="0"/>
              <a:t>. Repeat the process until the node is deleted.</a:t>
            </a:r>
            <a:endParaRPr lang="en-US" dirty="0"/>
          </a:p>
        </p:txBody>
      </p:sp>
    </p:spTree>
    <p:extLst>
      <p:ext uri="{BB962C8B-B14F-4D97-AF65-F5344CB8AC3E}">
        <p14:creationId xmlns:p14="http://schemas.microsoft.com/office/powerpoint/2010/main" val="39189355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Skip List</a:t>
            </a:r>
          </a:p>
        </p:txBody>
      </p:sp>
      <p:sp>
        <p:nvSpPr>
          <p:cNvPr id="3" name="Content Placeholder 2"/>
          <p:cNvSpPr>
            <a:spLocks noGrp="1"/>
          </p:cNvSpPr>
          <p:nvPr>
            <p:ph idx="1"/>
          </p:nvPr>
        </p:nvSpPr>
        <p:spPr/>
        <p:txBody>
          <a:bodyPr/>
          <a:lstStyle/>
          <a:p>
            <a:r>
              <a:rPr lang="en-IN" dirty="0"/>
              <a:t>A </a:t>
            </a:r>
            <a:r>
              <a:rPr lang="en-IN" b="1" dirty="0"/>
              <a:t>Skip List </a:t>
            </a:r>
            <a:r>
              <a:rPr lang="en-IN" dirty="0"/>
              <a:t>is a data structure that help us to search, insert, and delete elements in a sorted list. </a:t>
            </a:r>
            <a:endParaRPr lang="en-IN" dirty="0" smtClean="0"/>
          </a:p>
          <a:p>
            <a:r>
              <a:rPr lang="en-IN" dirty="0" smtClean="0"/>
              <a:t>It </a:t>
            </a:r>
            <a:r>
              <a:rPr lang="en-IN" dirty="0"/>
              <a:t>is similar to a linked list, but with additional pointers that allow us to skip over some elements. </a:t>
            </a:r>
            <a:endParaRPr lang="en-IN" dirty="0" smtClean="0"/>
          </a:p>
          <a:p>
            <a:r>
              <a:rPr lang="en-IN" dirty="0" smtClean="0"/>
              <a:t>This </a:t>
            </a:r>
            <a:r>
              <a:rPr lang="en-IN" dirty="0"/>
              <a:t>makes searching for an element faster than a linked </a:t>
            </a:r>
            <a:r>
              <a:rPr lang="en-IN" dirty="0" smtClean="0"/>
              <a:t>list.</a:t>
            </a:r>
          </a:p>
          <a:p>
            <a:r>
              <a:rPr lang="en-IN" dirty="0"/>
              <a:t>The Skip List is a versatile data structure that can be used in a variety of applications, such as databases, search engines, and network routing </a:t>
            </a:r>
            <a:r>
              <a:rPr lang="en-IN" dirty="0" smtClean="0"/>
              <a:t>algorithms.</a:t>
            </a:r>
            <a:endParaRPr lang="en-US" dirty="0"/>
          </a:p>
        </p:txBody>
      </p:sp>
    </p:spTree>
    <p:extLst>
      <p:ext uri="{BB962C8B-B14F-4D97-AF65-F5344CB8AC3E}">
        <p14:creationId xmlns:p14="http://schemas.microsoft.com/office/powerpoint/2010/main" val="37006058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Representation of Skip List</a:t>
            </a:r>
          </a:p>
        </p:txBody>
      </p:sp>
      <p:sp>
        <p:nvSpPr>
          <p:cNvPr id="3" name="Content Placeholder 2"/>
          <p:cNvSpPr>
            <a:spLocks noGrp="1"/>
          </p:cNvSpPr>
          <p:nvPr>
            <p:ph idx="1"/>
          </p:nvPr>
        </p:nvSpPr>
        <p:spPr>
          <a:xfrm>
            <a:off x="838200" y="1825624"/>
            <a:ext cx="10515600" cy="4390181"/>
          </a:xfrm>
        </p:spPr>
        <p:txBody>
          <a:bodyPr>
            <a:normAutofit fontScale="92500" lnSpcReduction="20000"/>
          </a:bodyPr>
          <a:lstStyle/>
          <a:p>
            <a:r>
              <a:rPr lang="en-IN" dirty="0"/>
              <a:t>A Skip List is represented as a series of linked lists, where each list is a level of the Skip List</a:t>
            </a:r>
            <a:r>
              <a:rPr lang="en-IN" dirty="0" smtClean="0"/>
              <a:t>.</a:t>
            </a:r>
          </a:p>
          <a:p>
            <a:r>
              <a:rPr lang="en-IN" dirty="0"/>
              <a:t>Each node in the Skip List contains a key and a value. </a:t>
            </a:r>
            <a:endParaRPr lang="en-IN" dirty="0" smtClean="0"/>
          </a:p>
          <a:p>
            <a:r>
              <a:rPr lang="en-IN" dirty="0" smtClean="0"/>
              <a:t>The </a:t>
            </a:r>
            <a:r>
              <a:rPr lang="en-IN" dirty="0"/>
              <a:t>key is used to sort the elements in the list, and the value is the data associated with the key</a:t>
            </a:r>
            <a:r>
              <a:rPr lang="en-IN" dirty="0" smtClean="0"/>
              <a:t>.</a:t>
            </a:r>
            <a:endParaRPr lang="en-US" dirty="0"/>
          </a:p>
          <a:p>
            <a:r>
              <a:rPr lang="en-IN" dirty="0"/>
              <a:t>Worst case search time for a </a:t>
            </a:r>
            <a:r>
              <a:rPr lang="en-IN" b="1" dirty="0"/>
              <a:t>sorted linked list</a:t>
            </a:r>
            <a:r>
              <a:rPr lang="en-IN" dirty="0"/>
              <a:t> is </a:t>
            </a:r>
            <a:r>
              <a:rPr lang="en-IN" b="1" dirty="0"/>
              <a:t>O(n)</a:t>
            </a:r>
            <a:r>
              <a:rPr lang="en-IN" dirty="0"/>
              <a:t> as we can only linearly traverse the list and cannot skip nodes while searching.</a:t>
            </a:r>
          </a:p>
          <a:p>
            <a:r>
              <a:rPr lang="en-IN" dirty="0"/>
              <a:t>For a </a:t>
            </a:r>
            <a:r>
              <a:rPr lang="en-IN" b="1" dirty="0"/>
              <a:t>Balanced Binary Search Tree</a:t>
            </a:r>
            <a:r>
              <a:rPr lang="en-IN" dirty="0"/>
              <a:t>, we skip almost half of the nodes after one comparison with root and hence </a:t>
            </a:r>
            <a:r>
              <a:rPr lang="en-IN" b="1" dirty="0"/>
              <a:t>O(</a:t>
            </a:r>
            <a:r>
              <a:rPr lang="en-IN" b="1" dirty="0" err="1"/>
              <a:t>logn</a:t>
            </a:r>
            <a:r>
              <a:rPr lang="en-IN" b="1" dirty="0"/>
              <a:t>)</a:t>
            </a:r>
            <a:r>
              <a:rPr lang="en-IN" dirty="0"/>
              <a:t>.</a:t>
            </a:r>
          </a:p>
          <a:p>
            <a:r>
              <a:rPr lang="en-IN" dirty="0"/>
              <a:t>For a </a:t>
            </a:r>
            <a:r>
              <a:rPr lang="en-IN" b="1" dirty="0"/>
              <a:t>sorted array</a:t>
            </a:r>
            <a:r>
              <a:rPr lang="en-IN" dirty="0"/>
              <a:t>, we have random access and we can apply </a:t>
            </a:r>
            <a:r>
              <a:rPr lang="en-IN" b="1" dirty="0"/>
              <a:t>Binary Search</a:t>
            </a:r>
            <a:r>
              <a:rPr lang="en-IN" dirty="0"/>
              <a:t> on arrays and hence </a:t>
            </a:r>
            <a:r>
              <a:rPr lang="en-IN" b="1" dirty="0"/>
              <a:t>O(</a:t>
            </a:r>
            <a:r>
              <a:rPr lang="en-IN" b="1" dirty="0" err="1"/>
              <a:t>logn</a:t>
            </a:r>
            <a:r>
              <a:rPr lang="en-IN" b="1" dirty="0"/>
              <a:t>)</a:t>
            </a:r>
            <a:r>
              <a:rPr lang="en-IN" dirty="0"/>
              <a:t>.</a:t>
            </a:r>
          </a:p>
          <a:p>
            <a:r>
              <a:rPr lang="en-IN" dirty="0"/>
              <a:t>We can do similar things by augmenting list as Skip List.</a:t>
            </a:r>
          </a:p>
          <a:p>
            <a:endParaRPr lang="en-US" dirty="0"/>
          </a:p>
        </p:txBody>
      </p:sp>
    </p:spTree>
    <p:extLst>
      <p:ext uri="{BB962C8B-B14F-4D97-AF65-F5344CB8AC3E}">
        <p14:creationId xmlns:p14="http://schemas.microsoft.com/office/powerpoint/2010/main" val="33977100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946113" y="1892227"/>
            <a:ext cx="9878692" cy="2996906"/>
          </a:xfrm>
          <a:prstGeom prst="rect">
            <a:avLst/>
          </a:prstGeom>
        </p:spPr>
      </p:pic>
    </p:spTree>
    <p:extLst>
      <p:ext uri="{BB962C8B-B14F-4D97-AF65-F5344CB8AC3E}">
        <p14:creationId xmlns:p14="http://schemas.microsoft.com/office/powerpoint/2010/main" val="7627036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a:t>
            </a:r>
            <a:br>
              <a:rPr lang="en-US" dirty="0"/>
            </a:br>
            <a:endParaRPr lang="en-US" dirty="0"/>
          </a:p>
        </p:txBody>
      </p:sp>
      <p:sp>
        <p:nvSpPr>
          <p:cNvPr id="4" name="Rectangle 1"/>
          <p:cNvSpPr>
            <a:spLocks noGrp="1" noChangeArrowheads="1"/>
          </p:cNvSpPr>
          <p:nvPr>
            <p:ph idx="1"/>
          </p:nvPr>
        </p:nvSpPr>
        <p:spPr bwMode="auto">
          <a:xfrm>
            <a:off x="838200" y="1492915"/>
            <a:ext cx="11058525" cy="501675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dirty="0" smtClean="0">
              <a:ln>
                <a:noFill/>
              </a:ln>
              <a:solidFill>
                <a:srgbClr val="37415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3200" b="0" i="0" u="none" strike="noStrike" cap="none" normalizeH="0" baseline="0" dirty="0" smtClean="0">
                <a:ln>
                  <a:noFill/>
                </a:ln>
                <a:solidFill>
                  <a:srgbClr val="374151"/>
                </a:solidFill>
                <a:effectLst/>
                <a:latin typeface="Times New Roman" panose="02020603050405020304" pitchFamily="18" charset="0"/>
                <a:cs typeface="Times New Roman" panose="02020603050405020304" pitchFamily="18" charset="0"/>
              </a:rPr>
              <a:t>Create a Node structure, with key, value, and an array of pointers.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3200" b="0" i="0" u="none" strike="noStrike" cap="none" normalizeH="0" baseline="0" dirty="0" smtClean="0">
                <a:ln>
                  <a:noFill/>
                </a:ln>
                <a:solidFill>
                  <a:srgbClr val="374151"/>
                </a:solidFill>
                <a:effectLst/>
                <a:latin typeface="Times New Roman" panose="02020603050405020304" pitchFamily="18" charset="0"/>
                <a:cs typeface="Times New Roman" panose="02020603050405020304" pitchFamily="18" charset="0"/>
              </a:rPr>
              <a:t>Create a </a:t>
            </a:r>
            <a:r>
              <a:rPr kumimoji="0" lang="en-US" sz="3200" b="0" i="0" u="none" strike="noStrike" cap="none" normalizeH="0" baseline="0" dirty="0" err="1" smtClean="0">
                <a:ln>
                  <a:noFill/>
                </a:ln>
                <a:solidFill>
                  <a:srgbClr val="374151"/>
                </a:solidFill>
                <a:effectLst/>
                <a:latin typeface="Times New Roman" panose="02020603050405020304" pitchFamily="18" charset="0"/>
                <a:cs typeface="Times New Roman" panose="02020603050405020304" pitchFamily="18" charset="0"/>
              </a:rPr>
              <a:t>SkipList</a:t>
            </a:r>
            <a:r>
              <a:rPr kumimoji="0" lang="en-US" sz="3200" b="0" i="0" u="none" strike="noStrike" cap="none" normalizeH="0" baseline="0" dirty="0" smtClean="0">
                <a:ln>
                  <a:noFill/>
                </a:ln>
                <a:solidFill>
                  <a:srgbClr val="374151"/>
                </a:solidFill>
                <a:effectLst/>
                <a:latin typeface="Times New Roman" panose="02020603050405020304" pitchFamily="18" charset="0"/>
                <a:cs typeface="Times New Roman" panose="02020603050405020304" pitchFamily="18" charset="0"/>
              </a:rPr>
              <a:t> structure, with a head node and the level of the Skip List.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3200" b="0" i="0" u="none" strike="noStrike" cap="none" normalizeH="0" baseline="0" dirty="0" smtClean="0">
                <a:ln>
                  <a:noFill/>
                </a:ln>
                <a:solidFill>
                  <a:srgbClr val="374151"/>
                </a:solidFill>
                <a:effectLst/>
                <a:latin typeface="Times New Roman" panose="02020603050405020304" pitchFamily="18" charset="0"/>
                <a:cs typeface="Times New Roman" panose="02020603050405020304" pitchFamily="18" charset="0"/>
              </a:rPr>
              <a:t>Create a function to create a new node.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3200" b="0" i="0" u="none" strike="noStrike" cap="none" normalizeH="0" baseline="0" dirty="0" smtClean="0">
                <a:ln>
                  <a:noFill/>
                </a:ln>
                <a:solidFill>
                  <a:srgbClr val="374151"/>
                </a:solidFill>
                <a:effectLst/>
                <a:latin typeface="Times New Roman" panose="02020603050405020304" pitchFamily="18" charset="0"/>
                <a:cs typeface="Times New Roman" panose="02020603050405020304" pitchFamily="18" charset="0"/>
              </a:rPr>
              <a:t>Create a function to create a new Skip List.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3200" b="0" i="0" u="none" strike="noStrike" cap="none" normalizeH="0" baseline="0" dirty="0" smtClean="0">
                <a:ln>
                  <a:noFill/>
                </a:ln>
                <a:solidFill>
                  <a:srgbClr val="374151"/>
                </a:solidFill>
                <a:effectLst/>
                <a:latin typeface="Times New Roman" panose="02020603050405020304" pitchFamily="18" charset="0"/>
                <a:cs typeface="Times New Roman" panose="02020603050405020304" pitchFamily="18" charset="0"/>
              </a:rPr>
              <a:t>Create a function to generate a random level for a node.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3200" b="0" i="0" u="none" strike="noStrike" cap="none" normalizeH="0" baseline="0" dirty="0" smtClean="0">
                <a:ln>
                  <a:noFill/>
                </a:ln>
                <a:solidFill>
                  <a:srgbClr val="374151"/>
                </a:solidFill>
                <a:effectLst/>
                <a:latin typeface="Times New Roman" panose="02020603050405020304" pitchFamily="18" charset="0"/>
                <a:cs typeface="Times New Roman" panose="02020603050405020304" pitchFamily="18" charset="0"/>
              </a:rPr>
              <a:t>Create a function to insert a node into the Skip List.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3200" b="0" i="0" u="none" strike="noStrike" cap="none" normalizeH="0" baseline="0" dirty="0" smtClean="0">
                <a:ln>
                  <a:noFill/>
                </a:ln>
                <a:solidFill>
                  <a:srgbClr val="374151"/>
                </a:solidFill>
                <a:effectLst/>
                <a:latin typeface="Times New Roman" panose="02020603050405020304" pitchFamily="18" charset="0"/>
                <a:cs typeface="Times New Roman" panose="02020603050405020304" pitchFamily="18" charset="0"/>
              </a:rPr>
              <a:t>Create a function to display the Skip List.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3200" b="0" i="0" u="none" strike="noStrike" cap="none" normalizeH="0" baseline="0" dirty="0" smtClean="0">
                <a:ln>
                  <a:noFill/>
                </a:ln>
                <a:solidFill>
                  <a:srgbClr val="374151"/>
                </a:solidFill>
                <a:effectLst/>
                <a:latin typeface="Times New Roman" panose="02020603050405020304" pitchFamily="18" charset="0"/>
                <a:cs typeface="Times New Roman" panose="02020603050405020304" pitchFamily="18" charset="0"/>
              </a:rPr>
              <a:t>At last, create a main function to test the Skip List.</a:t>
            </a:r>
            <a:r>
              <a:rPr kumimoji="0" lang="en-US"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0187021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Multidimensional search trees</a:t>
            </a:r>
          </a:p>
        </p:txBody>
      </p:sp>
      <p:sp>
        <p:nvSpPr>
          <p:cNvPr id="3" name="Content Placeholder 2"/>
          <p:cNvSpPr>
            <a:spLocks noGrp="1"/>
          </p:cNvSpPr>
          <p:nvPr>
            <p:ph idx="1"/>
          </p:nvPr>
        </p:nvSpPr>
        <p:spPr>
          <a:xfrm>
            <a:off x="793750" y="1606550"/>
            <a:ext cx="10560050" cy="4818063"/>
          </a:xfrm>
        </p:spPr>
        <p:txBody>
          <a:bodyPr>
            <a:normAutofit fontScale="92500"/>
          </a:bodyPr>
          <a:lstStyle/>
          <a:p>
            <a:r>
              <a:rPr lang="en-IN" dirty="0"/>
              <a:t>The </a:t>
            </a:r>
            <a:r>
              <a:rPr lang="en-IN" b="1" dirty="0"/>
              <a:t>K-D</a:t>
            </a:r>
            <a:r>
              <a:rPr lang="en-IN" dirty="0"/>
              <a:t> is a multi-dimensional binary search tree</a:t>
            </a:r>
            <a:r>
              <a:rPr lang="en-IN" dirty="0" smtClean="0"/>
              <a:t>.</a:t>
            </a:r>
          </a:p>
          <a:p>
            <a:r>
              <a:rPr lang="en-IN" dirty="0" smtClean="0"/>
              <a:t> </a:t>
            </a:r>
            <a:r>
              <a:rPr lang="en-IN" dirty="0"/>
              <a:t>It is defined as a data structure for storing </a:t>
            </a:r>
            <a:r>
              <a:rPr lang="en-IN" b="1" dirty="0" err="1"/>
              <a:t>multikey</a:t>
            </a:r>
            <a:r>
              <a:rPr lang="en-IN" b="1" dirty="0"/>
              <a:t> records</a:t>
            </a:r>
            <a:r>
              <a:rPr lang="en-IN" dirty="0"/>
              <a:t>. </a:t>
            </a:r>
            <a:endParaRPr lang="en-IN" dirty="0" smtClean="0"/>
          </a:p>
          <a:p>
            <a:r>
              <a:rPr lang="en-IN" dirty="0" smtClean="0"/>
              <a:t>This </a:t>
            </a:r>
            <a:r>
              <a:rPr lang="en-IN" dirty="0"/>
              <a:t>structure has been implemented to solve a number of </a:t>
            </a:r>
            <a:r>
              <a:rPr lang="en-IN" b="1" dirty="0"/>
              <a:t>"geometric"</a:t>
            </a:r>
            <a:r>
              <a:rPr lang="en-IN" dirty="0"/>
              <a:t> problems in statistics and data analysis</a:t>
            </a:r>
            <a:r>
              <a:rPr lang="en-IN" dirty="0" smtClean="0"/>
              <a:t>.</a:t>
            </a:r>
          </a:p>
          <a:p>
            <a:r>
              <a:rPr lang="en-IN" dirty="0"/>
              <a:t>A </a:t>
            </a:r>
            <a:r>
              <a:rPr lang="en-IN" b="1" dirty="0"/>
              <a:t>k-d tree</a:t>
            </a:r>
            <a:r>
              <a:rPr lang="en-IN" dirty="0"/>
              <a:t> (short for </a:t>
            </a:r>
            <a:r>
              <a:rPr lang="en-IN" b="1" dirty="0"/>
              <a:t>k-dimensional tree</a:t>
            </a:r>
            <a:r>
              <a:rPr lang="en-IN" dirty="0"/>
              <a:t>) is defined as a space-partitioning data structure for organizing points in a </a:t>
            </a:r>
            <a:r>
              <a:rPr lang="en-IN" b="1" dirty="0"/>
              <a:t>k-dimensional space</a:t>
            </a:r>
            <a:r>
              <a:rPr lang="en-IN" dirty="0"/>
              <a:t>. </a:t>
            </a:r>
            <a:endParaRPr lang="en-IN" dirty="0" smtClean="0"/>
          </a:p>
          <a:p>
            <a:r>
              <a:rPr lang="en-IN" dirty="0" smtClean="0"/>
              <a:t>Data </a:t>
            </a:r>
            <a:r>
              <a:rPr lang="en-IN" dirty="0"/>
              <a:t>structure </a:t>
            </a:r>
            <a:r>
              <a:rPr lang="en-IN" b="1" dirty="0"/>
              <a:t>k-d trees</a:t>
            </a:r>
            <a:r>
              <a:rPr lang="en-IN" dirty="0"/>
              <a:t> are implemented for several applications, for example, searches involving a </a:t>
            </a:r>
            <a:r>
              <a:rPr lang="en-IN" b="1" dirty="0"/>
              <a:t>multidimensional search key</a:t>
            </a:r>
            <a:r>
              <a:rPr lang="en-IN" dirty="0"/>
              <a:t> (e.g. </a:t>
            </a:r>
            <a:r>
              <a:rPr lang="en-IN" b="1" dirty="0"/>
              <a:t>range searches</a:t>
            </a:r>
            <a:r>
              <a:rPr lang="en-IN" dirty="0"/>
              <a:t> and </a:t>
            </a:r>
            <a:r>
              <a:rPr lang="en-IN" b="1" dirty="0"/>
              <a:t>nearest </a:t>
            </a:r>
            <a:r>
              <a:rPr lang="en-IN" b="1" dirty="0" err="1"/>
              <a:t>neighbor</a:t>
            </a:r>
            <a:r>
              <a:rPr lang="en-IN" b="1" dirty="0"/>
              <a:t> searches</a:t>
            </a:r>
            <a:r>
              <a:rPr lang="en-IN" dirty="0"/>
              <a:t>). </a:t>
            </a:r>
            <a:endParaRPr lang="en-IN" dirty="0" smtClean="0"/>
          </a:p>
          <a:p>
            <a:r>
              <a:rPr lang="en-IN" b="1" dirty="0" smtClean="0"/>
              <a:t>k-d </a:t>
            </a:r>
            <a:r>
              <a:rPr lang="en-IN" b="1" dirty="0"/>
              <a:t>trees</a:t>
            </a:r>
            <a:r>
              <a:rPr lang="en-IN" dirty="0"/>
              <a:t> are treated as a special case of </a:t>
            </a:r>
            <a:r>
              <a:rPr lang="en-IN" b="1" dirty="0"/>
              <a:t>binary space partitioning trees</a:t>
            </a:r>
            <a:r>
              <a:rPr lang="en-IN" dirty="0"/>
              <a:t>.</a:t>
            </a:r>
            <a:endParaRPr lang="en-US" dirty="0"/>
          </a:p>
        </p:txBody>
      </p:sp>
    </p:spTree>
    <p:extLst>
      <p:ext uri="{BB962C8B-B14F-4D97-AF65-F5344CB8AC3E}">
        <p14:creationId xmlns:p14="http://schemas.microsoft.com/office/powerpoint/2010/main" val="34442057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K-D Trees</a:t>
            </a:r>
          </a:p>
        </p:txBody>
      </p:sp>
      <p:sp>
        <p:nvSpPr>
          <p:cNvPr id="3" name="Content Placeholder 2"/>
          <p:cNvSpPr>
            <a:spLocks noGrp="1"/>
          </p:cNvSpPr>
          <p:nvPr>
            <p:ph idx="1"/>
          </p:nvPr>
        </p:nvSpPr>
        <p:spPr/>
        <p:txBody>
          <a:bodyPr/>
          <a:lstStyle/>
          <a:p>
            <a:r>
              <a:rPr lang="en-IN" dirty="0"/>
              <a:t>The depth of the k-d tree is </a:t>
            </a:r>
            <a:r>
              <a:rPr lang="en-IN" b="1" dirty="0"/>
              <a:t>O(log n)</a:t>
            </a:r>
            <a:r>
              <a:rPr lang="en-IN" dirty="0"/>
              <a:t> where </a:t>
            </a:r>
            <a:r>
              <a:rPr lang="en-IN" b="1" dirty="0"/>
              <a:t>n</a:t>
            </a:r>
            <a:r>
              <a:rPr lang="en-IN" dirty="0"/>
              <a:t> is the number of points.</a:t>
            </a:r>
          </a:p>
          <a:p>
            <a:r>
              <a:rPr lang="en-IN" dirty="0"/>
              <a:t>Each node in the tree contains a k-dimensional point and pointers to the left and right child nodes.</a:t>
            </a:r>
          </a:p>
          <a:p>
            <a:r>
              <a:rPr lang="en-IN" dirty="0"/>
              <a:t>The choice of the axis at each level of the tree follows a cycle through the axes.</a:t>
            </a:r>
          </a:p>
          <a:p>
            <a:r>
              <a:rPr lang="en-IN" dirty="0"/>
              <a:t>And choice of axis at each level will affect's the tree's performance in terms of search speed.</a:t>
            </a:r>
          </a:p>
        </p:txBody>
      </p:sp>
    </p:spTree>
    <p:extLst>
      <p:ext uri="{BB962C8B-B14F-4D97-AF65-F5344CB8AC3E}">
        <p14:creationId xmlns:p14="http://schemas.microsoft.com/office/powerpoint/2010/main" val="15981670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Representation of </a:t>
            </a:r>
            <a:r>
              <a:rPr lang="en-US" dirty="0"/>
              <a:t>K-D Trees</a:t>
            </a:r>
          </a:p>
        </p:txBody>
      </p:sp>
      <p:sp>
        <p:nvSpPr>
          <p:cNvPr id="3" name="Content Placeholder 2"/>
          <p:cNvSpPr>
            <a:spLocks noGrp="1"/>
          </p:cNvSpPr>
          <p:nvPr>
            <p:ph idx="1"/>
          </p:nvPr>
        </p:nvSpPr>
        <p:spPr/>
        <p:txBody>
          <a:bodyPr/>
          <a:lstStyle/>
          <a:p>
            <a:r>
              <a:rPr lang="en-IN" dirty="0"/>
              <a:t>C</a:t>
            </a:r>
            <a:r>
              <a:rPr lang="en-IN" dirty="0" smtClean="0"/>
              <a:t>hoose </a:t>
            </a:r>
            <a:r>
              <a:rPr lang="en-IN" dirty="0"/>
              <a:t>the axis of the splitting plane.</a:t>
            </a:r>
          </a:p>
          <a:p>
            <a:r>
              <a:rPr lang="en-IN" dirty="0"/>
              <a:t>Choose the median as the pivot element.</a:t>
            </a:r>
          </a:p>
          <a:p>
            <a:r>
              <a:rPr lang="en-IN" dirty="0"/>
              <a:t>Split the points into two sets: one set contains points less than the median and the other set contains points greater than the median.</a:t>
            </a:r>
          </a:p>
          <a:p>
            <a:r>
              <a:rPr lang="en-IN" dirty="0"/>
              <a:t>Repeat the above steps for the left and right </a:t>
            </a:r>
            <a:r>
              <a:rPr lang="en-IN" dirty="0" err="1"/>
              <a:t>subtrees</a:t>
            </a:r>
            <a:r>
              <a:rPr lang="en-IN" dirty="0"/>
              <a:t>.</a:t>
            </a:r>
          </a:p>
        </p:txBody>
      </p:sp>
    </p:spTree>
    <p:extLst>
      <p:ext uri="{BB962C8B-B14F-4D97-AF65-F5344CB8AC3E}">
        <p14:creationId xmlns:p14="http://schemas.microsoft.com/office/powerpoint/2010/main" val="19751315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Delete Operation on K-D Trees</a:t>
            </a:r>
          </a:p>
        </p:txBody>
      </p:sp>
      <p:sp>
        <p:nvSpPr>
          <p:cNvPr id="3" name="Content Placeholder 2"/>
          <p:cNvSpPr>
            <a:spLocks noGrp="1"/>
          </p:cNvSpPr>
          <p:nvPr>
            <p:ph idx="1"/>
          </p:nvPr>
        </p:nvSpPr>
        <p:spPr/>
        <p:txBody>
          <a:bodyPr/>
          <a:lstStyle/>
          <a:p>
            <a:r>
              <a:rPr lang="en-IN" dirty="0" smtClean="0"/>
              <a:t>Find </a:t>
            </a:r>
            <a:r>
              <a:rPr lang="en-IN" dirty="0"/>
              <a:t>the node to be deleted.</a:t>
            </a:r>
          </a:p>
          <a:p>
            <a:r>
              <a:rPr lang="en-IN" dirty="0"/>
              <a:t>If the node is a leaf node, delete it directly.</a:t>
            </a:r>
          </a:p>
          <a:p>
            <a:r>
              <a:rPr lang="en-IN" dirty="0"/>
              <a:t>If the node has only one child, replace the node with its child.</a:t>
            </a:r>
          </a:p>
          <a:p>
            <a:r>
              <a:rPr lang="en-IN" dirty="0"/>
              <a:t>If the node has two children, find the </a:t>
            </a:r>
            <a:r>
              <a:rPr lang="en-IN" dirty="0" err="1"/>
              <a:t>inorder</a:t>
            </a:r>
            <a:r>
              <a:rPr lang="en-IN" dirty="0"/>
              <a:t> successor of the node, replace the node with the </a:t>
            </a:r>
            <a:r>
              <a:rPr lang="en-IN" dirty="0" err="1"/>
              <a:t>inorder</a:t>
            </a:r>
            <a:r>
              <a:rPr lang="en-IN" dirty="0"/>
              <a:t> successor, and delete the </a:t>
            </a:r>
            <a:r>
              <a:rPr lang="en-IN" dirty="0" err="1"/>
              <a:t>inorder</a:t>
            </a:r>
            <a:r>
              <a:rPr lang="en-IN" dirty="0"/>
              <a:t> successor.</a:t>
            </a:r>
          </a:p>
        </p:txBody>
      </p:sp>
    </p:spTree>
    <p:extLst>
      <p:ext uri="{BB962C8B-B14F-4D97-AF65-F5344CB8AC3E}">
        <p14:creationId xmlns:p14="http://schemas.microsoft.com/office/powerpoint/2010/main" val="96194060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Segment </a:t>
            </a:r>
            <a:r>
              <a:rPr lang="en-US" dirty="0"/>
              <a:t>trees</a:t>
            </a:r>
          </a:p>
        </p:txBody>
      </p:sp>
      <p:sp>
        <p:nvSpPr>
          <p:cNvPr id="3" name="Content Placeholder 2"/>
          <p:cNvSpPr>
            <a:spLocks noGrp="1"/>
          </p:cNvSpPr>
          <p:nvPr>
            <p:ph idx="1"/>
          </p:nvPr>
        </p:nvSpPr>
        <p:spPr/>
        <p:txBody>
          <a:bodyPr/>
          <a:lstStyle/>
          <a:p>
            <a:r>
              <a:rPr lang="en-IN" dirty="0"/>
              <a:t> </a:t>
            </a:r>
            <a:r>
              <a:rPr lang="en-IN" dirty="0" smtClean="0"/>
              <a:t>A </a:t>
            </a:r>
            <a:r>
              <a:rPr lang="en-IN" b="1" dirty="0" smtClean="0"/>
              <a:t>Segment </a:t>
            </a:r>
            <a:r>
              <a:rPr lang="en-IN" b="1" dirty="0"/>
              <a:t>Tree</a:t>
            </a:r>
            <a:r>
              <a:rPr lang="en-IN" dirty="0"/>
              <a:t> is a versatile data structure used to efficiently handle range queries and updates on an array. It is particularly useful for problems involving operations like sum, minimum, maximum, or other associative operations over a range of elements. The tree is built recursively by dividing the array into segments, enabling fast query and update operations with a time complexity of </a:t>
            </a:r>
            <a:r>
              <a:rPr lang="en-IN" b="1" dirty="0"/>
              <a:t>O(log n)</a:t>
            </a:r>
            <a:r>
              <a:rPr lang="en-IN" dirty="0"/>
              <a:t>.</a:t>
            </a:r>
            <a:endParaRPr lang="en-US" dirty="0"/>
          </a:p>
        </p:txBody>
      </p:sp>
    </p:spTree>
    <p:extLst>
      <p:ext uri="{BB962C8B-B14F-4D97-AF65-F5344CB8AC3E}">
        <p14:creationId xmlns:p14="http://schemas.microsoft.com/office/powerpoint/2010/main" val="356054854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1295</TotalTime>
  <Words>559</Words>
  <Application>Microsoft Office PowerPoint</Application>
  <PresentationFormat>Widescreen</PresentationFormat>
  <Paragraphs>66</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Specialized Search Trees</vt:lpstr>
      <vt:lpstr>Introduction</vt:lpstr>
      <vt:lpstr>Treap Algorithm</vt:lpstr>
      <vt:lpstr>Algorithm for Deleting a Node in Treaps</vt:lpstr>
      <vt:lpstr>Skip List</vt:lpstr>
      <vt:lpstr>Representation of Skip List</vt:lpstr>
      <vt:lpstr>PowerPoint Presentation</vt:lpstr>
      <vt:lpstr>Algorithm </vt:lpstr>
      <vt:lpstr>Multidimensional search trees</vt:lpstr>
      <vt:lpstr>K-D Trees</vt:lpstr>
      <vt:lpstr>Representation of K-D Trees</vt:lpstr>
      <vt:lpstr>Delete Operation on K-D Trees</vt:lpstr>
      <vt:lpstr>Segment trees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Specialized Search Trees</dc:title>
  <dc:creator>HP</dc:creator>
  <cp:lastModifiedBy>HP</cp:lastModifiedBy>
  <cp:revision>15</cp:revision>
  <dcterms:created xsi:type="dcterms:W3CDTF">2026-08-25T05:40:34Z</dcterms:created>
  <dcterms:modified xsi:type="dcterms:W3CDTF">2026-08-27T17:44:31Z</dcterms:modified>
</cp:coreProperties>
</file>