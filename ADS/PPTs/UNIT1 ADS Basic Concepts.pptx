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  <p:sldMasterId id="2147483656" r:id="rId3"/>
  </p:sldMasterIdLst>
  <p:notesMasterIdLst>
    <p:notesMasterId r:id="rId31"/>
  </p:notesMasterIdLst>
  <p:sldIdLst>
    <p:sldId id="259" r:id="rId4"/>
    <p:sldId id="260" r:id="rId5"/>
    <p:sldId id="289" r:id="rId6"/>
    <p:sldId id="291" r:id="rId7"/>
    <p:sldId id="292" r:id="rId8"/>
    <p:sldId id="290" r:id="rId9"/>
    <p:sldId id="293" r:id="rId10"/>
    <p:sldId id="312" r:id="rId11"/>
    <p:sldId id="294" r:id="rId12"/>
    <p:sldId id="310" r:id="rId13"/>
    <p:sldId id="311" r:id="rId14"/>
    <p:sldId id="295" r:id="rId15"/>
    <p:sldId id="296" r:id="rId16"/>
    <p:sldId id="297" r:id="rId17"/>
    <p:sldId id="298" r:id="rId18"/>
    <p:sldId id="299" r:id="rId19"/>
    <p:sldId id="300" r:id="rId20"/>
    <p:sldId id="301" r:id="rId21"/>
    <p:sldId id="302" r:id="rId22"/>
    <p:sldId id="303" r:id="rId23"/>
    <p:sldId id="304" r:id="rId24"/>
    <p:sldId id="305" r:id="rId25"/>
    <p:sldId id="306" r:id="rId26"/>
    <p:sldId id="307" r:id="rId27"/>
    <p:sldId id="308" r:id="rId28"/>
    <p:sldId id="309" r:id="rId29"/>
    <p:sldId id="288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66"/>
    <a:srgbClr val="800000"/>
    <a:srgbClr val="2B4D8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96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-528" y="-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4" Type="http://schemas.openxmlformats.org/officeDocument/2006/relationships/tableStyles" Target="tableStyles.xml"/><Relationship Id="rId33" Type="http://schemas.openxmlformats.org/officeDocument/2006/relationships/viewProps" Target="viewProps.xml"/><Relationship Id="rId32" Type="http://schemas.openxmlformats.org/officeDocument/2006/relationships/presProps" Target="presProps.xml"/><Relationship Id="rId31" Type="http://schemas.openxmlformats.org/officeDocument/2006/relationships/notesMaster" Target="notesMasters/notesMaster1.xml"/><Relationship Id="rId30" Type="http://schemas.openxmlformats.org/officeDocument/2006/relationships/slide" Target="slides/slide27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44C04D-762D-4F62-B299-DE0EEDF403F1}" type="datetimeFigureOut">
              <a:rPr lang="en-IN" smtClean="0"/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1DB62B-639E-4316-B306-BE015A17291F}" type="slidenum">
              <a:rPr lang="en-IN" smtClean="0"/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en-US" smtClean="0"/>
              <a:t>Data Structures &amp; Algorithm</a:t>
            </a:r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IN"/>
              <a:t>Dr. Devyani Jadhav, Dept of AIML, Sanjivani University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5B0C241-D0FA-41C4-806B-7A3C5377B352}" type="slidenum">
              <a:rPr lang="en-IN" smtClean="0"/>
            </a:fld>
            <a:endParaRPr lang="en-IN"/>
          </a:p>
        </p:txBody>
      </p:sp>
      <p:pic>
        <p:nvPicPr>
          <p:cNvPr id="7" name="Image 4"/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709383" cy="144223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35331" y="276580"/>
            <a:ext cx="9267548" cy="791351"/>
          </a:xfrm>
          <a:prstGeom prst="rect">
            <a:avLst/>
          </a:prstGeom>
        </p:spPr>
        <p:txBody>
          <a:bodyPr/>
          <a:lstStyle>
            <a:lvl1pPr>
              <a:defRPr>
                <a:latin typeface="Bahnschrift Condensed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pic>
        <p:nvPicPr>
          <p:cNvPr id="8" name="Image 4"/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709383" cy="1156476"/>
          </a:xfrm>
          <a:prstGeom prst="rect">
            <a:avLst/>
          </a:prstGeom>
        </p:spPr>
      </p:pic>
      <p:sp>
        <p:nvSpPr>
          <p:cNvPr id="12" name="Flowchart: Process 11"/>
          <p:cNvSpPr/>
          <p:nvPr userDrawn="1"/>
        </p:nvSpPr>
        <p:spPr>
          <a:xfrm>
            <a:off x="8878" y="6465906"/>
            <a:ext cx="12183122" cy="307712"/>
          </a:xfrm>
          <a:prstGeom prst="flowChartProcess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37783" y="6446077"/>
            <a:ext cx="3177774" cy="365125"/>
          </a:xfrm>
          <a:prstGeom prst="rect">
            <a:avLst/>
          </a:prstGeom>
        </p:spPr>
        <p:txBody>
          <a:bodyPr/>
          <a:lstStyle>
            <a:lvl1pPr>
              <a:defRPr sz="1600" b="1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 smtClean="0"/>
              <a:t>Data Structures &amp; Algorithm</a:t>
            </a:r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54436" y="6454954"/>
            <a:ext cx="5268957" cy="365125"/>
          </a:xfrm>
          <a:prstGeom prst="rect">
            <a:avLst/>
          </a:prstGeom>
        </p:spPr>
        <p:txBody>
          <a:bodyPr/>
          <a:lstStyle>
            <a:lvl1pPr>
              <a:defRPr sz="1600" b="1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IN" dirty="0"/>
              <a:t>Dr. Devyani Jadhav, Dept of AIML, Sanjivani University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553980" y="6430396"/>
            <a:ext cx="599551" cy="36512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fld id="{75B0C241-D0FA-41C4-806B-7A3C5377B352}" type="slidenum">
              <a:rPr lang="en-IN" smtClean="0"/>
            </a:fld>
            <a:endParaRPr lang="en-IN"/>
          </a:p>
        </p:txBody>
      </p:sp>
      <p:cxnSp>
        <p:nvCxnSpPr>
          <p:cNvPr id="13" name="Straight Connector 12"/>
          <p:cNvCxnSpPr/>
          <p:nvPr userDrawn="1"/>
        </p:nvCxnSpPr>
        <p:spPr>
          <a:xfrm>
            <a:off x="258931" y="6224723"/>
            <a:ext cx="11540971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 userDrawn="1"/>
        </p:nvCxnSpPr>
        <p:spPr>
          <a:xfrm>
            <a:off x="258930" y="6288346"/>
            <a:ext cx="11540971" cy="0"/>
          </a:xfrm>
          <a:prstGeom prst="line">
            <a:avLst/>
          </a:prstGeom>
          <a:ln w="571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84301" y="1902918"/>
            <a:ext cx="10515600" cy="1500188"/>
          </a:xfrm>
          <a:prstGeom prst="rect">
            <a:avLst/>
          </a:prstGeom>
        </p:spPr>
        <p:txBody>
          <a:bodyPr anchor="b"/>
          <a:lstStyle>
            <a:lvl1pPr>
              <a:defRPr sz="6000">
                <a:latin typeface="Bahnschrift Condensed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84301" y="3853852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pic>
        <p:nvPicPr>
          <p:cNvPr id="8" name="Image 4"/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709383" cy="1156476"/>
          </a:xfrm>
          <a:prstGeom prst="rect">
            <a:avLst/>
          </a:prstGeom>
        </p:spPr>
      </p:pic>
      <p:sp>
        <p:nvSpPr>
          <p:cNvPr id="11" name="Flowchart: Process 10"/>
          <p:cNvSpPr/>
          <p:nvPr userDrawn="1"/>
        </p:nvSpPr>
        <p:spPr>
          <a:xfrm>
            <a:off x="8878" y="6465906"/>
            <a:ext cx="12183122" cy="307712"/>
          </a:xfrm>
          <a:prstGeom prst="flowChartProcess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2" name="Date Placeholder 3"/>
          <p:cNvSpPr>
            <a:spLocks noGrp="1"/>
          </p:cNvSpPr>
          <p:nvPr>
            <p:ph type="dt" sz="half" idx="10"/>
          </p:nvPr>
        </p:nvSpPr>
        <p:spPr>
          <a:xfrm>
            <a:off x="337783" y="6437199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 smtClean="0"/>
              <a:t>Data Structures &amp; Algorithm</a:t>
            </a:r>
            <a:endParaRPr lang="en-IN" dirty="0"/>
          </a:p>
        </p:txBody>
      </p:sp>
      <p:sp>
        <p:nvSpPr>
          <p:cNvPr id="13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54437" y="6437198"/>
            <a:ext cx="4756582" cy="365125"/>
          </a:xfrm>
          <a:prstGeom prst="rect">
            <a:avLst/>
          </a:prstGeom>
        </p:spPr>
        <p:txBody>
          <a:bodyPr/>
          <a:lstStyle>
            <a:lvl1pPr>
              <a:defRPr sz="1400" b="1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IN" dirty="0"/>
              <a:t>Dr. Devyani Jadhav, Dept of AIML, Sanjivani University</a:t>
            </a:r>
            <a:endParaRPr lang="en-IN" dirty="0"/>
          </a:p>
        </p:txBody>
      </p:sp>
      <p:sp>
        <p:nvSpPr>
          <p:cNvPr id="14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75146" y="6465906"/>
            <a:ext cx="1029070" cy="36512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fld id="{75B0C241-D0FA-41C4-806B-7A3C5377B352}" type="slidenum">
              <a:rPr lang="en-IN" smtClean="0"/>
            </a:fld>
            <a:endParaRPr lang="en-IN"/>
          </a:p>
        </p:txBody>
      </p:sp>
      <p:cxnSp>
        <p:nvCxnSpPr>
          <p:cNvPr id="15" name="Straight Connector 14"/>
          <p:cNvCxnSpPr/>
          <p:nvPr userDrawn="1"/>
        </p:nvCxnSpPr>
        <p:spPr>
          <a:xfrm>
            <a:off x="258931" y="6224723"/>
            <a:ext cx="11540971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 userDrawn="1"/>
        </p:nvCxnSpPr>
        <p:spPr>
          <a:xfrm>
            <a:off x="258930" y="6288346"/>
            <a:ext cx="11540971" cy="0"/>
          </a:xfrm>
          <a:prstGeom prst="line">
            <a:avLst/>
          </a:prstGeom>
          <a:ln w="571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45355" y="1508507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5046" y="1523881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en-US" smtClean="0"/>
              <a:t>Data Structures &amp; Algorithm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IN"/>
              <a:t>Dr. Devyani Jadhav, Dept of AIML, Sanjivani University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5B0C241-D0FA-41C4-806B-7A3C5377B352}" type="slidenum">
              <a:rPr lang="en-IN" smtClean="0"/>
            </a:fld>
            <a:endParaRPr lang="en-IN"/>
          </a:p>
        </p:txBody>
      </p:sp>
      <p:sp>
        <p:nvSpPr>
          <p:cNvPr id="8" name="Title 1"/>
          <p:cNvSpPr txBox="1"/>
          <p:nvPr userDrawn="1"/>
        </p:nvSpPr>
        <p:spPr>
          <a:xfrm>
            <a:off x="1935331" y="276580"/>
            <a:ext cx="9267548" cy="7913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Bahnschrift Condensed" panose="020B0502040204020203" pitchFamily="34" charset="0"/>
              </a:rPr>
              <a:t>Click to edit Master title style</a:t>
            </a:r>
            <a:endParaRPr lang="en-IN" dirty="0">
              <a:latin typeface="Bahnschrift Condensed" panose="020B0502040204020203" pitchFamily="34" charset="0"/>
            </a:endParaRPr>
          </a:p>
        </p:txBody>
      </p:sp>
      <p:pic>
        <p:nvPicPr>
          <p:cNvPr id="9" name="Image 4"/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709383" cy="1156476"/>
          </a:xfrm>
          <a:prstGeom prst="rect">
            <a:avLst/>
          </a:prstGeom>
        </p:spPr>
      </p:pic>
      <p:cxnSp>
        <p:nvCxnSpPr>
          <p:cNvPr id="10" name="Straight Connector 9"/>
          <p:cNvCxnSpPr/>
          <p:nvPr userDrawn="1"/>
        </p:nvCxnSpPr>
        <p:spPr>
          <a:xfrm>
            <a:off x="124287" y="1198482"/>
            <a:ext cx="11540971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 userDrawn="1"/>
        </p:nvCxnSpPr>
        <p:spPr>
          <a:xfrm>
            <a:off x="124286" y="1262105"/>
            <a:ext cx="11540971" cy="0"/>
          </a:xfrm>
          <a:prstGeom prst="line">
            <a:avLst/>
          </a:prstGeom>
          <a:ln w="571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Flowchart: Process 11"/>
          <p:cNvSpPr/>
          <p:nvPr userDrawn="1"/>
        </p:nvSpPr>
        <p:spPr>
          <a:xfrm>
            <a:off x="8878" y="6465906"/>
            <a:ext cx="12183122" cy="307712"/>
          </a:xfrm>
          <a:prstGeom prst="flowChartProcess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3" name="Date Placeholder 3"/>
          <p:cNvSpPr txBox="1"/>
          <p:nvPr userDrawn="1"/>
        </p:nvSpPr>
        <p:spPr>
          <a:xfrm>
            <a:off x="337783" y="643719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600" kern="12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/>
              <a:t>Data Structures &amp; Algorithm</a:t>
            </a:r>
            <a:endParaRPr lang="en-IN" dirty="0"/>
          </a:p>
        </p:txBody>
      </p:sp>
      <p:sp>
        <p:nvSpPr>
          <p:cNvPr id="14" name="Footer Placeholder 4"/>
          <p:cNvSpPr txBox="1"/>
          <p:nvPr userDrawn="1"/>
        </p:nvSpPr>
        <p:spPr>
          <a:xfrm>
            <a:off x="4354437" y="6437198"/>
            <a:ext cx="47565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400" b="1" kern="12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/>
              <a:t>Dr. Devyani Jadhav, Dept of AIML, Sanjivani University</a:t>
            </a:r>
            <a:endParaRPr lang="en-IN" dirty="0"/>
          </a:p>
        </p:txBody>
      </p:sp>
      <p:sp>
        <p:nvSpPr>
          <p:cNvPr id="15" name="Slide Number Placeholder 5"/>
          <p:cNvSpPr txBox="1"/>
          <p:nvPr userDrawn="1"/>
        </p:nvSpPr>
        <p:spPr>
          <a:xfrm>
            <a:off x="10875146" y="6465906"/>
            <a:ext cx="102907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B0C241-D0FA-41C4-806B-7A3C5377B352}" type="slidenum">
              <a:rPr lang="en-IN" smtClean="0"/>
            </a:fld>
            <a:endParaRPr lang="en-IN"/>
          </a:p>
        </p:txBody>
      </p:sp>
      <p:cxnSp>
        <p:nvCxnSpPr>
          <p:cNvPr id="16" name="Straight Connector 15"/>
          <p:cNvCxnSpPr/>
          <p:nvPr userDrawn="1"/>
        </p:nvCxnSpPr>
        <p:spPr>
          <a:xfrm>
            <a:off x="258931" y="6224723"/>
            <a:ext cx="11540971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 userDrawn="1"/>
        </p:nvCxnSpPr>
        <p:spPr>
          <a:xfrm>
            <a:off x="258930" y="6288346"/>
            <a:ext cx="11540971" cy="0"/>
          </a:xfrm>
          <a:prstGeom prst="line">
            <a:avLst/>
          </a:prstGeom>
          <a:ln w="571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984" y="1397658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2134" y="2274256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52099" y="1376042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50400" y="2274256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1935331" y="276580"/>
            <a:ext cx="9267548" cy="791351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pic>
        <p:nvPicPr>
          <p:cNvPr id="11" name="Image 4"/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709383" cy="1156476"/>
          </a:xfrm>
          <a:prstGeom prst="rect">
            <a:avLst/>
          </a:prstGeom>
        </p:spPr>
      </p:pic>
      <p:cxnSp>
        <p:nvCxnSpPr>
          <p:cNvPr id="12" name="Straight Connector 11"/>
          <p:cNvCxnSpPr/>
          <p:nvPr userDrawn="1"/>
        </p:nvCxnSpPr>
        <p:spPr>
          <a:xfrm>
            <a:off x="124287" y="1198482"/>
            <a:ext cx="11540971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 userDrawn="1"/>
        </p:nvCxnSpPr>
        <p:spPr>
          <a:xfrm>
            <a:off x="124286" y="1262105"/>
            <a:ext cx="11540971" cy="0"/>
          </a:xfrm>
          <a:prstGeom prst="line">
            <a:avLst/>
          </a:prstGeom>
          <a:ln w="571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lowchart: Process 13"/>
          <p:cNvSpPr/>
          <p:nvPr userDrawn="1"/>
        </p:nvSpPr>
        <p:spPr>
          <a:xfrm>
            <a:off x="8878" y="6465906"/>
            <a:ext cx="12183122" cy="307712"/>
          </a:xfrm>
          <a:prstGeom prst="flowChartProcess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Date Placeholder 3"/>
          <p:cNvSpPr>
            <a:spLocks noGrp="1"/>
          </p:cNvSpPr>
          <p:nvPr>
            <p:ph type="dt" sz="half" idx="10"/>
          </p:nvPr>
        </p:nvSpPr>
        <p:spPr>
          <a:xfrm>
            <a:off x="337783" y="6437199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 smtClean="0"/>
              <a:t>Data Structures &amp; Algorithm</a:t>
            </a:r>
            <a:endParaRPr lang="en-IN" dirty="0"/>
          </a:p>
        </p:txBody>
      </p:sp>
      <p:sp>
        <p:nvSpPr>
          <p:cNvPr id="16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54437" y="6437198"/>
            <a:ext cx="4756582" cy="365125"/>
          </a:xfrm>
          <a:prstGeom prst="rect">
            <a:avLst/>
          </a:prstGeom>
        </p:spPr>
        <p:txBody>
          <a:bodyPr/>
          <a:lstStyle>
            <a:lvl1pPr>
              <a:defRPr sz="1400" b="1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IN" dirty="0"/>
              <a:t>Dr. Devyani Jadhav, Dept of AIML, Sanjivani University</a:t>
            </a:r>
            <a:endParaRPr lang="en-IN" dirty="0"/>
          </a:p>
        </p:txBody>
      </p:sp>
      <p:sp>
        <p:nvSpPr>
          <p:cNvPr id="1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75146" y="6465906"/>
            <a:ext cx="1029070" cy="36512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fld id="{75B0C241-D0FA-41C4-806B-7A3C5377B352}" type="slidenum">
              <a:rPr lang="en-IN" smtClean="0"/>
            </a:fld>
            <a:endParaRPr lang="en-IN"/>
          </a:p>
        </p:txBody>
      </p:sp>
      <p:cxnSp>
        <p:nvCxnSpPr>
          <p:cNvPr id="18" name="Straight Connector 17"/>
          <p:cNvCxnSpPr/>
          <p:nvPr userDrawn="1"/>
        </p:nvCxnSpPr>
        <p:spPr>
          <a:xfrm>
            <a:off x="258931" y="6224723"/>
            <a:ext cx="11540971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 userDrawn="1"/>
        </p:nvCxnSpPr>
        <p:spPr>
          <a:xfrm>
            <a:off x="258930" y="6288346"/>
            <a:ext cx="11540971" cy="0"/>
          </a:xfrm>
          <a:prstGeom prst="line">
            <a:avLst/>
          </a:prstGeom>
          <a:ln w="571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/>
          <p:nvPr userDrawn="1"/>
        </p:nvSpPr>
        <p:spPr>
          <a:xfrm>
            <a:off x="1908698" y="293195"/>
            <a:ext cx="9267548" cy="7913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Bahnschrift Condensed" panose="020B0502040204020203" pitchFamily="34" charset="0"/>
              </a:rPr>
              <a:t>Click to edit Master title style</a:t>
            </a:r>
            <a:endParaRPr lang="en-IN" dirty="0">
              <a:latin typeface="Bahnschrift Condensed" panose="020B0502040204020203" pitchFamily="34" charset="0"/>
            </a:endParaRPr>
          </a:p>
        </p:txBody>
      </p:sp>
      <p:pic>
        <p:nvPicPr>
          <p:cNvPr id="7" name="Image 4"/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709383" cy="1156476"/>
          </a:xfrm>
          <a:prstGeom prst="rect">
            <a:avLst/>
          </a:prstGeom>
        </p:spPr>
      </p:pic>
      <p:cxnSp>
        <p:nvCxnSpPr>
          <p:cNvPr id="8" name="Straight Connector 7"/>
          <p:cNvCxnSpPr/>
          <p:nvPr userDrawn="1"/>
        </p:nvCxnSpPr>
        <p:spPr>
          <a:xfrm>
            <a:off x="124287" y="1198482"/>
            <a:ext cx="11540971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124286" y="1262105"/>
            <a:ext cx="11540971" cy="0"/>
          </a:xfrm>
          <a:prstGeom prst="line">
            <a:avLst/>
          </a:prstGeom>
          <a:ln w="571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Flowchart: Process 9"/>
          <p:cNvSpPr/>
          <p:nvPr userDrawn="1"/>
        </p:nvSpPr>
        <p:spPr>
          <a:xfrm>
            <a:off x="8878" y="6465906"/>
            <a:ext cx="12183122" cy="307712"/>
          </a:xfrm>
          <a:prstGeom prst="flowChartProcess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>
          <a:xfrm>
            <a:off x="337783" y="6437199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 smtClean="0"/>
              <a:t>Data Structures &amp; Algorithm</a:t>
            </a:r>
            <a:endParaRPr lang="en-IN" dirty="0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54437" y="6437198"/>
            <a:ext cx="4756582" cy="365125"/>
          </a:xfrm>
          <a:prstGeom prst="rect">
            <a:avLst/>
          </a:prstGeom>
        </p:spPr>
        <p:txBody>
          <a:bodyPr/>
          <a:lstStyle>
            <a:lvl1pPr>
              <a:defRPr sz="1400" b="1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IN" dirty="0"/>
              <a:t>Dr. Devyani Jadhav, Dept of AIML, Sanjivani University</a:t>
            </a:r>
            <a:endParaRPr lang="en-IN" dirty="0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75146" y="6465906"/>
            <a:ext cx="1029070" cy="36512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fld id="{75B0C241-D0FA-41C4-806B-7A3C5377B352}" type="slidenum">
              <a:rPr lang="en-IN" smtClean="0"/>
            </a:fld>
            <a:endParaRPr lang="en-IN"/>
          </a:p>
        </p:txBody>
      </p:sp>
      <p:cxnSp>
        <p:nvCxnSpPr>
          <p:cNvPr id="14" name="Straight Connector 13"/>
          <p:cNvCxnSpPr/>
          <p:nvPr userDrawn="1"/>
        </p:nvCxnSpPr>
        <p:spPr>
          <a:xfrm>
            <a:off x="258931" y="6224723"/>
            <a:ext cx="11540971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 userDrawn="1"/>
        </p:nvCxnSpPr>
        <p:spPr>
          <a:xfrm>
            <a:off x="258930" y="6288346"/>
            <a:ext cx="11540971" cy="0"/>
          </a:xfrm>
          <a:prstGeom prst="line">
            <a:avLst/>
          </a:prstGeom>
          <a:ln w="571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5705" y="741285"/>
            <a:ext cx="4779775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784894" y="1352163"/>
            <a:ext cx="5880363" cy="47756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55705" y="2341485"/>
            <a:ext cx="47797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8" name="Title 1"/>
          <p:cNvSpPr txBox="1"/>
          <p:nvPr userDrawn="1"/>
        </p:nvSpPr>
        <p:spPr>
          <a:xfrm>
            <a:off x="1935331" y="276580"/>
            <a:ext cx="9267548" cy="7913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Bahnschrift Condensed" panose="020B0502040204020203" pitchFamily="34" charset="0"/>
              </a:rPr>
              <a:t>Click to edit Master title style</a:t>
            </a:r>
            <a:endParaRPr lang="en-IN" dirty="0">
              <a:latin typeface="Bahnschrift Condensed" panose="020B0502040204020203" pitchFamily="34" charset="0"/>
            </a:endParaRPr>
          </a:p>
        </p:txBody>
      </p:sp>
      <p:pic>
        <p:nvPicPr>
          <p:cNvPr id="9" name="Image 4"/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709383" cy="1156476"/>
          </a:xfrm>
          <a:prstGeom prst="rect">
            <a:avLst/>
          </a:prstGeom>
        </p:spPr>
      </p:pic>
      <p:cxnSp>
        <p:nvCxnSpPr>
          <p:cNvPr id="10" name="Straight Connector 9"/>
          <p:cNvCxnSpPr/>
          <p:nvPr userDrawn="1"/>
        </p:nvCxnSpPr>
        <p:spPr>
          <a:xfrm>
            <a:off x="124287" y="1198482"/>
            <a:ext cx="11540971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 userDrawn="1"/>
        </p:nvCxnSpPr>
        <p:spPr>
          <a:xfrm>
            <a:off x="124286" y="1262105"/>
            <a:ext cx="11540971" cy="0"/>
          </a:xfrm>
          <a:prstGeom prst="line">
            <a:avLst/>
          </a:prstGeom>
          <a:ln w="571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Flowchart: Process 11"/>
          <p:cNvSpPr/>
          <p:nvPr userDrawn="1"/>
        </p:nvSpPr>
        <p:spPr>
          <a:xfrm>
            <a:off x="8878" y="6465906"/>
            <a:ext cx="12183122" cy="307712"/>
          </a:xfrm>
          <a:prstGeom prst="flowChartProcess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3" name="Date Placeholder 3"/>
          <p:cNvSpPr>
            <a:spLocks noGrp="1"/>
          </p:cNvSpPr>
          <p:nvPr>
            <p:ph type="dt" sz="half" idx="10"/>
          </p:nvPr>
        </p:nvSpPr>
        <p:spPr>
          <a:xfrm>
            <a:off x="337783" y="6437199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 smtClean="0"/>
              <a:t>Data Structures &amp; Algorithm</a:t>
            </a:r>
            <a:endParaRPr lang="en-IN" dirty="0"/>
          </a:p>
        </p:txBody>
      </p:sp>
      <p:sp>
        <p:nvSpPr>
          <p:cNvPr id="14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54437" y="6437198"/>
            <a:ext cx="4756582" cy="365125"/>
          </a:xfrm>
          <a:prstGeom prst="rect">
            <a:avLst/>
          </a:prstGeom>
        </p:spPr>
        <p:txBody>
          <a:bodyPr/>
          <a:lstStyle>
            <a:lvl1pPr>
              <a:defRPr sz="1400" b="1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IN" dirty="0"/>
              <a:t>Dr. Devyani Jadhav, Dept of AIML, Sanjivani University</a:t>
            </a:r>
            <a:endParaRPr lang="en-IN" dirty="0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75146" y="6465906"/>
            <a:ext cx="1029070" cy="36512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fld id="{75B0C241-D0FA-41C4-806B-7A3C5377B352}" type="slidenum">
              <a:rPr lang="en-IN" smtClean="0"/>
            </a:fld>
            <a:endParaRPr lang="en-IN"/>
          </a:p>
        </p:txBody>
      </p:sp>
      <p:cxnSp>
        <p:nvCxnSpPr>
          <p:cNvPr id="16" name="Straight Connector 15"/>
          <p:cNvCxnSpPr/>
          <p:nvPr userDrawn="1"/>
        </p:nvCxnSpPr>
        <p:spPr>
          <a:xfrm>
            <a:off x="258931" y="6224723"/>
            <a:ext cx="11540971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 userDrawn="1"/>
        </p:nvCxnSpPr>
        <p:spPr>
          <a:xfrm>
            <a:off x="258930" y="6288346"/>
            <a:ext cx="11540971" cy="0"/>
          </a:xfrm>
          <a:prstGeom prst="line">
            <a:avLst/>
          </a:prstGeom>
          <a:ln w="571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Data Structures &amp; Algorithm</a:t>
            </a:r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Dr. Devyani Jadhav, Dept of AIML, Sanjivani University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AA219-780F-40A4-8E4C-A7BED1CAA639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Data Structures &amp; Algorithm</a:t>
            </a:r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Dr. Devyani Jadhav, Dept of AIML, Sanjivani University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AA219-780F-40A4-8E4C-A7BED1CAA639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Data Structures &amp; Algorithm</a:t>
            </a:r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Dr. Devyani Jadhav, Dept of AIML, Sanjivani University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AA219-780F-40A4-8E4C-A7BED1CAA639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Data Structures &amp; Algorithm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Dr. Devyani Jadhav, Dept of AIML, Sanjivani University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AA219-780F-40A4-8E4C-A7BED1CAA639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Data Structures &amp; Algorithm</a:t>
            </a:r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Dr. Devyani Jadhav, Dept of AIML, Sanjivani University</a:t>
            </a:r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AA219-780F-40A4-8E4C-A7BED1CAA639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Data Structures &amp; Algorithm</a:t>
            </a:r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Dr. Devyani Jadhav, Dept of AIML, Sanjivani University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AA219-780F-40A4-8E4C-A7BED1CAA639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Data Structures &amp; Algorithm</a:t>
            </a:r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Dr. Devyani Jadhav, Dept of AIML, Sanjivani University</a:t>
            </a:r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AA219-780F-40A4-8E4C-A7BED1CAA639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Data Structures &amp; Algorithm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Dr. Devyani Jadhav, Dept of AIML, Sanjivani University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AA219-780F-40A4-8E4C-A7BED1CAA639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Data Structures &amp; Algorithm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Dr. Devyani Jadhav, Dept of AIML, Sanjivani University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AA219-780F-40A4-8E4C-A7BED1CAA639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Data Structures &amp; Algorithm</a:t>
            </a:r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Dr. Devyani Jadhav, Dept of AIML, Sanjivani University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AA219-780F-40A4-8E4C-A7BED1CAA639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Data Structures &amp; Algorithm</a:t>
            </a:r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Dr. Devyani Jadhav, Dept of AIML, Sanjivani University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AA219-780F-40A4-8E4C-A7BED1CAA639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theme" Target="../theme/theme1.xml"/><Relationship Id="rId8" Type="http://schemas.openxmlformats.org/officeDocument/2006/relationships/image" Target="../media/image1.jpeg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0.xml"/><Relationship Id="rId2" Type="http://schemas.openxmlformats.org/officeDocument/2006/relationships/slideLayout" Target="../slideLayouts/slideLayout9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7.xml"/><Relationship Id="rId1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1615" y="1498040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pic>
        <p:nvPicPr>
          <p:cNvPr id="8" name="Image 4"/>
          <p:cNvPicPr/>
          <p:nvPr userDrawn="1"/>
        </p:nvPicPr>
        <p:blipFill>
          <a:blip r:embed="rId8" cstate="print"/>
          <a:stretch>
            <a:fillRect/>
          </a:stretch>
        </p:blipFill>
        <p:spPr>
          <a:xfrm>
            <a:off x="0" y="0"/>
            <a:ext cx="1709383" cy="1156476"/>
          </a:xfrm>
          <a:prstGeom prst="rect">
            <a:avLst/>
          </a:prstGeom>
        </p:spPr>
      </p:pic>
      <p:cxnSp>
        <p:nvCxnSpPr>
          <p:cNvPr id="9" name="Straight Connector 8"/>
          <p:cNvCxnSpPr/>
          <p:nvPr userDrawn="1"/>
        </p:nvCxnSpPr>
        <p:spPr>
          <a:xfrm>
            <a:off x="124287" y="1198482"/>
            <a:ext cx="11540971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 userDrawn="1"/>
        </p:nvCxnSpPr>
        <p:spPr>
          <a:xfrm>
            <a:off x="124286" y="1262105"/>
            <a:ext cx="11540971" cy="0"/>
          </a:xfrm>
          <a:prstGeom prst="line">
            <a:avLst/>
          </a:prstGeom>
          <a:ln w="571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lowchart: Process 10"/>
          <p:cNvSpPr/>
          <p:nvPr userDrawn="1"/>
        </p:nvSpPr>
        <p:spPr>
          <a:xfrm>
            <a:off x="8878" y="6465906"/>
            <a:ext cx="12183122" cy="307712"/>
          </a:xfrm>
          <a:prstGeom prst="flowChartProcess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2" name="Date Placeholder 3"/>
          <p:cNvSpPr>
            <a:spLocks noGrp="1"/>
          </p:cNvSpPr>
          <p:nvPr>
            <p:ph type="dt" sz="half" idx="2"/>
          </p:nvPr>
        </p:nvSpPr>
        <p:spPr>
          <a:xfrm>
            <a:off x="337783" y="6437199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 smtClean="0"/>
              <a:t>Data Structures &amp; Algorithm</a:t>
            </a:r>
            <a:endParaRPr lang="en-IN" dirty="0"/>
          </a:p>
        </p:txBody>
      </p:sp>
      <p:sp>
        <p:nvSpPr>
          <p:cNvPr id="13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54437" y="6437198"/>
            <a:ext cx="4756582" cy="365125"/>
          </a:xfrm>
          <a:prstGeom prst="rect">
            <a:avLst/>
          </a:prstGeom>
        </p:spPr>
        <p:txBody>
          <a:bodyPr/>
          <a:lstStyle>
            <a:lvl1pPr>
              <a:defRPr sz="1400" b="1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IN" dirty="0"/>
              <a:t>Dr. Devyani Jadhav, Dept of AIML, Sanjivani University</a:t>
            </a:r>
            <a:endParaRPr lang="en-IN" dirty="0"/>
          </a:p>
        </p:txBody>
      </p:sp>
      <p:sp>
        <p:nvSpPr>
          <p:cNvPr id="14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75146" y="6465906"/>
            <a:ext cx="1029070" cy="36512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fld id="{75B0C241-D0FA-41C4-806B-7A3C5377B352}" type="slidenum">
              <a:rPr lang="en-IN" smtClean="0"/>
            </a:fld>
            <a:endParaRPr lang="en-IN"/>
          </a:p>
        </p:txBody>
      </p:sp>
      <p:cxnSp>
        <p:nvCxnSpPr>
          <p:cNvPr id="15" name="Straight Connector 14"/>
          <p:cNvCxnSpPr/>
          <p:nvPr userDrawn="1"/>
        </p:nvCxnSpPr>
        <p:spPr>
          <a:xfrm>
            <a:off x="258931" y="6224723"/>
            <a:ext cx="11540971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 userDrawn="1"/>
        </p:nvCxnSpPr>
        <p:spPr>
          <a:xfrm>
            <a:off x="258930" y="6288346"/>
            <a:ext cx="11540971" cy="0"/>
          </a:xfrm>
          <a:prstGeom prst="line">
            <a:avLst/>
          </a:prstGeom>
          <a:ln w="571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smtClean="0"/>
              <a:t>Data Structures &amp; Algorithm</a:t>
            </a:r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Dr. Devyani Jadhav, Dept of AIML, Sanjivani University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DAA219-780F-40A4-8E4C-A7BED1CAA639}" type="slidenum">
              <a:rPr lang="en-IN" smtClean="0"/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09583" y="663256"/>
            <a:ext cx="10070969" cy="1058994"/>
          </a:xfrm>
        </p:spPr>
        <p:txBody>
          <a:bodyPr/>
          <a:lstStyle/>
          <a:p>
            <a:r>
              <a:rPr lang="en-IN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</a:rPr>
              <a:t>Advance Data Structures</a:t>
            </a:r>
            <a:endParaRPr lang="en-IN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3999" y="4355412"/>
            <a:ext cx="9457267" cy="1058991"/>
          </a:xfrm>
        </p:spPr>
        <p:txBody>
          <a:bodyPr>
            <a:normAutofit fontScale="70000" lnSpcReduction="20000"/>
          </a:bodyPr>
          <a:lstStyle/>
          <a:p>
            <a:r>
              <a:rPr lang="en-IN" sz="3200" b="1" dirty="0" smtClean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Mrs. Manisha Pawar</a:t>
            </a:r>
            <a:endParaRPr lang="en-IN" sz="3200" b="1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Course Instructor</a:t>
            </a:r>
            <a:endParaRPr lang="en-IN" sz="3200" b="1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Department of </a:t>
            </a:r>
            <a:r>
              <a:rPr lang="en-IN" sz="3200" b="1" dirty="0" smtClean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CSE, COEP Technological University, Pune</a:t>
            </a:r>
            <a:endParaRPr lang="en-IN" b="1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Flowchart: Process 13"/>
          <p:cNvSpPr/>
          <p:nvPr/>
        </p:nvSpPr>
        <p:spPr>
          <a:xfrm>
            <a:off x="8878" y="6465906"/>
            <a:ext cx="12183122" cy="307712"/>
          </a:xfrm>
          <a:prstGeom prst="flowChartProcess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8" name="Straight Connector 17"/>
          <p:cNvCxnSpPr/>
          <p:nvPr/>
        </p:nvCxnSpPr>
        <p:spPr>
          <a:xfrm>
            <a:off x="258931" y="6224723"/>
            <a:ext cx="11540971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>
            <a:off x="258930" y="6288346"/>
            <a:ext cx="11540971" cy="0"/>
          </a:xfrm>
          <a:prstGeom prst="line">
            <a:avLst/>
          </a:prstGeom>
          <a:ln w="571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1"/>
          <p:cNvSpPr txBox="1"/>
          <p:nvPr/>
        </p:nvSpPr>
        <p:spPr>
          <a:xfrm>
            <a:off x="1496489" y="2523686"/>
            <a:ext cx="10070969" cy="105899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00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sz="60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  <a:cs typeface="+mj-cs"/>
              </a:rPr>
              <a:t>UNIT-1</a:t>
            </a:r>
            <a:endParaRPr lang="en-IN" sz="6000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anose="02040503050406030204" pitchFamily="18" charset="0"/>
              <a:ea typeface="Cambria" panose="02040503050406030204" pitchFamily="18" charset="0"/>
              <a:cs typeface="+mj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IN" sz="6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mbria" panose="02040503050406030204" pitchFamily="18" charset="0"/>
                <a:ea typeface="Cambria" panose="02040503050406030204" pitchFamily="18" charset="0"/>
                <a:cs typeface="+mj-cs"/>
              </a:rPr>
              <a:t>Fundamental</a:t>
            </a:r>
            <a:r>
              <a:rPr kumimoji="0" lang="en-IN" sz="6000" b="0" i="0" u="none" strike="noStrike" kern="1200" cap="none" spc="0" normalizeH="0" noProof="0" dirty="0" smtClean="0">
                <a:ln>
                  <a:noFill/>
                </a:ln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mbria" panose="02040503050406030204" pitchFamily="18" charset="0"/>
                <a:ea typeface="Cambria" panose="02040503050406030204" pitchFamily="18" charset="0"/>
                <a:cs typeface="+mj-cs"/>
              </a:rPr>
              <a:t> Concepts</a:t>
            </a:r>
            <a:endParaRPr kumimoji="0" lang="en-IN" sz="6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Cambria" panose="02040503050406030204" pitchFamily="18" charset="0"/>
              <a:ea typeface="Cambria" panose="02040503050406030204" pitchFamily="18" charset="0"/>
              <a:cs typeface="+mj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Key Points : ADT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ysClr val="windowText" lastClr="000000"/>
                </a:solidFill>
              </a:rPr>
              <a:t>Data</a:t>
            </a:r>
            <a:endParaRPr lang="en-US" dirty="0">
              <a:solidFill>
                <a:sysClr val="windowText" lastClr="000000"/>
              </a:solidFill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ysClr val="windowText" lastClr="000000"/>
                </a:solidFill>
              </a:rPr>
              <a:t>Data Type</a:t>
            </a:r>
            <a:endParaRPr lang="en-US" dirty="0">
              <a:solidFill>
                <a:sysClr val="windowText" lastClr="000000"/>
              </a:solidFill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ysClr val="windowText" lastClr="000000"/>
                </a:solidFill>
              </a:rPr>
              <a:t>Data Structure</a:t>
            </a:r>
            <a:endParaRPr lang="en-US" dirty="0">
              <a:solidFill>
                <a:sysClr val="windowText" lastClr="000000"/>
              </a:solidFill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ysClr val="windowText" lastClr="000000"/>
                </a:solidFill>
              </a:rPr>
              <a:t>Abstract Data Types</a:t>
            </a:r>
            <a:endParaRPr lang="en-US" dirty="0">
              <a:solidFill>
                <a:sysClr val="windowText" lastClr="000000"/>
              </a:solidFill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ysClr val="windowText" lastClr="000000"/>
                </a:solidFill>
              </a:rPr>
              <a:t>Realization of Data Types</a:t>
            </a:r>
            <a:endParaRPr lang="en-US" dirty="0">
              <a:solidFill>
                <a:sysClr val="windowText" lastClr="000000"/>
              </a:solidFill>
            </a:endParaRPr>
          </a:p>
          <a:p>
            <a:pPr>
              <a:buFont typeface="Wingdings" panose="05000000000000000000" pitchFamily="2" charset="2"/>
              <a:buChar char="§"/>
            </a:pPr>
            <a:endParaRPr lang="en-US" dirty="0">
              <a:solidFill>
                <a:sysClr val="windowText" lastClr="000000"/>
              </a:solidFill>
            </a:endParaRPr>
          </a:p>
          <a:p>
            <a:pPr>
              <a:buFont typeface="Wingdings" panose="05000000000000000000" pitchFamily="2" charset="2"/>
              <a:buChar char="§"/>
            </a:pPr>
            <a:endParaRPr lang="en-US" dirty="0">
              <a:solidFill>
                <a:sysClr val="windowText" lastClr="000000"/>
              </a:solidFill>
            </a:endParaRPr>
          </a:p>
          <a:p>
            <a:pPr>
              <a:buFont typeface="Wingdings" panose="05000000000000000000" pitchFamily="2" charset="2"/>
              <a:buChar char="§"/>
            </a:pPr>
            <a:endParaRPr lang="en-US" dirty="0">
              <a:solidFill>
                <a:sysClr val="windowText" lastClr="000000"/>
              </a:solidFill>
            </a:endParaRPr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0C241-D0FA-41C4-806B-7A3C5377B352}" type="slidenum">
              <a:rPr lang="en-IN" smtClean="0"/>
            </a:fld>
            <a:endParaRPr lang="en-IN"/>
          </a:p>
        </p:txBody>
      </p:sp>
      <p:pic>
        <p:nvPicPr>
          <p:cNvPr id="7" name="Picture 6" descr="College-of-Engineering-Pune-Logo.png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>
            <a:off x="0" y="0"/>
            <a:ext cx="1794294" cy="119044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Simply set of values.</a:t>
            </a:r>
            <a:endParaRPr lang="en-US" dirty="0"/>
          </a:p>
          <a:p>
            <a:r>
              <a:rPr lang="en-US" dirty="0"/>
              <a:t>In C/C++  language: </a:t>
            </a:r>
            <a:endParaRPr lang="en-US" dirty="0"/>
          </a:p>
          <a:p>
            <a:pPr lvl="1"/>
            <a:r>
              <a:rPr lang="en-US" dirty="0"/>
              <a:t>Integer data values 0……..9</a:t>
            </a:r>
            <a:endParaRPr lang="en-US" dirty="0"/>
          </a:p>
          <a:p>
            <a:pPr lvl="1"/>
            <a:r>
              <a:rPr lang="en-US" dirty="0"/>
              <a:t>Character: A…Z, a…..z</a:t>
            </a:r>
            <a:endParaRPr lang="en-US" dirty="0"/>
          </a:p>
          <a:p>
            <a:pPr lvl="1"/>
            <a:r>
              <a:rPr lang="en-US" dirty="0"/>
              <a:t>A data items refers to single unit of values.</a:t>
            </a:r>
            <a:endParaRPr lang="en-US" dirty="0"/>
          </a:p>
          <a:p>
            <a:r>
              <a:rPr lang="en-US" dirty="0"/>
              <a:t>If Data items are divided into subitems then not called basic items</a:t>
            </a:r>
            <a:endParaRPr lang="en-US" dirty="0"/>
          </a:p>
          <a:p>
            <a:r>
              <a:rPr lang="en-US" dirty="0"/>
              <a:t>Collection of data are frequently organized into hierarchy of fields, records</a:t>
            </a:r>
            <a:r>
              <a:rPr lang="en-US" dirty="0" smtClean="0"/>
              <a:t>.</a:t>
            </a:r>
            <a:endParaRPr lang="en-US" dirty="0" smtClean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0C241-D0FA-41C4-806B-7A3C5377B352}" type="slidenum">
              <a:rPr lang="en-IN" smtClean="0"/>
            </a:fld>
            <a:endParaRPr lang="en-IN"/>
          </a:p>
        </p:txBody>
      </p:sp>
      <p:pic>
        <p:nvPicPr>
          <p:cNvPr id="7" name="Picture 6" descr="College-of-Engineering-Pune-Logo.png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>
            <a:off x="0" y="0"/>
            <a:ext cx="1794294" cy="119044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Data: Atomic vs Composite Data 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70C0"/>
                </a:solidFill>
              </a:rPr>
              <a:t>Atomic Data:</a:t>
            </a:r>
            <a:endParaRPr lang="en-US" dirty="0">
              <a:solidFill>
                <a:srgbClr val="0070C0"/>
              </a:solidFill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Consider as single, Non decomposable data/entity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Can’t divided into subparts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70C0"/>
                </a:solidFill>
              </a:rPr>
              <a:t>Atomic Data Type:</a:t>
            </a:r>
            <a:endParaRPr lang="en-US" dirty="0">
              <a:solidFill>
                <a:srgbClr val="0070C0"/>
              </a:solidFill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ysClr val="windowText" lastClr="000000"/>
                </a:solidFill>
              </a:rPr>
              <a:t>Set of atomic data with identical properties.</a:t>
            </a:r>
            <a:endParaRPr lang="en-US" dirty="0">
              <a:solidFill>
                <a:sysClr val="windowText" lastClr="000000"/>
              </a:solidFill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ysClr val="windowText" lastClr="000000"/>
                </a:solidFill>
              </a:rPr>
              <a:t>It consist of set values and set of operations on values</a:t>
            </a:r>
            <a:endParaRPr lang="en-US" dirty="0">
              <a:solidFill>
                <a:sysClr val="windowText" lastClr="000000"/>
              </a:solidFill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ysClr val="windowText" lastClr="000000"/>
                </a:solidFill>
              </a:rPr>
              <a:t>Ex:</a:t>
            </a:r>
            <a:endParaRPr lang="en-US" dirty="0">
              <a:solidFill>
                <a:sysClr val="windowText" lastClr="000000"/>
              </a:solidFill>
            </a:endParaRPr>
          </a:p>
          <a:p>
            <a:pPr lvl="2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ysClr val="windowText" lastClr="000000"/>
                </a:solidFill>
              </a:rPr>
              <a:t>Character: ‘A’ ….’Z’, ‘a’…..’z’……’\0’ etc. Operations: compare character </a:t>
            </a:r>
            <a:r>
              <a:rPr lang="en-US" dirty="0" err="1">
                <a:solidFill>
                  <a:sysClr val="windowText" lastClr="000000"/>
                </a:solidFill>
              </a:rPr>
              <a:t>etc</a:t>
            </a:r>
            <a:endParaRPr lang="en-US" dirty="0">
              <a:solidFill>
                <a:sysClr val="windowText" lastClr="000000"/>
              </a:solidFill>
            </a:endParaRPr>
          </a:p>
          <a:p>
            <a:pPr lvl="2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ysClr val="windowText" lastClr="000000"/>
                </a:solidFill>
              </a:rPr>
              <a:t>Integer Value: 100, 1, 67850, 7643 operation: </a:t>
            </a:r>
            <a:r>
              <a:rPr lang="en-US" dirty="0" err="1">
                <a:solidFill>
                  <a:sysClr val="windowText" lastClr="000000"/>
                </a:solidFill>
              </a:rPr>
              <a:t>Arithmatic</a:t>
            </a:r>
            <a:r>
              <a:rPr lang="en-US" dirty="0">
                <a:solidFill>
                  <a:sysClr val="windowText" lastClr="000000"/>
                </a:solidFill>
              </a:rPr>
              <a:t> operations, compare </a:t>
            </a:r>
            <a:r>
              <a:rPr lang="en-US" dirty="0" err="1">
                <a:solidFill>
                  <a:sysClr val="windowText" lastClr="000000"/>
                </a:solidFill>
              </a:rPr>
              <a:t>etc</a:t>
            </a:r>
            <a:endParaRPr lang="en-US" dirty="0">
              <a:solidFill>
                <a:sysClr val="windowText" lastClr="000000"/>
              </a:solidFill>
            </a:endParaRPr>
          </a:p>
          <a:p>
            <a:pPr lvl="1">
              <a:buFont typeface="Wingdings" panose="05000000000000000000" pitchFamily="2" charset="2"/>
              <a:buChar char="§"/>
            </a:pPr>
            <a:endParaRPr lang="en-US" dirty="0">
              <a:solidFill>
                <a:sysClr val="windowText" lastClr="000000"/>
              </a:solidFill>
            </a:endParaRPr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0C241-D0FA-41C4-806B-7A3C5377B352}" type="slidenum">
              <a:rPr lang="en-IN" smtClean="0"/>
            </a:fld>
            <a:endParaRPr lang="en-IN"/>
          </a:p>
        </p:txBody>
      </p:sp>
      <p:pic>
        <p:nvPicPr>
          <p:cNvPr id="7" name="Picture 6" descr="College-of-Engineering-Pune-Logo.png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>
            <a:off x="0" y="0"/>
            <a:ext cx="1794294" cy="11904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Data: Atomic vs Composite Data 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70C0"/>
                </a:solidFill>
              </a:rPr>
              <a:t>Composite Data:</a:t>
            </a:r>
            <a:endParaRPr lang="en-US" dirty="0">
              <a:solidFill>
                <a:srgbClr val="0070C0"/>
              </a:solidFill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ysClr val="windowText" lastClr="000000"/>
                </a:solidFill>
              </a:rPr>
              <a:t>Composition of several atomic data</a:t>
            </a:r>
            <a:endParaRPr lang="en-US" dirty="0">
              <a:solidFill>
                <a:sysClr val="windowText" lastClr="000000"/>
              </a:solidFill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ysClr val="windowText" lastClr="000000"/>
                </a:solidFill>
              </a:rPr>
              <a:t>Divided into atomic data with </a:t>
            </a:r>
            <a:endParaRPr lang="en-US" dirty="0">
              <a:solidFill>
                <a:sysClr val="windowText" lastClr="000000"/>
              </a:solidFill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ysClr val="windowText" lastClr="000000"/>
                </a:solidFill>
              </a:rPr>
              <a:t>Ex: </a:t>
            </a:r>
            <a:endParaRPr lang="en-US" dirty="0">
              <a:solidFill>
                <a:sysClr val="windowText" lastClr="000000"/>
              </a:solidFill>
            </a:endParaRPr>
          </a:p>
          <a:p>
            <a:pPr lvl="2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ysClr val="windowText" lastClr="000000"/>
                </a:solidFill>
              </a:rPr>
              <a:t>Employee name</a:t>
            </a:r>
            <a:endParaRPr lang="en-US" dirty="0">
              <a:solidFill>
                <a:sysClr val="windowText" lastClr="000000"/>
              </a:solidFill>
            </a:endParaRPr>
          </a:p>
          <a:p>
            <a:pPr lvl="3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ysClr val="windowText" lastClr="000000"/>
                </a:solidFill>
              </a:rPr>
              <a:t>First name, Last name, Middle Name</a:t>
            </a:r>
            <a:endParaRPr lang="en-US" dirty="0">
              <a:solidFill>
                <a:sysClr val="windowText" lastClr="000000"/>
              </a:solidFill>
            </a:endParaRPr>
          </a:p>
          <a:p>
            <a:pPr lvl="2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ysClr val="windowText" lastClr="000000"/>
                </a:solidFill>
              </a:rPr>
              <a:t>Telephone number:</a:t>
            </a:r>
            <a:endParaRPr lang="en-US" dirty="0">
              <a:solidFill>
                <a:sysClr val="windowText" lastClr="000000"/>
              </a:solidFill>
            </a:endParaRPr>
          </a:p>
          <a:p>
            <a:pPr lvl="3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ysClr val="windowText" lastClr="000000"/>
                </a:solidFill>
              </a:rPr>
              <a:t>Area code, extension no, phone number,</a:t>
            </a:r>
            <a:endParaRPr lang="en-US" dirty="0">
              <a:solidFill>
                <a:sysClr val="windowText" lastClr="000000"/>
              </a:solidFill>
            </a:endParaRPr>
          </a:p>
          <a:p>
            <a:pPr lvl="2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ysClr val="windowText" lastClr="000000"/>
                </a:solidFill>
              </a:rPr>
              <a:t>Date of birth: </a:t>
            </a:r>
            <a:endParaRPr lang="en-US" dirty="0">
              <a:solidFill>
                <a:sysClr val="windowText" lastClr="000000"/>
              </a:solidFill>
            </a:endParaRPr>
          </a:p>
          <a:p>
            <a:pPr lvl="3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ysClr val="windowText" lastClr="000000"/>
                </a:solidFill>
              </a:rPr>
              <a:t>Day, month, year</a:t>
            </a:r>
            <a:endParaRPr lang="en-US" dirty="0">
              <a:solidFill>
                <a:sysClr val="windowText" lastClr="000000"/>
              </a:solidFill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ysClr val="windowText" lastClr="000000"/>
                </a:solidFill>
              </a:rPr>
              <a:t>Composite data are used in terms as data structure.</a:t>
            </a:r>
            <a:endParaRPr lang="en-US" dirty="0">
              <a:solidFill>
                <a:sysClr val="windowText" lastClr="000000"/>
              </a:solidFill>
            </a:endParaRPr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0C241-D0FA-41C4-806B-7A3C5377B352}" type="slidenum">
              <a:rPr lang="en-IN" smtClean="0"/>
            </a:fld>
            <a:endParaRPr lang="en-IN"/>
          </a:p>
        </p:txBody>
      </p:sp>
      <p:pic>
        <p:nvPicPr>
          <p:cNvPr id="7" name="Picture 6" descr="College-of-Engineering-Pune-Logo.png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>
            <a:off x="0" y="0"/>
            <a:ext cx="1794294" cy="119044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 Types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7783" y="1576896"/>
            <a:ext cx="10515600" cy="4522245"/>
          </a:xfrm>
        </p:spPr>
        <p:txBody>
          <a:bodyPr>
            <a:normAutofit fontScale="92500" lnSpcReduction="1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A Data type consist of two parts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70C0"/>
                </a:solidFill>
              </a:rPr>
              <a:t>Set of data</a:t>
            </a:r>
            <a:endParaRPr lang="en-US" dirty="0">
              <a:solidFill>
                <a:srgbClr val="0070C0"/>
              </a:solidFill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70C0"/>
                </a:solidFill>
              </a:rPr>
              <a:t>The operations that can be performed on the data.</a:t>
            </a:r>
            <a:endParaRPr lang="en-US" dirty="0">
              <a:solidFill>
                <a:srgbClr val="0070C0"/>
              </a:solidFill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Term which </a:t>
            </a:r>
            <a:r>
              <a:rPr lang="en-US" dirty="0">
                <a:solidFill>
                  <a:srgbClr val="00B050"/>
                </a:solidFill>
              </a:rPr>
              <a:t>refers to kind of data </a:t>
            </a:r>
            <a:r>
              <a:rPr lang="en-US" dirty="0"/>
              <a:t>that variable may hold.</a:t>
            </a: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Data types are primarily used in computer programming, in which variables are created to store data. </a:t>
            </a: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Each variable is assigned a data type that determines what type of data/ value the variable may contain.</a:t>
            </a: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A data type is a classification of data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 </a:t>
            </a:r>
            <a:r>
              <a:rPr lang="en-US" dirty="0" smtClean="0"/>
              <a:t>Which </a:t>
            </a:r>
            <a:r>
              <a:rPr lang="en-US" dirty="0"/>
              <a:t>can store a specific type of information.</a:t>
            </a:r>
            <a:endParaRPr lang="en-US" dirty="0"/>
          </a:p>
          <a:p>
            <a:pPr lvl="1">
              <a:buClr>
                <a:srgbClr val="000000"/>
              </a:buClr>
              <a:buFont typeface="Wingdings" panose="05000000000000000000" pitchFamily="2" charset="2"/>
              <a:buChar char="§"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Ex. </a:t>
            </a:r>
            <a:r>
              <a:rPr lang="en-US" dirty="0">
                <a:solidFill>
                  <a:sysClr val="windowText" lastClr="000000"/>
                </a:solidFill>
              </a:rPr>
              <a:t>float</a:t>
            </a:r>
            <a:r>
              <a:rPr lang="en-US" dirty="0">
                <a:solidFill>
                  <a:sysClr val="windowText" lastClr="000000"/>
                </a:solidFill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ysClr val="windowText" lastClr="000000"/>
                </a:solidFill>
              </a:rPr>
              <a:t> 90.9, 89.57</a:t>
            </a:r>
            <a:endParaRPr lang="en-US" dirty="0">
              <a:solidFill>
                <a:sysClr val="windowText" lastClr="000000"/>
              </a:solidFill>
            </a:endParaRPr>
          </a:p>
          <a:p>
            <a:pPr lvl="1">
              <a:buClr>
                <a:srgbClr val="000000"/>
              </a:buClr>
              <a:buFont typeface="Wingdings" panose="05000000000000000000" pitchFamily="2" charset="2"/>
              <a:buChar char="§"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Integer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sym typeface="Wingdings" panose="05000000000000000000" pitchFamily="2" charset="2"/>
              </a:rPr>
              <a:t> 122, 57, 2, 45789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0C241-D0FA-41C4-806B-7A3C5377B352}" type="slidenum">
              <a:rPr lang="en-IN" smtClean="0"/>
            </a:fld>
            <a:endParaRPr lang="en-IN"/>
          </a:p>
        </p:txBody>
      </p:sp>
      <p:pic>
        <p:nvPicPr>
          <p:cNvPr id="7" name="Picture 6" descr="College-of-Engineering-Pune-Logo.png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>
            <a:off x="0" y="0"/>
            <a:ext cx="1794294" cy="119044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Built in Data Types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Primary </a:t>
            </a:r>
            <a:r>
              <a:rPr lang="en-US" dirty="0" smtClean="0"/>
              <a:t>Data/Primitive/ </a:t>
            </a:r>
            <a:r>
              <a:rPr lang="en-US" dirty="0"/>
              <a:t>Built in </a:t>
            </a:r>
            <a:r>
              <a:rPr lang="en-US" dirty="0" smtClean="0"/>
              <a:t>data/Basic data type: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Integer, float, character, void</a:t>
            </a: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Derived</a:t>
            </a:r>
            <a:r>
              <a:rPr kumimoji="0" lang="en-US" b="0" i="0" u="none" strike="noStrike" kern="1200" cap="none" spc="0" normalizeH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</a:t>
            </a:r>
            <a:r>
              <a:rPr kumimoji="0" lang="en-US" b="0" i="0" u="none" strike="noStrike" kern="1200" cap="none" spc="0" normalizeH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Data/ Non Primitive: </a:t>
            </a:r>
            <a:endParaRPr kumimoji="0" lang="en-US" b="0" i="0" u="none" strike="noStrike" kern="1200" cap="none" spc="0" normalizeH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kumimoji="0" lang="en-US" b="0" i="0" u="none" strike="noStrike" kern="1200" cap="none" spc="0" normalizeH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Array, Function, Pointer</a:t>
            </a:r>
            <a:endParaRPr kumimoji="0" lang="en-US" b="0" i="0" u="none" strike="noStrike" kern="1200" cap="none" spc="0" normalizeH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  <a:p>
            <a:pPr>
              <a:buFont typeface="Wingdings" panose="05000000000000000000" pitchFamily="2" charset="2"/>
              <a:buChar char="§"/>
            </a:pPr>
            <a:endParaRPr lang="en-US" baseline="0" dirty="0">
              <a:solidFill>
                <a:sysClr val="windowText" lastClr="000000"/>
              </a:solidFill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kumimoji="0" lang="en-US" b="0" i="0" u="none" strike="noStrike" kern="1200" cap="none" spc="0" normalizeH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User Defined Data Type: </a:t>
            </a:r>
            <a:endParaRPr kumimoji="0" lang="en-US" b="0" i="0" u="none" strike="noStrike" kern="1200" cap="none" spc="0" normalizeH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kumimoji="0" lang="en-US" b="0" i="0" u="none" strike="noStrike" kern="1200" cap="none" spc="0" normalizeH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Enumeration</a:t>
            </a:r>
            <a:r>
              <a:rPr lang="en-US" dirty="0">
                <a:solidFill>
                  <a:sysClr val="windowText" lastClr="000000"/>
                </a:solidFill>
              </a:rPr>
              <a:t>, </a:t>
            </a:r>
            <a:r>
              <a:rPr lang="en-US" dirty="0" err="1" smtClean="0">
                <a:solidFill>
                  <a:sysClr val="windowText" lastClr="000000"/>
                </a:solidFill>
              </a:rPr>
              <a:t>Typedef</a:t>
            </a:r>
            <a:r>
              <a:rPr lang="en-US" dirty="0" smtClean="0">
                <a:solidFill>
                  <a:sysClr val="windowText" lastClr="000000"/>
                </a:solidFill>
              </a:rPr>
              <a:t>, Structure, Union, </a:t>
            </a:r>
            <a:endParaRPr kumimoji="0" lang="en-US" b="0" i="0" u="none" strike="noStrike" kern="1200" cap="none" spc="0" normalizeH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0C241-D0FA-41C4-806B-7A3C5377B352}" type="slidenum">
              <a:rPr lang="en-IN" smtClean="0"/>
            </a:fld>
            <a:endParaRPr lang="en-IN"/>
          </a:p>
        </p:txBody>
      </p:sp>
      <p:pic>
        <p:nvPicPr>
          <p:cNvPr id="7" name="Picture 6" descr="College-of-Engineering-Pune-Logo.png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>
            <a:off x="0" y="0"/>
            <a:ext cx="1794294" cy="11904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Classification of Data Type</a:t>
            </a:r>
            <a:endParaRPr lang="en-US" dirty="0"/>
          </a:p>
        </p:txBody>
      </p:sp>
      <p:pic>
        <p:nvPicPr>
          <p:cNvPr id="5" name="Content Placeholder 4" descr="data type.png"/>
          <p:cNvPicPr>
            <a:picLocks noGrp="1" noChangeAspect="1"/>
          </p:cNvPicPr>
          <p:nvPr>
            <p:ph idx="1"/>
          </p:nvPr>
        </p:nvPicPr>
        <p:blipFill>
          <a:blip r:embed="rId1" cstate="print"/>
          <a:stretch>
            <a:fillRect/>
          </a:stretch>
        </p:blipFill>
        <p:spPr>
          <a:xfrm>
            <a:off x="2204503" y="1758576"/>
            <a:ext cx="7649643" cy="3848637"/>
          </a:xfr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0C241-D0FA-41C4-806B-7A3C5377B352}" type="slidenum">
              <a:rPr lang="en-IN" smtClean="0"/>
            </a:fld>
            <a:endParaRPr lang="en-IN"/>
          </a:p>
        </p:txBody>
      </p:sp>
      <p:pic>
        <p:nvPicPr>
          <p:cNvPr id="6" name="Picture 5" descr="College-of-Engineering-Pune-Logo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794294" cy="11904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 Structure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It is an </a:t>
            </a:r>
            <a:r>
              <a:rPr lang="en-US" dirty="0">
                <a:solidFill>
                  <a:srgbClr val="00B050"/>
                </a:solidFill>
              </a:rPr>
              <a:t>aggregation of atomic and composite data </a:t>
            </a:r>
            <a:r>
              <a:rPr lang="en-US" dirty="0"/>
              <a:t>type into a set with defined relationship.</a:t>
            </a: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r>
              <a:rPr kumimoji="0" lang="en-US" b="0" i="0" u="none" strike="noStrike" kern="1200" cap="none" spc="0" normalizeH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</a:rPr>
              <a:t>Structure refers</a:t>
            </a:r>
            <a:r>
              <a:rPr kumimoji="0" lang="en-US" b="0" i="0" u="none" strike="noStrike" kern="1200" cap="none" spc="0" normalizeH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: set of rules that hold the data together.</a:t>
            </a:r>
            <a:endParaRPr kumimoji="0" lang="en-US" b="0" i="0" u="none" strike="noStrike" kern="1200" cap="none" spc="0" normalizeH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noProof="0" dirty="0">
                <a:solidFill>
                  <a:sysClr val="windowText" lastClr="000000"/>
                </a:solidFill>
              </a:rPr>
              <a:t>i.e. set od association or relationship</a:t>
            </a:r>
            <a:endParaRPr kumimoji="0" lang="en-US" b="0" i="0" u="none" strike="noStrike" kern="1200" cap="none" spc="0" normalizeH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  <a:p>
            <a:pPr>
              <a:buClr>
                <a:srgbClr val="000000"/>
              </a:buClr>
              <a:buFont typeface="Wingdings" panose="05000000000000000000" pitchFamily="2" charset="2"/>
              <a:buChar char="§"/>
              <a:defRPr/>
            </a:pPr>
            <a:r>
              <a:rPr lang="en-US" dirty="0">
                <a:solidFill>
                  <a:sysClr val="windowText" lastClr="000000"/>
                </a:solidFill>
              </a:rPr>
              <a:t>Data may be organized many different ways</a:t>
            </a:r>
            <a:endParaRPr lang="en-US" dirty="0">
              <a:solidFill>
                <a:sysClr val="windowText" lastClr="000000"/>
              </a:solidFill>
            </a:endParaRPr>
          </a:p>
          <a:p>
            <a:pPr>
              <a:buClr>
                <a:srgbClr val="000000"/>
              </a:buClr>
              <a:buFont typeface="Wingdings" panose="05000000000000000000" pitchFamily="2" charset="2"/>
              <a:buChar char="§"/>
              <a:defRPr/>
            </a:pPr>
            <a:r>
              <a:rPr lang="en-US" dirty="0">
                <a:solidFill>
                  <a:sysClr val="windowText" lastClr="000000"/>
                </a:solidFill>
              </a:rPr>
              <a:t>Data structure:  Logical or mathematical model of particular organization of data.</a:t>
            </a:r>
            <a:endParaRPr lang="en-US" dirty="0">
              <a:solidFill>
                <a:sysClr val="windowText" lastClr="000000"/>
              </a:solidFill>
            </a:endParaRPr>
          </a:p>
          <a:p>
            <a:pPr lvl="1">
              <a:buClr>
                <a:srgbClr val="000000"/>
              </a:buClr>
              <a:buFont typeface="Wingdings" panose="05000000000000000000" pitchFamily="2" charset="2"/>
              <a:buChar char="§"/>
              <a:defRPr/>
            </a:pPr>
            <a:r>
              <a:rPr lang="en-US" dirty="0">
                <a:solidFill>
                  <a:sysClr val="windowText" lastClr="000000"/>
                </a:solidFill>
              </a:rPr>
              <a:t>It is distinguished from data object is that describe data object and the way that they are related .</a:t>
            </a:r>
            <a:endParaRPr lang="en-US" dirty="0">
              <a:solidFill>
                <a:sysClr val="windowText" lastClr="000000"/>
              </a:solidFill>
            </a:endParaRPr>
          </a:p>
          <a:p>
            <a:pPr lvl="1">
              <a:buClr>
                <a:srgbClr val="000000"/>
              </a:buClr>
              <a:buFont typeface="Wingdings" panose="05000000000000000000" pitchFamily="2" charset="2"/>
              <a:buChar char="§"/>
              <a:defRPr/>
            </a:pPr>
            <a:r>
              <a:rPr lang="en-US" dirty="0">
                <a:solidFill>
                  <a:sysClr val="windowText" lastClr="000000"/>
                </a:solidFill>
              </a:rPr>
              <a:t>Set of operations which may be applied to elements of data object </a:t>
            </a:r>
            <a:endParaRPr lang="en-US" dirty="0">
              <a:solidFill>
                <a:sysClr val="windowText" lastClr="000000"/>
              </a:solidFill>
            </a:endParaRPr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0C241-D0FA-41C4-806B-7A3C5377B352}" type="slidenum">
              <a:rPr lang="en-IN" smtClean="0"/>
            </a:fld>
            <a:endParaRPr lang="en-IN"/>
          </a:p>
        </p:txBody>
      </p:sp>
      <p:pic>
        <p:nvPicPr>
          <p:cNvPr id="7" name="Picture 6" descr="College-of-Engineering-Pune-Logo.png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>
            <a:off x="0" y="0"/>
            <a:ext cx="1794294" cy="119044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 Structure: 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Primitive data structures:</a:t>
            </a:r>
            <a:r>
              <a:rPr lang="en-US" dirty="0"/>
              <a:t> </a:t>
            </a:r>
            <a:endParaRPr lang="en-US" dirty="0"/>
          </a:p>
          <a:p>
            <a:pPr lvl="1"/>
            <a:r>
              <a:rPr lang="en-US" dirty="0"/>
              <a:t>Basic data structures and are directly operated upon by the machine instructions, which is in a primitive level. </a:t>
            </a:r>
            <a:endParaRPr lang="en-US" dirty="0"/>
          </a:p>
          <a:p>
            <a:pPr lvl="1"/>
            <a:r>
              <a:rPr lang="en-US" dirty="0"/>
              <a:t>Example: integers, floating point numbers, characters, string constants, pointers etc.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Non-primitive data structures:</a:t>
            </a:r>
            <a:endParaRPr lang="en-US" b="1" dirty="0">
              <a:solidFill>
                <a:srgbClr val="FF0000"/>
              </a:solidFill>
            </a:endParaRPr>
          </a:p>
          <a:p>
            <a:pPr lvl="1"/>
            <a:r>
              <a:rPr lang="en-US" dirty="0"/>
              <a:t>Data structure emphasizing on structuring of a group of </a:t>
            </a:r>
            <a:endParaRPr lang="en-US" dirty="0"/>
          </a:p>
          <a:p>
            <a:pPr lvl="2"/>
            <a:r>
              <a:rPr lang="en-US" dirty="0"/>
              <a:t>homogeneous (same type) or </a:t>
            </a:r>
            <a:endParaRPr lang="en-US" dirty="0"/>
          </a:p>
          <a:p>
            <a:pPr lvl="2"/>
            <a:r>
              <a:rPr lang="en-US" dirty="0"/>
              <a:t>Heterogeneous (different type) data items. </a:t>
            </a:r>
            <a:endParaRPr lang="en-US" dirty="0"/>
          </a:p>
          <a:p>
            <a:pPr lvl="1"/>
            <a:r>
              <a:rPr lang="en-US" dirty="0"/>
              <a:t>Example: Array, list, files, linked list, trees and graphs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0C241-D0FA-41C4-806B-7A3C5377B352}" type="slidenum">
              <a:rPr lang="en-IN" smtClean="0"/>
            </a:fld>
            <a:endParaRPr lang="en-IN"/>
          </a:p>
        </p:txBody>
      </p:sp>
      <p:pic>
        <p:nvPicPr>
          <p:cNvPr id="7" name="Picture 6" descr="College-of-Engineering-Pune-Logo.png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>
            <a:off x="0" y="0"/>
            <a:ext cx="1794294" cy="119044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Classification of Data structure</a:t>
            </a:r>
            <a:endParaRPr lang="en-IN" dirty="0"/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idx="1"/>
          </p:nvPr>
        </p:nvPicPr>
        <p:blipFill>
          <a:blip r:embed="rId1" cstate="print"/>
          <a:stretch>
            <a:fillRect/>
          </a:stretch>
        </p:blipFill>
        <p:spPr>
          <a:xfrm>
            <a:off x="1699722" y="1723787"/>
            <a:ext cx="7735380" cy="3410426"/>
          </a:xfr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0C241-D0FA-41C4-806B-7A3C5377B352}" type="slidenum">
              <a:rPr lang="en-IN" smtClean="0"/>
            </a:fld>
            <a:endParaRPr lang="en-IN"/>
          </a:p>
        </p:txBody>
      </p:sp>
      <p:pic>
        <p:nvPicPr>
          <p:cNvPr id="7" name="Picture 6" descr="College-of-Engineering-Pune-Logo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794294" cy="119044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 Structure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7150" indent="-228600">
              <a:lnSpc>
                <a:spcPct val="90000"/>
              </a:lnSpc>
              <a:buFont typeface="Wingdings" panose="05000000000000000000" pitchFamily="2" charset="2"/>
              <a:buChar char="§"/>
            </a:pPr>
            <a:r>
              <a:rPr lang="en-US" sz="2800" dirty="0"/>
              <a:t>Ex: </a:t>
            </a:r>
            <a:endParaRPr lang="en-US" sz="2800" dirty="0"/>
          </a:p>
          <a:p>
            <a:pPr marL="514350" lvl="1" indent="-228600">
              <a:lnSpc>
                <a:spcPct val="90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solidFill>
                  <a:srgbClr val="0070C0"/>
                </a:solidFill>
              </a:rPr>
              <a:t>Array: </a:t>
            </a:r>
            <a:r>
              <a:rPr lang="en-US" sz="2800" dirty="0"/>
              <a:t>homogeneous sequence of data/ data type know as element</a:t>
            </a:r>
            <a:endParaRPr lang="en-US" sz="2800" dirty="0"/>
          </a:p>
          <a:p>
            <a:pPr marL="971550" lvl="2" indent="-228600">
              <a:lnSpc>
                <a:spcPct val="90000"/>
              </a:lnSpc>
              <a:buFont typeface="Wingdings" panose="05000000000000000000" pitchFamily="2" charset="2"/>
              <a:buChar char="§"/>
            </a:pPr>
            <a:r>
              <a:rPr lang="en-US" sz="2800" dirty="0"/>
              <a:t>Association is position among element. </a:t>
            </a:r>
            <a:endParaRPr lang="en-US" sz="2800" dirty="0"/>
          </a:p>
          <a:p>
            <a:pPr marL="971550" lvl="2" indent="-228600">
              <a:lnSpc>
                <a:spcPct val="90000"/>
              </a:lnSpc>
              <a:buFont typeface="Wingdings" panose="05000000000000000000" pitchFamily="2" charset="2"/>
              <a:buChar char="§"/>
            </a:pPr>
            <a:endParaRPr lang="en-US" sz="2800" dirty="0"/>
          </a:p>
          <a:p>
            <a:pPr marL="514350" lvl="1" indent="-228600">
              <a:lnSpc>
                <a:spcPct val="90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solidFill>
                  <a:srgbClr val="0070C0"/>
                </a:solidFill>
              </a:rPr>
              <a:t>Records</a:t>
            </a:r>
            <a:r>
              <a:rPr lang="en-US" sz="2800" dirty="0"/>
              <a:t>: heterogeneous combination of data into single structure with an key</a:t>
            </a:r>
            <a:endParaRPr lang="en-US" sz="2800" dirty="0"/>
          </a:p>
          <a:p>
            <a:pPr marL="971550" lvl="2" indent="-228600">
              <a:lnSpc>
                <a:spcPct val="90000"/>
              </a:lnSpc>
              <a:buFont typeface="Wingdings" panose="05000000000000000000" pitchFamily="2" charset="2"/>
              <a:buChar char="§"/>
            </a:pPr>
            <a:r>
              <a:rPr lang="en-US" sz="2800" dirty="0"/>
              <a:t>No association.</a:t>
            </a:r>
            <a:endParaRPr lang="en-US" sz="2800" dirty="0"/>
          </a:p>
          <a:p>
            <a:pPr marL="57150" indent="-228600">
              <a:lnSpc>
                <a:spcPct val="90000"/>
              </a:lnSpc>
              <a:buFont typeface="Wingdings" panose="05000000000000000000" pitchFamily="2" charset="2"/>
              <a:buChar char="§"/>
            </a:pPr>
            <a:r>
              <a:rPr lang="en-US" sz="2800" dirty="0"/>
              <a:t>Data structure can be nested: Data structure within data structure.</a:t>
            </a:r>
            <a:endParaRPr lang="en-US" sz="28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0C241-D0FA-41C4-806B-7A3C5377B352}" type="slidenum">
              <a:rPr lang="en-IN" smtClean="0"/>
            </a:fld>
            <a:endParaRPr lang="en-IN"/>
          </a:p>
        </p:txBody>
      </p:sp>
      <p:pic>
        <p:nvPicPr>
          <p:cNvPr id="7" name="Picture 6" descr="College-of-Engineering-Pune-Logo.png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>
            <a:off x="0" y="0"/>
            <a:ext cx="1794294" cy="119044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Abstract Data Type: ADT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B050"/>
                </a:solidFill>
              </a:rPr>
              <a:t>Need:</a:t>
            </a:r>
            <a:endParaRPr lang="en-US" dirty="0">
              <a:solidFill>
                <a:srgbClr val="00B050"/>
              </a:solidFill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ysClr val="windowText" lastClr="000000"/>
                </a:solidFill>
              </a:rPr>
              <a:t>Programmer need to implement his own data type, </a:t>
            </a:r>
            <a:r>
              <a:rPr lang="en-US" dirty="0" smtClean="0">
                <a:solidFill>
                  <a:sysClr val="windowText" lastClr="000000"/>
                </a:solidFill>
              </a:rPr>
              <a:t>as </a:t>
            </a:r>
            <a:r>
              <a:rPr lang="en-US" dirty="0">
                <a:solidFill>
                  <a:sysClr val="windowText" lastClr="000000"/>
                </a:solidFill>
              </a:rPr>
              <a:t>per his application requirement.</a:t>
            </a:r>
            <a:endParaRPr lang="en-US" dirty="0">
              <a:solidFill>
                <a:sysClr val="windowText" lastClr="000000"/>
              </a:solidFill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rgbClr val="0070C0"/>
                </a:solidFill>
              </a:rPr>
              <a:t>Programmer’s own data referred as ADT</a:t>
            </a:r>
            <a:endParaRPr lang="en-US" b="1" dirty="0">
              <a:solidFill>
                <a:srgbClr val="0070C0"/>
              </a:solidFill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B050"/>
                </a:solidFill>
              </a:rPr>
              <a:t>ADT</a:t>
            </a:r>
            <a:endParaRPr lang="en-US" dirty="0">
              <a:solidFill>
                <a:srgbClr val="00B050"/>
              </a:solidFill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It has data structure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Set of operations that can be used to read that data structure.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Rule: allows not only to read but to doc other operations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With ADT </a:t>
            </a:r>
            <a:endParaRPr lang="en-US" dirty="0"/>
          </a:p>
          <a:p>
            <a:pPr lvl="2">
              <a:buFont typeface="Wingdings" panose="05000000000000000000" pitchFamily="2" charset="2"/>
              <a:buChar char="§"/>
            </a:pPr>
            <a:r>
              <a:rPr lang="en-US" dirty="0"/>
              <a:t>user not need to concern how the task is done </a:t>
            </a:r>
            <a:endParaRPr lang="en-US" dirty="0"/>
          </a:p>
          <a:p>
            <a:pPr lvl="2">
              <a:buFont typeface="Wingdings" panose="05000000000000000000" pitchFamily="2" charset="2"/>
              <a:buChar char="§"/>
            </a:pPr>
            <a:r>
              <a:rPr lang="en-US" dirty="0"/>
              <a:t>But what it can do.</a:t>
            </a:r>
            <a:endParaRPr lang="en-US" dirty="0"/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0C241-D0FA-41C4-806B-7A3C5377B352}" type="slidenum">
              <a:rPr lang="en-IN" smtClean="0"/>
            </a:fld>
            <a:endParaRPr lang="en-IN"/>
          </a:p>
        </p:txBody>
      </p:sp>
      <p:pic>
        <p:nvPicPr>
          <p:cNvPr id="7" name="Picture 6" descr="College-of-Engineering-Pune-Logo.png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>
            <a:off x="0" y="0"/>
            <a:ext cx="1794294" cy="119044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Abstract Data Type: ADT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7279" y="1435494"/>
            <a:ext cx="10515600" cy="4729635"/>
          </a:xfrm>
        </p:spPr>
        <p:txBody>
          <a:bodyPr>
            <a:normAutofit lnSpcReduction="1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altLang="en-US" dirty="0"/>
              <a:t>ADT </a:t>
            </a:r>
            <a:r>
              <a:rPr lang="en-US" dirty="0"/>
              <a:t>a type (or class) for objects 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whose behavior is defined by a set of value and a set of operations.</a:t>
            </a: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ADT only mentions </a:t>
            </a:r>
            <a:r>
              <a:rPr lang="en-US" dirty="0">
                <a:solidFill>
                  <a:srgbClr val="0070C0"/>
                </a:solidFill>
              </a:rPr>
              <a:t>what operations are to be performed </a:t>
            </a:r>
            <a:r>
              <a:rPr lang="en-US" dirty="0"/>
              <a:t>but </a:t>
            </a:r>
            <a:r>
              <a:rPr lang="en-US" dirty="0">
                <a:solidFill>
                  <a:srgbClr val="00B050"/>
                </a:solidFill>
              </a:rPr>
              <a:t>not how </a:t>
            </a:r>
            <a:r>
              <a:rPr lang="en-US" dirty="0"/>
              <a:t>these operations will be implemented.</a:t>
            </a: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It does not specify how data will be organized in memory and what algorithms will be used for implementing the operations. </a:t>
            </a: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The process of </a:t>
            </a:r>
            <a:r>
              <a:rPr lang="en-US" dirty="0">
                <a:solidFill>
                  <a:srgbClr val="FF0000"/>
                </a:solidFill>
              </a:rPr>
              <a:t>providing only the essentials </a:t>
            </a:r>
            <a:r>
              <a:rPr lang="en-US" dirty="0"/>
              <a:t>and </a:t>
            </a:r>
            <a:r>
              <a:rPr lang="en-US" dirty="0">
                <a:solidFill>
                  <a:srgbClr val="FF0000"/>
                </a:solidFill>
              </a:rPr>
              <a:t>hiding the details </a:t>
            </a:r>
            <a:r>
              <a:rPr lang="en-US" dirty="0"/>
              <a:t>is known as </a:t>
            </a:r>
            <a:r>
              <a:rPr lang="en-US" b="1" dirty="0">
                <a:solidFill>
                  <a:srgbClr val="00B050"/>
                </a:solidFill>
              </a:rPr>
              <a:t>abstraction.</a:t>
            </a:r>
            <a:endParaRPr lang="en-US" b="1" dirty="0">
              <a:solidFill>
                <a:srgbClr val="00B050"/>
              </a:solidFill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Abstractions: 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We know what a data type can do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How it is done is hidden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0C241-D0FA-41C4-806B-7A3C5377B352}" type="slidenum">
              <a:rPr lang="en-IN" smtClean="0"/>
            </a:fld>
            <a:endParaRPr lang="en-IN"/>
          </a:p>
        </p:txBody>
      </p:sp>
      <p:pic>
        <p:nvPicPr>
          <p:cNvPr id="7" name="Picture 6" descr="College-of-Engineering-Pune-Logo.png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>
            <a:off x="0" y="0"/>
            <a:ext cx="1794294" cy="119044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Abstract Data Type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1615" y="1498039"/>
            <a:ext cx="10515600" cy="4544541"/>
          </a:xfrm>
        </p:spPr>
        <p:txBody>
          <a:bodyPr>
            <a:normAutofit fontScale="92500" lnSpcReduction="1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ADT as a black box which hides the inner structure and design of the data type. </a:t>
            </a: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Example: Concept of “list”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Three data structure supports list</a:t>
            </a:r>
            <a:endParaRPr lang="en-US" dirty="0"/>
          </a:p>
          <a:p>
            <a:pPr lvl="2">
              <a:buFont typeface="Wingdings" panose="05000000000000000000" pitchFamily="2" charset="2"/>
              <a:buChar char="§"/>
            </a:pPr>
            <a:r>
              <a:rPr lang="en-US" dirty="0"/>
              <a:t>We can use array, linked list, file.</a:t>
            </a: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70C0"/>
                </a:solidFill>
              </a:rPr>
              <a:t>Abstract data type is a data declarations packaged together with operations that are meaningful for the data type.</a:t>
            </a:r>
            <a:endParaRPr lang="en-US" dirty="0">
              <a:solidFill>
                <a:srgbClr val="0070C0"/>
              </a:solidFill>
            </a:endParaRPr>
          </a:p>
          <a:p>
            <a:pPr>
              <a:buClr>
                <a:srgbClr val="000000"/>
              </a:buClr>
              <a:buFont typeface="Wingdings" panose="05000000000000000000" pitchFamily="2" charset="2"/>
              <a:buChar char="§"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Encapsulate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data and operations on data and hide them from user</a:t>
            </a:r>
            <a:endParaRPr kumimoji="0" lang="en-US" sz="2800" b="0" i="0" u="none" strike="noStrike" kern="1200" cap="none" spc="0" normalizeH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  <a:p>
            <a:pPr>
              <a:buClr>
                <a:srgbClr val="000000"/>
              </a:buClr>
              <a:buFont typeface="Wingdings" panose="05000000000000000000" pitchFamily="2" charset="2"/>
              <a:buChar char="§"/>
              <a:defRPr/>
            </a:pPr>
            <a:r>
              <a:rPr lang="en-US" baseline="0" dirty="0">
                <a:solidFill>
                  <a:sysClr val="windowText" lastClr="000000"/>
                </a:solidFill>
              </a:rPr>
              <a:t>ADT:</a:t>
            </a:r>
            <a:endParaRPr lang="en-US" baseline="0" dirty="0">
              <a:solidFill>
                <a:sysClr val="windowText" lastClr="000000"/>
              </a:solidFill>
            </a:endParaRPr>
          </a:p>
          <a:p>
            <a:pPr lvl="1">
              <a:buClr>
                <a:srgbClr val="000000"/>
              </a:buClr>
              <a:buFont typeface="Wingdings" panose="05000000000000000000" pitchFamily="2" charset="2"/>
              <a:buChar char="§"/>
              <a:defRPr/>
            </a:pPr>
            <a:r>
              <a:rPr kumimoji="0" lang="en-US" b="0" i="0" u="none" strike="noStrike" kern="1200" cap="none" spc="0" normalizeH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Declaration of data</a:t>
            </a:r>
            <a:endParaRPr kumimoji="0" lang="en-US" b="0" i="0" u="none" strike="noStrike" kern="1200" cap="none" spc="0" normalizeH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  <a:p>
            <a:pPr lvl="1">
              <a:buClr>
                <a:srgbClr val="000000"/>
              </a:buClr>
              <a:buFont typeface="Wingdings" panose="05000000000000000000" pitchFamily="2" charset="2"/>
              <a:buChar char="§"/>
              <a:defRPr/>
            </a:pPr>
            <a:r>
              <a:rPr lang="en-US" baseline="0" dirty="0">
                <a:solidFill>
                  <a:sysClr val="windowText" lastClr="000000"/>
                </a:solidFill>
              </a:rPr>
              <a:t>Declaration of operations</a:t>
            </a:r>
            <a:endParaRPr lang="en-US" baseline="0" dirty="0">
              <a:solidFill>
                <a:sysClr val="windowText" lastClr="000000"/>
              </a:solidFill>
            </a:endParaRPr>
          </a:p>
          <a:p>
            <a:pPr lvl="1">
              <a:buClr>
                <a:srgbClr val="000000"/>
              </a:buClr>
              <a:buFont typeface="Wingdings" panose="05000000000000000000" pitchFamily="2" charset="2"/>
              <a:buChar char="§"/>
              <a:defRPr/>
            </a:pPr>
            <a:r>
              <a:rPr kumimoji="0" lang="en-US" b="0" i="0" u="none" strike="noStrike" kern="1200" cap="none" spc="0" normalizeH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Encapsulation of data and operations.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0C241-D0FA-41C4-806B-7A3C5377B352}" type="slidenum">
              <a:rPr lang="en-IN" smtClean="0"/>
            </a:fld>
            <a:endParaRPr lang="en-IN"/>
          </a:p>
        </p:txBody>
      </p:sp>
      <p:pic>
        <p:nvPicPr>
          <p:cNvPr id="7" name="Picture 6" descr="College-of-Engineering-Pune-Logo.png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>
            <a:off x="0" y="0"/>
            <a:ext cx="1794294" cy="119044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Abstract Data Type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518" y="1469759"/>
            <a:ext cx="10515600" cy="4351338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Encapsulation</a:t>
            </a:r>
            <a:endParaRPr lang="en-US" dirty="0"/>
          </a:p>
          <a:p>
            <a:pPr lvl="1">
              <a:buClr>
                <a:srgbClr val="000000"/>
              </a:buClr>
              <a:buFont typeface="Wingdings" panose="05000000000000000000" pitchFamily="2" charset="2"/>
              <a:buChar char="§"/>
              <a:defRPr/>
            </a:pPr>
            <a:r>
              <a:rPr lang="en-US" dirty="0">
                <a:solidFill>
                  <a:sysClr val="windowText" lastClr="000000"/>
                </a:solidFill>
              </a:rPr>
              <a:t>Operation on the ADT can only be done by calling the appropriate function</a:t>
            </a:r>
            <a:endParaRPr lang="en-US" dirty="0">
              <a:solidFill>
                <a:sysClr val="windowText" lastClr="000000"/>
              </a:solidFill>
            </a:endParaRPr>
          </a:p>
          <a:p>
            <a:pPr lvl="1">
              <a:buClr>
                <a:srgbClr val="000000"/>
              </a:buClr>
              <a:buFont typeface="Wingdings" panose="05000000000000000000" pitchFamily="2" charset="2"/>
              <a:buChar char="§"/>
              <a:defRPr/>
            </a:pPr>
            <a:r>
              <a:rPr lang="en-US" dirty="0">
                <a:solidFill>
                  <a:sysClr val="windowText" lastClr="000000"/>
                </a:solidFill>
              </a:rPr>
              <a:t>not mention of how the set of operations is implemented </a:t>
            </a:r>
            <a:endParaRPr lang="en-US" dirty="0">
              <a:solidFill>
                <a:sysClr val="windowText" lastClr="000000"/>
              </a:solidFill>
            </a:endParaRPr>
          </a:p>
          <a:p>
            <a:pPr lvl="1">
              <a:buClr>
                <a:srgbClr val="000000"/>
              </a:buClr>
              <a:buFont typeface="Wingdings" panose="05000000000000000000" pitchFamily="2" charset="2"/>
              <a:buChar char="§"/>
              <a:defRPr/>
            </a:pPr>
            <a:r>
              <a:rPr lang="en-US" dirty="0">
                <a:solidFill>
                  <a:sysClr val="windowText" lastClr="000000"/>
                </a:solidFill>
              </a:rPr>
              <a:t>The definition of the type and all operations on that type can be localized 	to one section of the program</a:t>
            </a:r>
            <a:endParaRPr lang="en-US" dirty="0">
              <a:solidFill>
                <a:sysClr val="windowText" lastClr="000000"/>
              </a:solidFill>
            </a:endParaRPr>
          </a:p>
          <a:p>
            <a:pPr lvl="1">
              <a:buClr>
                <a:srgbClr val="000000"/>
              </a:buClr>
              <a:buFont typeface="Wingdings" panose="05000000000000000000" pitchFamily="2" charset="2"/>
              <a:buChar char="§"/>
              <a:defRPr/>
            </a:pPr>
            <a:r>
              <a:rPr lang="en-US" dirty="0">
                <a:solidFill>
                  <a:sysClr val="windowText" lastClr="000000"/>
                </a:solidFill>
              </a:rPr>
              <a:t>We can treat the ADT as a primitive type:</a:t>
            </a:r>
            <a:endParaRPr lang="en-US" dirty="0">
              <a:solidFill>
                <a:sysClr val="windowText" lastClr="000000"/>
              </a:solidFill>
            </a:endParaRPr>
          </a:p>
          <a:p>
            <a:pPr lvl="2">
              <a:buClr>
                <a:srgbClr val="000000"/>
              </a:buClr>
              <a:buFont typeface="Wingdings" panose="05000000000000000000" pitchFamily="2" charset="2"/>
              <a:buChar char="§"/>
              <a:defRPr/>
            </a:pPr>
            <a:r>
              <a:rPr lang="en-US" dirty="0">
                <a:solidFill>
                  <a:sysClr val="windowText" lastClr="000000"/>
                </a:solidFill>
              </a:rPr>
              <a:t>ADT as  C++: class </a:t>
            </a:r>
            <a:endParaRPr lang="en-US" dirty="0">
              <a:solidFill>
                <a:sysClr val="windowText" lastClr="000000"/>
              </a:solidFill>
            </a:endParaRPr>
          </a:p>
          <a:p>
            <a:pPr lvl="2">
              <a:buClr>
                <a:srgbClr val="000000"/>
              </a:buClr>
              <a:buFont typeface="Wingdings" panose="05000000000000000000" pitchFamily="2" charset="2"/>
              <a:buChar char="§"/>
              <a:defRPr/>
            </a:pPr>
            <a:r>
              <a:rPr lang="en-US" dirty="0">
                <a:solidFill>
                  <a:sysClr val="windowText" lastClr="000000"/>
                </a:solidFill>
              </a:rPr>
              <a:t>method as  C++: member function</a:t>
            </a:r>
            <a:endParaRPr lang="en-US" dirty="0">
              <a:solidFill>
                <a:sysClr val="windowText" lastClr="000000"/>
              </a:solidFill>
            </a:endParaRPr>
          </a:p>
          <a:p>
            <a:pPr>
              <a:buClr>
                <a:srgbClr val="000000"/>
              </a:buClr>
              <a:buFont typeface="Wingdings" panose="05000000000000000000" pitchFamily="2" charset="2"/>
              <a:buChar char="§"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0C241-D0FA-41C4-806B-7A3C5377B352}" type="slidenum">
              <a:rPr lang="en-IN" smtClean="0"/>
            </a:fld>
            <a:endParaRPr lang="en-IN"/>
          </a:p>
        </p:txBody>
      </p:sp>
      <p:pic>
        <p:nvPicPr>
          <p:cNvPr id="7" name="Picture 6" descr="College-of-Engineering-Pune-Logo.png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>
            <a:off x="0" y="0"/>
            <a:ext cx="1794294" cy="1190445"/>
          </a:xfrm>
          <a:prstGeom prst="rect">
            <a:avLst/>
          </a:prstGeom>
        </p:spPr>
      </p:pic>
      <p:pic>
        <p:nvPicPr>
          <p:cNvPr id="8" name="Picture 7" descr="College-of-Engineering-Pune-Logo.png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>
            <a:off x="152400" y="152400"/>
            <a:ext cx="1794294" cy="119044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Abstract Data Type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ADT consist of 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70C0"/>
                </a:solidFill>
              </a:rPr>
              <a:t>Set of definitions that allow programmer to use functions while hiding implementations.</a:t>
            </a:r>
            <a:endParaRPr lang="en-US" dirty="0">
              <a:solidFill>
                <a:srgbClr val="0070C0"/>
              </a:solidFill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B050"/>
                </a:solidFill>
              </a:rPr>
              <a:t>ADT defines:</a:t>
            </a:r>
            <a:endParaRPr lang="en-US" dirty="0">
              <a:solidFill>
                <a:srgbClr val="00B050"/>
              </a:solidFill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Set of Domains ‘D’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Set of Functions ‘F’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Set of Rules/ Axioms ‘A’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ADT denotes Abstract Data Structure</a:t>
            </a: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Three ADTs namely 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List ADT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Stack ADT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Queue ADT.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0C241-D0FA-41C4-806B-7A3C5377B352}" type="slidenum">
              <a:rPr lang="en-IN" smtClean="0"/>
            </a:fld>
            <a:endParaRPr lang="en-IN"/>
          </a:p>
        </p:txBody>
      </p:sp>
      <p:pic>
        <p:nvPicPr>
          <p:cNvPr id="7" name="Picture 6" descr="College-of-Engineering-Pune-Logo.png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>
            <a:off x="0" y="0"/>
            <a:ext cx="1794294" cy="119044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 Data Type : </a:t>
            </a:r>
            <a:r>
              <a:rPr lang="en-IN"/>
              <a:t>Array as ADT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ADT as a black box which 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hides the inner structure and 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design of the data type. </a:t>
            </a: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Example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Set as ADT;</a:t>
            </a:r>
            <a:endParaRPr lang="en-US" dirty="0"/>
          </a:p>
          <a:p>
            <a:pPr lvl="2"/>
            <a:r>
              <a:rPr lang="en-US" altLang="en-US" dirty="0"/>
              <a:t>A set of elements</a:t>
            </a:r>
            <a:endParaRPr lang="en-US" altLang="en-US" dirty="0"/>
          </a:p>
          <a:p>
            <a:pPr lvl="2"/>
            <a:r>
              <a:rPr lang="en-US" altLang="en-US" dirty="0"/>
              <a:t>Operations: </a:t>
            </a:r>
            <a:r>
              <a:rPr lang="en-US" altLang="en-US" i="1" dirty="0"/>
              <a:t>union, intersection, size</a:t>
            </a:r>
            <a:r>
              <a:rPr lang="en-US" altLang="en-US" dirty="0"/>
              <a:t> and </a:t>
            </a:r>
            <a:r>
              <a:rPr lang="en-US" altLang="en-US" i="1" dirty="0"/>
              <a:t>complement</a:t>
            </a:r>
            <a:endParaRPr lang="en-US" altLang="en-US" i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Queue ADT.</a:t>
            </a:r>
            <a:endParaRPr lang="en-US" dirty="0"/>
          </a:p>
          <a:p>
            <a:pPr lvl="2"/>
            <a:r>
              <a:rPr lang="en-US" altLang="en-US" dirty="0"/>
              <a:t>A set of sequences of elements</a:t>
            </a:r>
            <a:endParaRPr lang="en-US" altLang="en-US" dirty="0"/>
          </a:p>
          <a:p>
            <a:pPr lvl="2"/>
            <a:r>
              <a:rPr lang="en-US" altLang="en-US" dirty="0"/>
              <a:t>Operations: c</a:t>
            </a:r>
            <a:r>
              <a:rPr lang="en-US" altLang="en-US" i="1" dirty="0"/>
              <a:t>reate empty queue, insert, examine, delete</a:t>
            </a:r>
            <a:r>
              <a:rPr lang="en-US" altLang="en-US" dirty="0"/>
              <a:t>, and d</a:t>
            </a:r>
            <a:r>
              <a:rPr lang="en-US" altLang="en-US" i="1" dirty="0"/>
              <a:t>estroy queue</a:t>
            </a:r>
            <a:endParaRPr lang="en-US" altLang="en-US" i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List as ADT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Stack as ADT</a:t>
            </a:r>
            <a:endParaRPr lang="en-US" dirty="0"/>
          </a:p>
          <a:p>
            <a:pPr>
              <a:buClr>
                <a:srgbClr val="000000"/>
              </a:buClr>
              <a:buFont typeface="Wingdings" panose="05000000000000000000" pitchFamily="2" charset="2"/>
              <a:buChar char="§"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0C241-D0FA-41C4-806B-7A3C5377B352}" type="slidenum">
              <a:rPr lang="en-IN" smtClean="0"/>
            </a:fld>
            <a:endParaRPr lang="en-IN"/>
          </a:p>
        </p:txBody>
      </p:sp>
      <p:pic>
        <p:nvPicPr>
          <p:cNvPr id="7" name="Picture 6" descr="College-of-Engineering-Pune-Logo.png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>
            <a:off x="0" y="0"/>
            <a:ext cx="1794294" cy="119044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65648" y="316048"/>
            <a:ext cx="9267548" cy="791351"/>
          </a:xfrm>
        </p:spPr>
        <p:txBody>
          <a:bodyPr/>
          <a:lstStyle/>
          <a:p>
            <a:r>
              <a:rPr lang="en-US" dirty="0"/>
              <a:t>Abstract Data Type : </a:t>
            </a:r>
            <a:r>
              <a:rPr lang="en-IN" dirty="0"/>
              <a:t>Array as ADT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1615" y="1498040"/>
            <a:ext cx="10515600" cy="4648236"/>
          </a:xfrm>
        </p:spPr>
        <p:txBody>
          <a:bodyPr>
            <a:normAutofit fontScale="92500" lnSpcReduction="2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Array-1D Array-finite ordered set of homogeneous element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Finite: specific numbers of elements in an array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Ordered: elements are arranged in sequence 0</a:t>
            </a:r>
            <a:r>
              <a:rPr lang="en-US" baseline="30000" dirty="0"/>
              <a:t>th</a:t>
            </a:r>
            <a:r>
              <a:rPr lang="en-US" dirty="0"/>
              <a:t> ,1</a:t>
            </a:r>
            <a:r>
              <a:rPr lang="en-US" baseline="30000" dirty="0"/>
              <a:t>st</a:t>
            </a:r>
            <a:r>
              <a:rPr lang="en-US" dirty="0"/>
              <a:t> , 2</a:t>
            </a:r>
            <a:r>
              <a:rPr lang="en-US" baseline="30000" dirty="0"/>
              <a:t>nd</a:t>
            </a:r>
            <a:r>
              <a:rPr lang="en-US" dirty="0"/>
              <a:t> ….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Homogeneous : Same of data</a:t>
            </a: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Two basic operations to access an array: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Extract: accepts an array and an index I, return elements on the array </a:t>
            </a:r>
            <a:r>
              <a:rPr lang="en-US" dirty="0">
                <a:sym typeface="Wingdings" panose="05000000000000000000" pitchFamily="2" charset="2"/>
              </a:rPr>
              <a:t>a[</a:t>
            </a:r>
            <a:r>
              <a:rPr lang="en-US" dirty="0" err="1">
                <a:sym typeface="Wingdings" panose="05000000000000000000" pitchFamily="2" charset="2"/>
              </a:rPr>
              <a:t>i</a:t>
            </a:r>
            <a:r>
              <a:rPr lang="en-US" dirty="0">
                <a:sym typeface="Wingdings" panose="05000000000000000000" pitchFamily="2" charset="2"/>
              </a:rPr>
              <a:t>]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Sorting: accepts an array, an index </a:t>
            </a:r>
            <a:r>
              <a:rPr lang="en-US" dirty="0" err="1"/>
              <a:t>i</a:t>
            </a:r>
            <a:r>
              <a:rPr lang="en-US" dirty="0"/>
              <a:t>, and element, return updated array</a:t>
            </a:r>
            <a:endParaRPr lang="en-US" dirty="0"/>
          </a:p>
          <a:p>
            <a:pPr marL="457200" lvl="1" indent="0">
              <a:buNone/>
            </a:pPr>
            <a:r>
              <a:rPr lang="en-US" dirty="0"/>
              <a:t>a[</a:t>
            </a:r>
            <a:r>
              <a:rPr lang="en-US" dirty="0" err="1"/>
              <a:t>i</a:t>
            </a:r>
            <a:r>
              <a:rPr lang="en-US" dirty="0"/>
              <a:t>]=x</a:t>
            </a: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Smallest array’s index=</a:t>
            </a:r>
            <a:r>
              <a:rPr lang="en-US" b="1" i="1" dirty="0"/>
              <a:t>lower bound</a:t>
            </a:r>
            <a:endParaRPr lang="en-US" b="1" i="1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Highest index =</a:t>
            </a:r>
            <a:r>
              <a:rPr lang="en-US" b="1" i="1" dirty="0"/>
              <a:t>upper bound</a:t>
            </a:r>
            <a:endParaRPr lang="en-US" b="1" i="1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b="1" i="1" dirty="0"/>
              <a:t>Range=</a:t>
            </a:r>
            <a:r>
              <a:rPr lang="en-US" dirty="0"/>
              <a:t>numbers of elements in an array </a:t>
            </a:r>
            <a:r>
              <a:rPr lang="en-US" sz="2200" b="1" i="1" dirty="0">
                <a:solidFill>
                  <a:srgbClr val="FF0000"/>
                </a:solidFill>
              </a:rPr>
              <a:t>upper bound - lower bound +1</a:t>
            </a:r>
            <a:endParaRPr lang="en-US" sz="2200" b="1" i="1" dirty="0">
              <a:solidFill>
                <a:srgbClr val="FF0000"/>
              </a:solidFill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70C0"/>
                </a:solidFill>
              </a:rPr>
              <a:t>C array is not changed during program’s execution</a:t>
            </a:r>
            <a:endParaRPr lang="en-US" dirty="0">
              <a:solidFill>
                <a:srgbClr val="0070C0"/>
              </a:solidFill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70C0"/>
                </a:solidFill>
              </a:rPr>
              <a:t>Lower bound is fixed always zero and upper is fixed at time of program written</a:t>
            </a:r>
            <a:endParaRPr lang="en-US" dirty="0">
              <a:solidFill>
                <a:srgbClr val="0070C0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0C241-D0FA-41C4-806B-7A3C5377B352}" type="slidenum">
              <a:rPr lang="en-IN" smtClean="0"/>
            </a:fld>
            <a:endParaRPr lang="en-IN"/>
          </a:p>
        </p:txBody>
      </p:sp>
      <p:pic>
        <p:nvPicPr>
          <p:cNvPr id="7" name="Picture 6" descr="College-of-Engineering-Pune-Logo.png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>
            <a:off x="0" y="0"/>
            <a:ext cx="1794294" cy="119044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 Data Type: </a:t>
            </a:r>
            <a:r>
              <a:rPr lang="en-IN" dirty="0"/>
              <a:t>Array as ADT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1615" y="1498039"/>
            <a:ext cx="10515600" cy="4544541"/>
          </a:xfrm>
        </p:spPr>
        <p:txBody>
          <a:bodyPr>
            <a:normAutofit fontScale="77500" lnSpcReduction="2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B050"/>
                </a:solidFill>
              </a:rPr>
              <a:t>Array-1D </a:t>
            </a:r>
            <a:endParaRPr lang="en-US" dirty="0">
              <a:solidFill>
                <a:srgbClr val="00B050"/>
              </a:solidFill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Data: Array-finite ordered set of homogeneous element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Finite: specific numbers of elements in an array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Ordered: elements are arranged in sequence 0</a:t>
            </a:r>
            <a:r>
              <a:rPr lang="en-US" baseline="30000" dirty="0"/>
              <a:t>th</a:t>
            </a:r>
            <a:r>
              <a:rPr lang="en-US" dirty="0"/>
              <a:t> ,1</a:t>
            </a:r>
            <a:r>
              <a:rPr lang="en-US" baseline="30000" dirty="0"/>
              <a:t>st</a:t>
            </a:r>
            <a:r>
              <a:rPr lang="en-US" dirty="0"/>
              <a:t> , 2</a:t>
            </a:r>
            <a:r>
              <a:rPr lang="en-US" baseline="30000" dirty="0"/>
              <a:t>nd</a:t>
            </a:r>
            <a:r>
              <a:rPr lang="en-US" dirty="0"/>
              <a:t> ….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Homogeneous : Same of data</a:t>
            </a: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B050"/>
                </a:solidFill>
              </a:rPr>
              <a:t>Operations on an array</a:t>
            </a:r>
            <a:r>
              <a:rPr lang="en-US" dirty="0"/>
              <a:t>: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Extract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Store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Delete an element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Insert an element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Display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Search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Sort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Display reverse array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Merge two arrays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Length of array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0C241-D0FA-41C4-806B-7A3C5377B352}" type="slidenum">
              <a:rPr lang="en-IN" smtClean="0"/>
            </a:fld>
            <a:endParaRPr lang="en-IN"/>
          </a:p>
        </p:txBody>
      </p:sp>
      <p:pic>
        <p:nvPicPr>
          <p:cNvPr id="7" name="Picture 6" descr="College-of-Engineering-Pune-Logo.png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>
            <a:off x="0" y="0"/>
            <a:ext cx="1794294" cy="119044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 Data Type: </a:t>
            </a:r>
            <a:r>
              <a:rPr lang="en-IN" dirty="0"/>
              <a:t>List as ADT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A </a:t>
            </a:r>
            <a:r>
              <a:rPr lang="en-US" dirty="0">
                <a:solidFill>
                  <a:srgbClr val="0070C0"/>
                </a:solidFill>
              </a:rPr>
              <a:t>list </a:t>
            </a:r>
            <a:r>
              <a:rPr lang="en-US" dirty="0"/>
              <a:t>contains elements of the same type arranged in sequential order.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en-US" dirty="0"/>
              <a:t>A sequence of zero or more elements</a:t>
            </a:r>
            <a:endParaRPr lang="en-US" alt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en-US" dirty="0"/>
              <a:t>Example: A1, A2, A3, …… An</a:t>
            </a:r>
            <a:endParaRPr lang="en-US" altLang="en-US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altLang="en-US" dirty="0"/>
              <a:t>Rules: </a:t>
            </a:r>
            <a:endParaRPr lang="en-US" alt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en-US" dirty="0"/>
              <a:t>Size/ length of the list: n</a:t>
            </a:r>
            <a:endParaRPr lang="en-US" alt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en-US" dirty="0"/>
              <a:t>A1: first element</a:t>
            </a:r>
            <a:endParaRPr lang="en-US" alt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en-US" dirty="0"/>
              <a:t>An: last element</a:t>
            </a:r>
            <a:endParaRPr lang="en-US" alt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en-US" dirty="0"/>
              <a:t>Ai: element at position I</a:t>
            </a:r>
            <a:endParaRPr lang="en-US" alt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en-US" dirty="0"/>
              <a:t>Linearly ordered: Ai have Ai+1 successor and Ai-1 as predecessor</a:t>
            </a:r>
            <a:endParaRPr lang="en-US" altLang="en-US" dirty="0"/>
          </a:p>
          <a:p>
            <a:pPr lvl="1">
              <a:buFont typeface="Wingdings" panose="05000000000000000000" pitchFamily="2" charset="2"/>
              <a:buChar char="§"/>
            </a:pPr>
            <a:endParaRPr lang="en-US" altLang="en-US" dirty="0"/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0C241-D0FA-41C4-806B-7A3C5377B352}" type="slidenum">
              <a:rPr lang="en-IN" smtClean="0"/>
            </a:fld>
            <a:endParaRPr lang="en-IN"/>
          </a:p>
        </p:txBody>
      </p:sp>
      <p:pic>
        <p:nvPicPr>
          <p:cNvPr id="7" name="Picture 6" descr="College-of-Engineering-Pune-Logo.png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>
            <a:off x="0" y="0"/>
            <a:ext cx="1794294" cy="119044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 Data Type: List as ADT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altLang="en-US" dirty="0"/>
              <a:t>Operations on List</a:t>
            </a:r>
            <a:endParaRPr lang="en-US" alt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70C0"/>
                </a:solidFill>
              </a:rPr>
              <a:t>print( ) </a:t>
            </a:r>
            <a:r>
              <a:rPr lang="en-US" dirty="0"/>
              <a:t>– print the list / display the elements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70C0"/>
                </a:solidFill>
              </a:rPr>
              <a:t>insert( ) </a:t>
            </a:r>
            <a:r>
              <a:rPr lang="en-US" dirty="0"/>
              <a:t>– Insert an element at any position of the list.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Remove</a:t>
            </a:r>
            <a:endParaRPr lang="en-US" dirty="0"/>
          </a:p>
          <a:p>
            <a:pPr lvl="2">
              <a:buFont typeface="Wingdings" panose="05000000000000000000" pitchFamily="2" charset="2"/>
              <a:buChar char="§"/>
            </a:pPr>
            <a:r>
              <a:rPr lang="en-US" dirty="0" err="1">
                <a:solidFill>
                  <a:srgbClr val="0070C0"/>
                </a:solidFill>
              </a:rPr>
              <a:t>removefirst</a:t>
            </a:r>
            <a:r>
              <a:rPr lang="en-US" dirty="0">
                <a:solidFill>
                  <a:srgbClr val="0070C0"/>
                </a:solidFill>
              </a:rPr>
              <a:t>( ) </a:t>
            </a:r>
            <a:r>
              <a:rPr lang="en-US" dirty="0"/>
              <a:t>– Remove the first occurrence of any element from a non-empty list.</a:t>
            </a:r>
            <a:endParaRPr lang="en-US" dirty="0"/>
          </a:p>
          <a:p>
            <a:pPr lvl="2">
              <a:buFont typeface="Wingdings" panose="05000000000000000000" pitchFamily="2" charset="2"/>
              <a:buChar char="§"/>
            </a:pPr>
            <a:r>
              <a:rPr lang="en-US" dirty="0" err="1">
                <a:solidFill>
                  <a:srgbClr val="0070C0"/>
                </a:solidFill>
              </a:rPr>
              <a:t>removeAt</a:t>
            </a:r>
            <a:r>
              <a:rPr lang="en-US" dirty="0">
                <a:solidFill>
                  <a:srgbClr val="0070C0"/>
                </a:solidFill>
              </a:rPr>
              <a:t>( ) </a:t>
            </a:r>
            <a:r>
              <a:rPr lang="en-US" dirty="0"/>
              <a:t>– Remove the element at a specified location from a non-empty list.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70C0"/>
                </a:solidFill>
              </a:rPr>
              <a:t>replace( ) </a:t>
            </a:r>
            <a:r>
              <a:rPr lang="en-US" dirty="0"/>
              <a:t>– Replace an element at any position by another element.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70C0"/>
                </a:solidFill>
              </a:rPr>
              <a:t>size( )</a:t>
            </a:r>
            <a:r>
              <a:rPr lang="en-US" dirty="0"/>
              <a:t> – Return the number of elements in the list.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solidFill>
                  <a:srgbClr val="0070C0"/>
                </a:solidFill>
              </a:rPr>
              <a:t>isEmpty</a:t>
            </a:r>
            <a:r>
              <a:rPr lang="en-US" dirty="0">
                <a:solidFill>
                  <a:srgbClr val="0070C0"/>
                </a:solidFill>
              </a:rPr>
              <a:t>( ) </a:t>
            </a:r>
            <a:r>
              <a:rPr lang="en-US" dirty="0"/>
              <a:t>– Return true if the list is empty, otherwise return false.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solidFill>
                  <a:srgbClr val="0070C0"/>
                </a:solidFill>
              </a:rPr>
              <a:t>isFull</a:t>
            </a:r>
            <a:r>
              <a:rPr lang="en-US" dirty="0">
                <a:solidFill>
                  <a:srgbClr val="0070C0"/>
                </a:solidFill>
              </a:rPr>
              <a:t>( ) </a:t>
            </a:r>
            <a:r>
              <a:rPr lang="en-US" dirty="0"/>
              <a:t>– Return true if the list is full, otherwise return false.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0C241-D0FA-41C4-806B-7A3C5377B352}" type="slidenum">
              <a:rPr lang="en-IN" smtClean="0"/>
            </a:fld>
            <a:endParaRPr lang="en-IN"/>
          </a:p>
        </p:txBody>
      </p:sp>
      <p:pic>
        <p:nvPicPr>
          <p:cNvPr id="7" name="Picture 6" descr="College-of-Engineering-Pune-Logo.png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>
            <a:off x="0" y="0"/>
            <a:ext cx="1794294" cy="119044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ADT: Implementation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altLang="en-US" dirty="0"/>
              <a:t>Choose a data structure to represent the ADT</a:t>
            </a:r>
            <a:endParaRPr lang="en-US" alt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en-US" dirty="0"/>
              <a:t>E.g. arrays, records, etc.</a:t>
            </a:r>
            <a:endParaRPr lang="en-US" altLang="en-US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altLang="en-US" dirty="0"/>
              <a:t>Each operation associated with the ADT is implemented by one or more subroutines</a:t>
            </a:r>
            <a:endParaRPr lang="en-US" altLang="en-US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altLang="en-US" dirty="0"/>
              <a:t>Two standard implementations for the list ADT</a:t>
            </a:r>
            <a:endParaRPr lang="en-US" alt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en-US" dirty="0"/>
              <a:t>Array-based:</a:t>
            </a:r>
            <a:endParaRPr lang="en-US" altLang="en-US" dirty="0"/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en-US" dirty="0"/>
              <a:t>Elements are stored in contiguous array positions</a:t>
            </a:r>
            <a:endParaRPr lang="en-US" altLang="en-US" dirty="0"/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en-US" dirty="0"/>
              <a:t>Requires an estimate of the maximum size of the list</a:t>
            </a:r>
            <a:endParaRPr lang="en-US" alt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en-US" dirty="0"/>
              <a:t>Linked list:</a:t>
            </a:r>
            <a:endParaRPr lang="en-US" altLang="en-US" dirty="0"/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en-US" dirty="0"/>
              <a:t>Ensure that the list is not stored contiguously</a:t>
            </a:r>
            <a:endParaRPr lang="en-US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0C241-D0FA-41C4-806B-7A3C5377B352}" type="slidenum">
              <a:rPr lang="en-IN" smtClean="0"/>
            </a:fld>
            <a:endParaRPr lang="en-IN"/>
          </a:p>
        </p:txBody>
      </p:sp>
      <p:pic>
        <p:nvPicPr>
          <p:cNvPr id="7" name="Picture 6" descr="College-of-Engineering-Pune-Logo.png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>
            <a:off x="0" y="0"/>
            <a:ext cx="1794294" cy="119044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 Data Type: Stack as ADT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1615" y="1498040"/>
            <a:ext cx="10515600" cy="4553968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A </a:t>
            </a:r>
            <a:r>
              <a:rPr lang="en-US" dirty="0">
                <a:solidFill>
                  <a:srgbClr val="0070C0"/>
                </a:solidFill>
              </a:rPr>
              <a:t>Stack </a:t>
            </a:r>
            <a:r>
              <a:rPr lang="en-US" dirty="0"/>
              <a:t>contains elements of the same type arranged in sequential order. 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All operations take place at a single end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0070C0"/>
                </a:solidFill>
              </a:rPr>
              <a:t>top of the stack</a:t>
            </a:r>
            <a:r>
              <a:rPr lang="en-US" dirty="0"/>
              <a:t>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Last In First Out or First In Last Out</a:t>
            </a: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altLang="en-US" dirty="0"/>
              <a:t>Operations:</a:t>
            </a:r>
            <a:endParaRPr lang="en-US" altLang="en-US" dirty="0"/>
          </a:p>
          <a:p>
            <a:pPr lvl="1"/>
            <a:r>
              <a:rPr lang="en-US" dirty="0"/>
              <a:t>push() – Insert an element at one end of the stack called top.</a:t>
            </a:r>
            <a:endParaRPr lang="en-US" dirty="0"/>
          </a:p>
          <a:p>
            <a:pPr lvl="1"/>
            <a:r>
              <a:rPr lang="en-US" dirty="0"/>
              <a:t>pop() – Remove and return the element at the top of the stack, if it is not empty.</a:t>
            </a:r>
            <a:endParaRPr lang="en-US" dirty="0"/>
          </a:p>
          <a:p>
            <a:pPr lvl="1"/>
            <a:r>
              <a:rPr lang="en-US" dirty="0"/>
              <a:t>size() – Return the number of elements in the stack.</a:t>
            </a:r>
            <a:endParaRPr lang="en-US" dirty="0"/>
          </a:p>
          <a:p>
            <a:pPr lvl="1"/>
            <a:r>
              <a:rPr lang="en-US" dirty="0" err="1"/>
              <a:t>isEmpty</a:t>
            </a:r>
            <a:r>
              <a:rPr lang="en-US" dirty="0"/>
              <a:t>() – Return true if the stack is empty, otherwise return false.</a:t>
            </a:r>
            <a:endParaRPr lang="en-US" dirty="0"/>
          </a:p>
          <a:p>
            <a:pPr lvl="1"/>
            <a:r>
              <a:rPr lang="en-US" dirty="0" err="1"/>
              <a:t>isFull</a:t>
            </a:r>
            <a:r>
              <a:rPr lang="en-US" dirty="0"/>
              <a:t>() – Return true if the stack is full, otherwise return false.</a:t>
            </a:r>
            <a:endParaRPr lang="en-US" dirty="0"/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0C241-D0FA-41C4-806B-7A3C5377B352}" type="slidenum">
              <a:rPr lang="en-IN" smtClean="0"/>
            </a:fld>
            <a:endParaRPr lang="en-IN"/>
          </a:p>
        </p:txBody>
      </p:sp>
      <p:pic>
        <p:nvPicPr>
          <p:cNvPr id="7" name="Picture 6" descr="College-of-Engineering-Pune-Logo.png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>
            <a:off x="0" y="0"/>
            <a:ext cx="1794294" cy="119044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Abstract Data Type: Queue as ADT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A </a:t>
            </a:r>
            <a:r>
              <a:rPr lang="en-US" b="1" dirty="0">
                <a:solidFill>
                  <a:srgbClr val="0070C0"/>
                </a:solidFill>
              </a:rPr>
              <a:t>Queue</a:t>
            </a:r>
            <a:r>
              <a:rPr lang="en-US" dirty="0"/>
              <a:t> contains elements of the same type arranged in sequential order. 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Operations take place at both ends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Insertion is at the end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sz="3000" dirty="0">
                <a:solidFill>
                  <a:srgbClr val="0070C0"/>
                </a:solidFill>
              </a:rPr>
              <a:t>Rear</a:t>
            </a:r>
            <a:r>
              <a:rPr lang="en-US" sz="3000" dirty="0"/>
              <a:t> 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Deletion is at the another end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</a:t>
            </a:r>
            <a:r>
              <a:rPr lang="en-US" sz="3000" dirty="0">
                <a:solidFill>
                  <a:srgbClr val="0070C0"/>
                </a:solidFill>
              </a:rPr>
              <a:t>front.</a:t>
            </a:r>
            <a:endParaRPr lang="en-US" dirty="0">
              <a:solidFill>
                <a:srgbClr val="0070C0"/>
              </a:solidFill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altLang="en-US" dirty="0"/>
              <a:t>Operations:</a:t>
            </a:r>
            <a:endParaRPr lang="en-US" altLang="en-US" dirty="0"/>
          </a:p>
          <a:p>
            <a:pPr lvl="1"/>
            <a:r>
              <a:rPr lang="en-US" dirty="0">
                <a:solidFill>
                  <a:srgbClr val="00B050"/>
                </a:solidFill>
              </a:rPr>
              <a:t>enqueue() </a:t>
            </a:r>
            <a:r>
              <a:rPr lang="en-US" dirty="0"/>
              <a:t>– Insert an element at the end of the queue.</a:t>
            </a:r>
            <a:endParaRPr lang="en-US" dirty="0"/>
          </a:p>
          <a:p>
            <a:pPr lvl="1"/>
            <a:r>
              <a:rPr lang="en-US" dirty="0">
                <a:solidFill>
                  <a:srgbClr val="00B050"/>
                </a:solidFill>
              </a:rPr>
              <a:t>dequeue() </a:t>
            </a:r>
            <a:r>
              <a:rPr lang="en-US" dirty="0"/>
              <a:t>– Remove and return the first element of the queue, if the queue is not empty.</a:t>
            </a:r>
            <a:endParaRPr lang="en-US" dirty="0"/>
          </a:p>
          <a:p>
            <a:pPr lvl="1"/>
            <a:r>
              <a:rPr lang="en-US" dirty="0">
                <a:solidFill>
                  <a:srgbClr val="00B050"/>
                </a:solidFill>
              </a:rPr>
              <a:t>peek() </a:t>
            </a:r>
            <a:r>
              <a:rPr lang="en-US" dirty="0"/>
              <a:t>– Return the element of the queue without removing it, if the queue is not empty.</a:t>
            </a:r>
            <a:endParaRPr lang="en-US" dirty="0"/>
          </a:p>
          <a:p>
            <a:pPr lvl="1"/>
            <a:r>
              <a:rPr lang="en-US" dirty="0">
                <a:solidFill>
                  <a:srgbClr val="00B050"/>
                </a:solidFill>
              </a:rPr>
              <a:t>size() </a:t>
            </a:r>
            <a:r>
              <a:rPr lang="en-US" dirty="0"/>
              <a:t>– Return the number of elements in the queue.</a:t>
            </a:r>
            <a:endParaRPr lang="en-US" dirty="0"/>
          </a:p>
          <a:p>
            <a:pPr lvl="1"/>
            <a:r>
              <a:rPr lang="en-US" dirty="0" err="1">
                <a:solidFill>
                  <a:srgbClr val="00B050"/>
                </a:solidFill>
              </a:rPr>
              <a:t>isEmpty</a:t>
            </a:r>
            <a:r>
              <a:rPr lang="en-US" dirty="0">
                <a:solidFill>
                  <a:srgbClr val="00B050"/>
                </a:solidFill>
              </a:rPr>
              <a:t>() </a:t>
            </a:r>
            <a:r>
              <a:rPr lang="en-US" dirty="0"/>
              <a:t>– Return true if the queue is empty, otherwise return false.</a:t>
            </a:r>
            <a:endParaRPr lang="en-US" dirty="0"/>
          </a:p>
          <a:p>
            <a:pPr lvl="1"/>
            <a:r>
              <a:rPr lang="en-US" dirty="0" err="1">
                <a:solidFill>
                  <a:srgbClr val="00B050"/>
                </a:solidFill>
              </a:rPr>
              <a:t>isFull</a:t>
            </a:r>
            <a:r>
              <a:rPr lang="en-US" dirty="0">
                <a:solidFill>
                  <a:srgbClr val="00B050"/>
                </a:solidFill>
              </a:rPr>
              <a:t>() </a:t>
            </a:r>
            <a:r>
              <a:rPr lang="en-US" dirty="0"/>
              <a:t>– Return true if the queue is full, otherwise return false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0C241-D0FA-41C4-806B-7A3C5377B352}" type="slidenum">
              <a:rPr lang="en-IN" smtClean="0"/>
            </a:fld>
            <a:endParaRPr lang="en-IN"/>
          </a:p>
        </p:txBody>
      </p:sp>
      <p:pic>
        <p:nvPicPr>
          <p:cNvPr id="7" name="Picture 6" descr="College-of-Engineering-Pune-Logo.png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>
            <a:off x="0" y="0"/>
            <a:ext cx="1794294" cy="119044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Abstract Data Type: Summary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Data type: </a:t>
            </a:r>
            <a:r>
              <a:rPr lang="en-US" sz="2800" dirty="0"/>
              <a:t>Term which </a:t>
            </a:r>
            <a:r>
              <a:rPr lang="en-US" sz="2800" dirty="0">
                <a:solidFill>
                  <a:srgbClr val="00B050"/>
                </a:solidFill>
              </a:rPr>
              <a:t>refers to kind of data </a:t>
            </a:r>
            <a:r>
              <a:rPr lang="en-US" sz="2800" dirty="0"/>
              <a:t>that variable may hold.</a:t>
            </a: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Atomic data: </a:t>
            </a:r>
            <a:r>
              <a:rPr lang="en-US" sz="2800" dirty="0"/>
              <a:t>non-decomposable</a:t>
            </a: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Composite data: </a:t>
            </a:r>
            <a:r>
              <a:rPr lang="en-US" sz="2800" dirty="0"/>
              <a:t>can be decomposed into atomic data</a:t>
            </a:r>
            <a:endParaRPr lang="en-US" sz="2800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Data structure: </a:t>
            </a:r>
            <a:r>
              <a:rPr lang="en-US" sz="2800" dirty="0">
                <a:solidFill>
                  <a:sysClr val="windowText" lastClr="000000"/>
                </a:solidFill>
              </a:rPr>
              <a:t>Logical or mathematical model of particular organization of data</a:t>
            </a: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Abstract data type: </a:t>
            </a:r>
            <a:r>
              <a:rPr lang="en-US" sz="2800" dirty="0"/>
              <a:t>is data declaration package together with operations that are meaningful for data type.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0C241-D0FA-41C4-806B-7A3C5377B352}" type="slidenum">
              <a:rPr lang="en-IN" smtClean="0"/>
            </a:fld>
            <a:endParaRPr lang="en-IN"/>
          </a:p>
        </p:txBody>
      </p:sp>
      <p:pic>
        <p:nvPicPr>
          <p:cNvPr id="7" name="Picture 6" descr="College-of-Engineering-Pune-Logo.png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>
            <a:off x="0" y="0"/>
            <a:ext cx="1794294" cy="119044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90608" y="2027608"/>
            <a:ext cx="7975076" cy="1476806"/>
          </a:xfrm>
        </p:spPr>
        <p:txBody>
          <a:bodyPr/>
          <a:lstStyle/>
          <a:p>
            <a:r>
              <a:rPr lang="en-US" sz="60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Thank you!!</a:t>
            </a:r>
            <a:endParaRPr lang="en-IN" sz="6000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0C241-D0FA-41C4-806B-7A3C5377B352}" type="slidenum">
              <a:rPr lang="en-IN" smtClean="0"/>
            </a:fld>
            <a:endParaRPr lang="en-IN"/>
          </a:p>
        </p:txBody>
      </p:sp>
      <p:sp>
        <p:nvSpPr>
          <p:cNvPr id="7" name="Title 1"/>
          <p:cNvSpPr txBox="1"/>
          <p:nvPr/>
        </p:nvSpPr>
        <p:spPr>
          <a:xfrm>
            <a:off x="2555609" y="2842997"/>
            <a:ext cx="7975076" cy="147680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Bahnschrift Condensed" panose="020B0502040204020203" pitchFamily="34" charset="0"/>
                <a:ea typeface="+mj-ea"/>
                <a:cs typeface="+mj-cs"/>
              </a:defRPr>
            </a:lvl1pPr>
          </a:lstStyle>
          <a:p>
            <a:r>
              <a:rPr lang="en-US" sz="880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Happy Learning!!</a:t>
            </a:r>
            <a:endParaRPr lang="en-IN" sz="8800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8" name="Picture 7" descr="College-of-Engineering-Pune-Logo.png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>
            <a:off x="0" y="0"/>
            <a:ext cx="1794294" cy="119044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9427</Words>
  <Application>WPS Presentation</Application>
  <PresentationFormat>Custom</PresentationFormat>
  <Paragraphs>367</Paragraphs>
  <Slides>27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27</vt:i4>
      </vt:variant>
    </vt:vector>
  </HeadingPairs>
  <TitlesOfParts>
    <vt:vector size="45" baseType="lpstr">
      <vt:lpstr>Arial</vt:lpstr>
      <vt:lpstr>SimSun</vt:lpstr>
      <vt:lpstr>Wingdings</vt:lpstr>
      <vt:lpstr>Cambria</vt:lpstr>
      <vt:lpstr>Bahnschrift Condensed</vt:lpstr>
      <vt:lpstr>Calibri</vt:lpstr>
      <vt:lpstr>Caladea</vt:lpstr>
      <vt:lpstr>DejaVu Sans</vt:lpstr>
      <vt:lpstr>微软雅黑</vt:lpstr>
      <vt:lpstr>Droid Sans Fallback</vt:lpstr>
      <vt:lpstr>Arial Unicode MS</vt:lpstr>
      <vt:lpstr>Calibri Light</vt:lpstr>
      <vt:lpstr>Noto Looped Lao UI</vt:lpstr>
      <vt:lpstr>Standard Symbols PS</vt:lpstr>
      <vt:lpstr>AR PL KaitiM Big5</vt:lpstr>
      <vt:lpstr>Calibri</vt:lpstr>
      <vt:lpstr>Office Theme</vt:lpstr>
      <vt:lpstr>1_Office Theme</vt:lpstr>
      <vt:lpstr>Advance Data Structures</vt:lpstr>
      <vt:lpstr>Key Points : ADT</vt:lpstr>
      <vt:lpstr>Data</vt:lpstr>
      <vt:lpstr>Data: Atomic vs Composite Data </vt:lpstr>
      <vt:lpstr>Data: Atomic vs Composite Data </vt:lpstr>
      <vt:lpstr>Data Types</vt:lpstr>
      <vt:lpstr>Built in Data Types</vt:lpstr>
      <vt:lpstr>Classification of Data Type</vt:lpstr>
      <vt:lpstr>Data Structure</vt:lpstr>
      <vt:lpstr>Data Structure: </vt:lpstr>
      <vt:lpstr>Classification of Data structure</vt:lpstr>
      <vt:lpstr>Data Structure</vt:lpstr>
      <vt:lpstr>Abstract Data Type: ADT</vt:lpstr>
      <vt:lpstr>Abstract Data Type: ADT</vt:lpstr>
      <vt:lpstr>Abstract Data Type</vt:lpstr>
      <vt:lpstr>Abstract Data Type</vt:lpstr>
      <vt:lpstr>Abstract Data Type</vt:lpstr>
      <vt:lpstr>Abstract Data Type : Array as ADT</vt:lpstr>
      <vt:lpstr>Abstract Data Type : Array as ADT</vt:lpstr>
      <vt:lpstr>Abstract Data Type: Array as ADT</vt:lpstr>
      <vt:lpstr>Abstract Data Type: List as ADT</vt:lpstr>
      <vt:lpstr>Abstract Data Type: List as ADT</vt:lpstr>
      <vt:lpstr>ADT: Implementation</vt:lpstr>
      <vt:lpstr>Abstract Data Type: Stack as ADT</vt:lpstr>
      <vt:lpstr>Abstract Data Type: Queue as ADT</vt:lpstr>
      <vt:lpstr>Abstract Data Type: Summary</vt:lpstr>
      <vt:lpstr>Thank you!!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Structures &amp; Algorithms</dc:title>
  <dc:creator>Devyani Jadhav</dc:creator>
  <cp:lastModifiedBy>bhavesh</cp:lastModifiedBy>
  <cp:revision>38</cp:revision>
  <dcterms:created xsi:type="dcterms:W3CDTF">2026-09-08T03:10:26Z</dcterms:created>
  <dcterms:modified xsi:type="dcterms:W3CDTF">2026-09-08T03:10:26Z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1033-10.1.0.6757</vt:lpwstr>
  </property>
</Properties>
</file>