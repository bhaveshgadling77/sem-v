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30"/>
  </p:notesMasterIdLst>
  <p:sldIdLst>
    <p:sldId id="259" r:id="rId3"/>
    <p:sldId id="260" r:id="rId4"/>
    <p:sldId id="289" r:id="rId5"/>
    <p:sldId id="291" r:id="rId6"/>
    <p:sldId id="292" r:id="rId7"/>
    <p:sldId id="290" r:id="rId8"/>
    <p:sldId id="293" r:id="rId9"/>
    <p:sldId id="312" r:id="rId10"/>
    <p:sldId id="294" r:id="rId11"/>
    <p:sldId id="310" r:id="rId12"/>
    <p:sldId id="311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28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800000"/>
    <a:srgbClr val="2B4D8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52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4C04D-762D-4F62-B299-DE0EEDF403F1}" type="datetimeFigureOut">
              <a:rPr lang="en-IN" smtClean="0"/>
              <a:pPr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DB62B-639E-4316-B306-BE015A17291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3184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A6778E-FA1A-1EB2-2128-F128248B6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66AF16D-2EDD-F269-4F8B-01EC0EAF4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E0A037-CCD1-D068-D158-F800AEDE8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A920C6-BC53-750E-DD60-707B2F3D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F07D7D4-C45C-64A5-A658-AF2B4680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xmlns="" id="{8F4F356E-DE5A-1471-E28B-4E5E3C6F002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4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200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DAE89D-E47E-2102-397C-B9062FCF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331" y="276580"/>
            <a:ext cx="9267548" cy="791351"/>
          </a:xfrm>
          <a:prstGeom prst="rect">
            <a:avLst/>
          </a:prstGeom>
        </p:spPr>
        <p:txBody>
          <a:bodyPr/>
          <a:lstStyle>
            <a:lvl1pPr>
              <a:defRPr>
                <a:latin typeface="Bahnschrift Condense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5B4341-62DD-748D-747F-E3114EAF3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xmlns="" id="{8058198D-7CC8-A5B4-CF2A-F8E752D33A3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sp>
        <p:nvSpPr>
          <p:cNvPr id="12" name="Flowchart: Process 11">
            <a:extLst>
              <a:ext uri="{FF2B5EF4-FFF2-40B4-BE49-F238E27FC236}">
                <a16:creationId xmlns:a16="http://schemas.microsoft.com/office/drawing/2014/main" xmlns="" id="{B1D83C9B-AF13-21EE-CCD9-A38D4AB36621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C6616C-9B06-65F0-5166-ED87132C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783" y="6446077"/>
            <a:ext cx="3177774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mtClean="0"/>
              <a:t>Data Structures &amp; Algorithm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C04C1A-0D86-38E7-5557-58C5AB77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4436" y="6454954"/>
            <a:ext cx="5268957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1F73EB-8460-5E6B-90D2-750124BB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3980" y="6430396"/>
            <a:ext cx="599551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A380267-7AEF-7CA9-8B3C-EA6C807FFCDB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9E41C578-50ED-8FD4-2294-A3915E895D29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7272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539FAE-A4CC-7DB8-1693-37652D94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301" y="1902918"/>
            <a:ext cx="10515600" cy="1500188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Bahnschrift Condense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6D0B15E-F428-47CF-9970-C4AE77E7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4301" y="385385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xmlns="" id="{27C1816B-CA21-8EC0-4118-8DC2A4B9E72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sp>
        <p:nvSpPr>
          <p:cNvPr id="11" name="Flowchart: Process 10">
            <a:extLst>
              <a:ext uri="{FF2B5EF4-FFF2-40B4-BE49-F238E27FC236}">
                <a16:creationId xmlns:a16="http://schemas.microsoft.com/office/drawing/2014/main" xmlns="" id="{E2D1091F-33D9-2226-9ED6-908D3B6926C4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B439AF9D-FB3A-9C1D-9A9B-CBA376ED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783" y="643719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mtClean="0"/>
              <a:t>Data Structures &amp; Algorithm</a:t>
            </a:r>
            <a:endParaRPr lang="en-IN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1A2B3928-9705-4ABA-8F77-E2DB6B61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4437" y="6437198"/>
            <a:ext cx="4756582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Dr. Devyani Jadhav, Dept of AIML, Sanjivani University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748A3DAD-0991-3987-EADF-E535B8F2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5146" y="6465906"/>
            <a:ext cx="102907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F819410-C1ED-8D16-F6CB-B6E039C7C2D1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7672DF40-E127-C9C0-3FF4-AE418D1484EC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6905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ECF36A-90A9-2A95-2645-E81FE9364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5355" y="150850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5BB7054-816F-8518-C10C-43CFCCD09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046" y="152388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F8B0800-8641-719B-9255-91DE7E53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74F28C-809E-B020-A9FA-C2506B49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AA3BDD-9A27-03C0-C022-B2D71D19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3F6D1759-55E1-8CF0-2A8F-2CD112D91F09}"/>
              </a:ext>
            </a:extLst>
          </p:cNvPr>
          <p:cNvSpPr txBox="1">
            <a:spLocks/>
          </p:cNvSpPr>
          <p:nvPr userDrawn="1"/>
        </p:nvSpPr>
        <p:spPr>
          <a:xfrm>
            <a:off x="1935331" y="276580"/>
            <a:ext cx="9267548" cy="79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ahnschrift Condensed" panose="020B0502040204020203" pitchFamily="34" charset="0"/>
              </a:rPr>
              <a:t>Click to edit Master title style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pic>
        <p:nvPicPr>
          <p:cNvPr id="9" name="Image 4">
            <a:extLst>
              <a:ext uri="{FF2B5EF4-FFF2-40B4-BE49-F238E27FC236}">
                <a16:creationId xmlns:a16="http://schemas.microsoft.com/office/drawing/2014/main" xmlns="" id="{8A5C4AAB-80A9-9337-EB15-DCD2DBD766E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A4B68093-98C7-901E-B415-381C8B7D2F71}"/>
              </a:ext>
            </a:extLst>
          </p:cNvPr>
          <p:cNvCxnSpPr/>
          <p:nvPr userDrawn="1"/>
        </p:nvCxnSpPr>
        <p:spPr>
          <a:xfrm>
            <a:off x="124287" y="1198482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A526E21C-0EF1-CB46-8B72-1E0B03676F07}"/>
              </a:ext>
            </a:extLst>
          </p:cNvPr>
          <p:cNvCxnSpPr/>
          <p:nvPr userDrawn="1"/>
        </p:nvCxnSpPr>
        <p:spPr>
          <a:xfrm>
            <a:off x="124286" y="1262105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xmlns="" id="{68CF6092-6073-4386-1E6F-21D47E20AE0E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FC78D2B2-BA37-6502-5094-7B143F7C9323}"/>
              </a:ext>
            </a:extLst>
          </p:cNvPr>
          <p:cNvSpPr txBox="1">
            <a:spLocks/>
          </p:cNvSpPr>
          <p:nvPr userDrawn="1"/>
        </p:nvSpPr>
        <p:spPr>
          <a:xfrm>
            <a:off x="337783" y="64371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Data Structures &amp; Algorithm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xmlns="" id="{BCC73B21-7D29-93F9-BF3A-F63EC15D3F3E}"/>
              </a:ext>
            </a:extLst>
          </p:cNvPr>
          <p:cNvSpPr txBox="1">
            <a:spLocks/>
          </p:cNvSpPr>
          <p:nvPr userDrawn="1"/>
        </p:nvSpPr>
        <p:spPr>
          <a:xfrm>
            <a:off x="4354437" y="6437198"/>
            <a:ext cx="4756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Dr. Devyani Jadhav, Dept of AIML, Sanjivani University</a:t>
            </a:r>
            <a:endParaRPr lang="en-IN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xmlns="" id="{90C8DA5F-4166-E1ED-822E-7E9C83D4DD65}"/>
              </a:ext>
            </a:extLst>
          </p:cNvPr>
          <p:cNvSpPr txBox="1">
            <a:spLocks/>
          </p:cNvSpPr>
          <p:nvPr userDrawn="1"/>
        </p:nvSpPr>
        <p:spPr>
          <a:xfrm>
            <a:off x="10875146" y="6465906"/>
            <a:ext cx="10290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852C1B1-FD35-E9CC-3AE3-DDD28E0EE203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DE83921E-66DD-C83E-8F8A-30ED977F5B0B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1257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9CD259-61F9-A44B-426C-C7B574A86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984" y="139765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B9AB06E-9FCB-4C66-A035-2546D6A77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2134" y="227425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DA0D34A-CD29-0196-BB13-DC20BC799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2099" y="137604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D430A2B-022F-44B5-08E9-C8DB2FCEE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400" y="2274256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316EB822-57A8-A0AB-EF65-F2728F5D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331" y="276580"/>
            <a:ext cx="9267548" cy="79135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11" name="Image 4">
            <a:extLst>
              <a:ext uri="{FF2B5EF4-FFF2-40B4-BE49-F238E27FC236}">
                <a16:creationId xmlns:a16="http://schemas.microsoft.com/office/drawing/2014/main" xmlns="" id="{9EF33DFE-5259-5A9B-96A1-FD9B2649110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DA289A4-396D-A6E5-707A-8AF9946556E4}"/>
              </a:ext>
            </a:extLst>
          </p:cNvPr>
          <p:cNvCxnSpPr/>
          <p:nvPr userDrawn="1"/>
        </p:nvCxnSpPr>
        <p:spPr>
          <a:xfrm>
            <a:off x="124287" y="1198482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84D09E16-797A-D520-1986-5FAF66A7649D}"/>
              </a:ext>
            </a:extLst>
          </p:cNvPr>
          <p:cNvCxnSpPr/>
          <p:nvPr userDrawn="1"/>
        </p:nvCxnSpPr>
        <p:spPr>
          <a:xfrm>
            <a:off x="124286" y="1262105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xmlns="" id="{3EDC9140-9C96-49AA-EFE2-A128C3EBF2BE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xmlns="" id="{67DCBCC3-7D5B-078C-D975-2D554B18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783" y="643719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mtClean="0"/>
              <a:t>Data Structures &amp; Algorithm</a:t>
            </a:r>
            <a:endParaRPr lang="en-IN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xmlns="" id="{3BA787FD-CA97-DA68-4393-314AA98D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4437" y="6437198"/>
            <a:ext cx="4756582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Dr. Devyani Jadhav, Dept of AIML, Sanjivani University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xmlns="" id="{87B4DF13-0440-A460-CAD0-92B58D60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5146" y="6465906"/>
            <a:ext cx="102907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37E541F0-5A24-2C54-9979-ECB976385A18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097935C2-5583-20F3-36AE-34E6FDF5C031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4818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F0BAD663-FCA0-FCC6-F7C5-2A43912A65FA}"/>
              </a:ext>
            </a:extLst>
          </p:cNvPr>
          <p:cNvSpPr txBox="1">
            <a:spLocks/>
          </p:cNvSpPr>
          <p:nvPr userDrawn="1"/>
        </p:nvSpPr>
        <p:spPr>
          <a:xfrm>
            <a:off x="1908698" y="293195"/>
            <a:ext cx="9267548" cy="79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ahnschrift Condensed" panose="020B0502040204020203" pitchFamily="34" charset="0"/>
              </a:rPr>
              <a:t>Click to edit Master title style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xmlns="" id="{83C5DADF-BBE8-A3A2-51BE-98A5A8BF4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8156C41-BA27-5110-BAC8-35573DF81C83}"/>
              </a:ext>
            </a:extLst>
          </p:cNvPr>
          <p:cNvCxnSpPr/>
          <p:nvPr userDrawn="1"/>
        </p:nvCxnSpPr>
        <p:spPr>
          <a:xfrm>
            <a:off x="124287" y="1198482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D1256CFF-0301-2645-EAA7-AEBF0E86EFB2}"/>
              </a:ext>
            </a:extLst>
          </p:cNvPr>
          <p:cNvCxnSpPr/>
          <p:nvPr userDrawn="1"/>
        </p:nvCxnSpPr>
        <p:spPr>
          <a:xfrm>
            <a:off x="124286" y="1262105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xmlns="" id="{16A7FED6-3294-25E5-6287-BE20B110AA6F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xmlns="" id="{90D97F90-9B73-E64D-0B23-5F4DA40E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783" y="643719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mtClean="0"/>
              <a:t>Data Structures &amp; Algorithm</a:t>
            </a:r>
            <a:endParaRPr lang="en-IN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447654C6-C5A4-98EF-FF35-A0CB78B4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4437" y="6437198"/>
            <a:ext cx="4756582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Dr. Devyani Jadhav, Dept of AIML, Sanjivani University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99484470-22FF-DAF0-D3DD-17BC114A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5146" y="6465906"/>
            <a:ext cx="102907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B0439C5A-9AE6-BAC9-2058-0BFB9ECADAE5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3DDBAB87-D635-C466-FBB2-9D9D8D3E5124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8953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763116-2404-760F-2F76-8E93A876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05" y="741285"/>
            <a:ext cx="47797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2385DB1-F5BA-C206-0969-E19B26084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4894" y="1352163"/>
            <a:ext cx="5880363" cy="47756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9FA6C96-5BF4-43F4-AD28-8D4369217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5705" y="2341485"/>
            <a:ext cx="47797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A3257A92-F61C-9CAF-27F4-851C47BB4D8E}"/>
              </a:ext>
            </a:extLst>
          </p:cNvPr>
          <p:cNvSpPr txBox="1">
            <a:spLocks/>
          </p:cNvSpPr>
          <p:nvPr userDrawn="1"/>
        </p:nvSpPr>
        <p:spPr>
          <a:xfrm>
            <a:off x="1935331" y="276580"/>
            <a:ext cx="9267548" cy="79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ahnschrift Condensed" panose="020B0502040204020203" pitchFamily="34" charset="0"/>
              </a:rPr>
              <a:t>Click to edit Master title style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pic>
        <p:nvPicPr>
          <p:cNvPr id="9" name="Image 4">
            <a:extLst>
              <a:ext uri="{FF2B5EF4-FFF2-40B4-BE49-F238E27FC236}">
                <a16:creationId xmlns:a16="http://schemas.microsoft.com/office/drawing/2014/main" xmlns="" id="{CDFAAC1E-21F4-EF1F-F6AB-0118FBBD67DF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FA9C4CC1-660F-EEBB-0E27-52B057BB47A9}"/>
              </a:ext>
            </a:extLst>
          </p:cNvPr>
          <p:cNvCxnSpPr/>
          <p:nvPr userDrawn="1"/>
        </p:nvCxnSpPr>
        <p:spPr>
          <a:xfrm>
            <a:off x="124287" y="1198482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BDC333D-2D25-B5D3-2C62-7A4D8B84329F}"/>
              </a:ext>
            </a:extLst>
          </p:cNvPr>
          <p:cNvCxnSpPr/>
          <p:nvPr userDrawn="1"/>
        </p:nvCxnSpPr>
        <p:spPr>
          <a:xfrm>
            <a:off x="124286" y="1262105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xmlns="" id="{C0F414D9-62BE-CBB6-B7F1-59FAB04AC57E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xmlns="" id="{539831B7-2A54-1FB7-648B-0B5271E4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783" y="643719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mtClean="0"/>
              <a:t>Data Structures &amp; Algorithm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xmlns="" id="{B74D5A68-C242-B70D-1272-D687C13F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4437" y="6437198"/>
            <a:ext cx="4756582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Dr. Devyani Jadhav, Dept of AIML, Sanjivani University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xmlns="" id="{D21C7ECD-87DD-6457-89D9-9E14E1C2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5146" y="6465906"/>
            <a:ext cx="102907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CFCDD21-6412-BA28-4F00-F25E17916C32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91330077-5E5F-EAAE-C489-2C514B00CB04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0657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74DDE-5273-90A0-6C2F-342F86696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7C7D9A-2394-1C3F-510A-0FACA59B5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8D87E1-7BF5-47F9-B382-B6AD0B78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739060-F709-9771-4ACC-4CE70C2B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EEA780-BE67-3C8F-9958-97E6D7DE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477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170BB9-FC21-2FAD-B495-FAC54A28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D5CC57-5468-E071-849A-46EF0E3F4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08F8A6-1F2D-051B-2B9E-AD753504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A1F0D6-DFFC-37EF-48BA-D2590CE5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9BAA569-E335-73EC-6780-8AFB2E5A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0756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44913B-0B66-50C9-C99D-89D226FCC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EDF0F0C-DF27-8544-B9EB-1A6673B20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458084-BA3B-098B-3949-C9BD385E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7026FF-9CC5-0306-0F14-F36FD299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C814B0-9566-B342-84A5-8218EA65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2411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B026BF-65F1-B0AF-7172-1E77412B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4031FF-B742-A03C-1045-D5AD2B14E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F9D4D62-55AD-621F-670D-91FE99145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2E32BD-9A8F-D730-2A70-DDF08EEA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184393-3A7E-685B-9286-43E79E95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AE9FA9-9B52-ED64-76E0-A8FD5666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45487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CA6E70-07D4-F91C-529D-A5039EFF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5C2AEE7-B645-AA84-CABF-3598BF059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3770996-825E-BE41-8298-670B86308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08FA146-31A5-7377-4F9D-F7F956246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50BA718-0D7C-BC69-5F9C-487DC3E7B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6897B24-63B2-62BD-79C8-FD9030EE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E290728-B5EC-D8D9-D2DD-EF2B6A58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76D9EE4-F86A-28DA-6A87-7BC5E91D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794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E3B7FC-C43D-3FCE-BE29-08AF99C5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1F7222F-F35D-64C3-9D98-BF96C9DC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FD5F53-C775-AB96-6DA5-C08A62A3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7FEEA5-4CEC-9DA0-9B61-05E3425C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7913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CBAF6D-6C3F-7CA8-5CCF-C12605B7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32744D8-5BA9-B4D7-12F8-DFA59E32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697E8F1-12BD-1B9F-BB44-64C8E77F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36668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BADFF-2E1B-3B0B-386D-F36835EF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C3A737-6FB5-CFA4-3ABE-D96042159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E94E384-6C82-5D99-3BE9-F0F740503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FC7E652-3A91-3E7B-8593-8766D65B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024453F-95E8-961C-A87A-9A09DD44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BC457BB-3D96-B646-BB34-66F24703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76578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AE7830-A8F2-0361-7EDF-061975EC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AA65032-685C-4868-82EB-EB5E84672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123C01A-50C3-D0B6-A54E-665686AF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AA4942-F4C7-EB1B-9193-A412295D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C6ECD5B-57BD-C112-0FDC-3FF8DFF37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CBC4A8-83AB-CE7A-4E6E-B9BDAE95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50533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20A670-9FE6-9AD4-9EE9-28011522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2646CB7-3E51-7B3E-788E-40589739D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C58E6-EBB7-F34C-3B71-3F6044AA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172BDA-99BF-047E-EAAD-97089F0A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ADE553-54FE-CDA6-8ACC-AE3A38B0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29112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C9BB454-A21B-A71A-BD4C-8F4AA004C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F1FD015-A911-43BC-98E2-D2CE55196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D19585-AA96-4DEC-9CBB-62AEBDE2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3135E5-D0F6-CC81-91F3-DC69B46C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0BD697-DF10-8CF8-868B-BC5EFD3A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2191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0A077CE-6D24-4F0C-229C-99A6B8F50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615" y="1498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xmlns="" id="{3A8CCEBC-8AD1-E2B7-DA3E-6D69FC38D74D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709383" cy="115647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3B01F576-C1F5-6DCE-8B57-CA64AFAC09D0}"/>
              </a:ext>
            </a:extLst>
          </p:cNvPr>
          <p:cNvCxnSpPr/>
          <p:nvPr userDrawn="1"/>
        </p:nvCxnSpPr>
        <p:spPr>
          <a:xfrm>
            <a:off x="124287" y="1198482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DA8A1AD9-2A05-4DA8-7707-A7171252FC2F}"/>
              </a:ext>
            </a:extLst>
          </p:cNvPr>
          <p:cNvCxnSpPr/>
          <p:nvPr userDrawn="1"/>
        </p:nvCxnSpPr>
        <p:spPr>
          <a:xfrm>
            <a:off x="124286" y="1262105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xmlns="" id="{85CEEE03-1F93-7B26-4BE3-2E21368A15F1}"/>
              </a:ext>
            </a:extLst>
          </p:cNvPr>
          <p:cNvSpPr/>
          <p:nvPr userDrawn="1"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C729AF5C-11B4-24D6-7C0F-C4328ABFD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7783" y="643719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mtClean="0"/>
              <a:t>Data Structures &amp; Algorithm</a:t>
            </a:r>
            <a:endParaRPr lang="en-IN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89C23B09-3202-82C7-1991-C10BC90FF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437" y="6437198"/>
            <a:ext cx="4756582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Dr. Devyani Jadhav, Dept of AIML, Sanjivani University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8013219A-F623-B362-6BDE-635AB9764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75146" y="6465906"/>
            <a:ext cx="102907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75B0C241-D0FA-41C4-806B-7A3C5377B3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39FDFD5D-2541-D558-8960-BC068B47764D}"/>
              </a:ext>
            </a:extLst>
          </p:cNvPr>
          <p:cNvCxnSpPr/>
          <p:nvPr userDrawn="1"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0943264-C7FA-75A5-9492-A8AD6D920D7E}"/>
              </a:ext>
            </a:extLst>
          </p:cNvPr>
          <p:cNvCxnSpPr/>
          <p:nvPr userDrawn="1"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8939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E54B7E0-7805-24D6-8F82-476A2D241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13FFB65-3151-03D4-CC08-2BFF3CAB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E7EDD9-9D91-B93E-FD29-BB7960806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Data Structures &amp; Algorithm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4B2081-C7E4-7BCF-14A9-0E814B62A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Devyani Jadhav, Dept of AIML, Sanjivani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3006AE-BD33-DDC3-50BB-16C69791A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AA219-780F-40A4-8E4C-A7BED1CAA6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919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CA429D-4508-1636-537F-DC9B5B41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583" y="663256"/>
            <a:ext cx="10070969" cy="1058994"/>
          </a:xfrm>
        </p:spPr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Advance Data Structures</a:t>
            </a:r>
            <a:endParaRPr lang="en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B97D7C4-2805-B1C8-CB01-CCC06637D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55412"/>
            <a:ext cx="9457267" cy="1058991"/>
          </a:xfrm>
        </p:spPr>
        <p:txBody>
          <a:bodyPr>
            <a:normAutofit fontScale="70000" lnSpcReduction="20000"/>
          </a:bodyPr>
          <a:lstStyle/>
          <a:p>
            <a:r>
              <a:rPr lang="en-IN" sz="32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Mrs. Manisha Pawar</a:t>
            </a:r>
            <a:endParaRPr lang="en-IN" sz="32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Instructor</a:t>
            </a:r>
          </a:p>
          <a:p>
            <a:r>
              <a:rPr lang="en-IN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</a:t>
            </a:r>
            <a:r>
              <a:rPr lang="en-IN" sz="32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CSE, COEP Technological University, Pune</a:t>
            </a:r>
            <a:endParaRPr lang="en-IN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xmlns="" id="{35BE7C15-B780-A3E2-0D5F-A1B042F8848D}"/>
              </a:ext>
            </a:extLst>
          </p:cNvPr>
          <p:cNvSpPr/>
          <p:nvPr/>
        </p:nvSpPr>
        <p:spPr>
          <a:xfrm>
            <a:off x="8878" y="6465906"/>
            <a:ext cx="12183122" cy="307712"/>
          </a:xfrm>
          <a:prstGeom prst="flowChartProcess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4E75232B-DE41-574B-5803-89DF0748206C}"/>
              </a:ext>
            </a:extLst>
          </p:cNvPr>
          <p:cNvCxnSpPr/>
          <p:nvPr/>
        </p:nvCxnSpPr>
        <p:spPr>
          <a:xfrm>
            <a:off x="258931" y="6224723"/>
            <a:ext cx="11540971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CAAD46AD-0F1A-0E1E-9F09-7F0C45D9C0BC}"/>
              </a:ext>
            </a:extLst>
          </p:cNvPr>
          <p:cNvCxnSpPr/>
          <p:nvPr/>
        </p:nvCxnSpPr>
        <p:spPr>
          <a:xfrm>
            <a:off x="258930" y="6288346"/>
            <a:ext cx="1154097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DBCA429D-4508-1636-537F-DC9B5B415FD1}"/>
              </a:ext>
            </a:extLst>
          </p:cNvPr>
          <p:cNvSpPr txBox="1">
            <a:spLocks/>
          </p:cNvSpPr>
          <p:nvPr/>
        </p:nvSpPr>
        <p:spPr>
          <a:xfrm>
            <a:off x="1496489" y="2523686"/>
            <a:ext cx="10070969" cy="10589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UNIT-1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Fundamental</a:t>
            </a:r>
            <a:r>
              <a:rPr kumimoji="0" lang="en-IN" sz="6000" b="0" i="0" u="none" strike="noStrike" kern="120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 Concepts</a:t>
            </a:r>
            <a:endParaRPr kumimoji="0" lang="en-IN" sz="6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312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EF3C80-64E0-ED90-3DE2-3C02F3E5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Points :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DC4FCC-2334-DE4A-E4B8-B578AF759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Data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Data Structure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Abstract Data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Realization of Data Types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ysClr val="windowText" lastClr="0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ysClr val="windowText" lastClr="0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57563C-1906-DA9A-D762-08C986E8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0418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B07479-56C4-810A-BAFC-B6662EB6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3A7F32-D923-AF71-CA1D-F23E88BB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Simply set of values.</a:t>
            </a:r>
          </a:p>
          <a:p>
            <a:r>
              <a:rPr lang="en-US" dirty="0"/>
              <a:t>In C/C++  language: </a:t>
            </a:r>
          </a:p>
          <a:p>
            <a:pPr lvl="1"/>
            <a:r>
              <a:rPr lang="en-US" dirty="0"/>
              <a:t>Integer data values 0……..9</a:t>
            </a:r>
          </a:p>
          <a:p>
            <a:pPr lvl="1"/>
            <a:r>
              <a:rPr lang="en-US" dirty="0"/>
              <a:t>Character: A…Z, a…..z</a:t>
            </a:r>
          </a:p>
          <a:p>
            <a:pPr lvl="1"/>
            <a:r>
              <a:rPr lang="en-US" dirty="0"/>
              <a:t>A data items refers to single unit of values.</a:t>
            </a:r>
          </a:p>
          <a:p>
            <a:r>
              <a:rPr lang="en-US" dirty="0"/>
              <a:t>If Data items are divided into subitems then not called basic items</a:t>
            </a:r>
          </a:p>
          <a:p>
            <a:r>
              <a:rPr lang="en-US" dirty="0"/>
              <a:t>Collection of data are frequently organized into hierarchy of fields, records</a:t>
            </a:r>
            <a:r>
              <a:rPr lang="en-US" dirty="0" smtClean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5ED4EE-CF72-B223-2B88-4580E9BB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6810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B4B22B-85A4-2127-2AA8-B7989B5E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Data: Atomic vs Composite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49A711-9ECE-FD6B-15F0-327EA30F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Atomic Data: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Consider as single, Non decomposable data/entity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Can’t divided into subparts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Atomic Data Type: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Set of atomic data with identical properties.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It consist of set values and set of operations on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Ex: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Character: ‘A’ ….’Z’, ‘a’…..’z’……’\0’ etc. Operations: compare character </a:t>
            </a:r>
            <a:r>
              <a:rPr lang="en-US" dirty="0" err="1">
                <a:solidFill>
                  <a:sysClr val="windowText" lastClr="000000"/>
                </a:solidFill>
              </a:rPr>
              <a:t>etc</a:t>
            </a:r>
            <a:endParaRPr lang="en-US" dirty="0">
              <a:solidFill>
                <a:sysClr val="windowText" lastClr="000000"/>
              </a:solidFill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Integer Value: 100, 1, 67850, 7643 operation: </a:t>
            </a:r>
            <a:r>
              <a:rPr lang="en-US" dirty="0" err="1">
                <a:solidFill>
                  <a:sysClr val="windowText" lastClr="000000"/>
                </a:solidFill>
              </a:rPr>
              <a:t>Arithmatic</a:t>
            </a:r>
            <a:r>
              <a:rPr lang="en-US" dirty="0">
                <a:solidFill>
                  <a:sysClr val="windowText" lastClr="000000"/>
                </a:solidFill>
              </a:rPr>
              <a:t> operations, compare </a:t>
            </a:r>
            <a:r>
              <a:rPr lang="en-US" dirty="0" err="1">
                <a:solidFill>
                  <a:sysClr val="windowText" lastClr="000000"/>
                </a:solidFill>
              </a:rPr>
              <a:t>etc</a:t>
            </a:r>
            <a:endParaRPr lang="en-US" dirty="0">
              <a:solidFill>
                <a:sysClr val="windowText" lastClr="00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FAECD9-9391-9BCE-1535-B75230C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080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0E1DB7-ABA8-1CBA-D51F-1523D6BC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Data: Atomic vs Composite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41E787-5343-6860-3DC8-827194BD1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Composite Data: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Composition of several atomic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Divided into atomic data with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Ex: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Employee name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First name, Last name, Middle Name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Telephone number: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Area code, extension no, phone number,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Date of birth: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Day, month, year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Composite data are used in terms as data structure.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823441-DF15-42E0-00CB-8C105087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2269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004D2B-7EE4-F98C-2509-2A25F339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2C6683-7ED7-BD71-281F-77EAEC953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783" y="1576896"/>
            <a:ext cx="10515600" cy="452224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Data type consist of two parts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Set of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The operations that can be performed on the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Term which </a:t>
            </a:r>
            <a:r>
              <a:rPr lang="en-US" dirty="0">
                <a:solidFill>
                  <a:srgbClr val="00B050"/>
                </a:solidFill>
              </a:rPr>
              <a:t>refers to kind of data </a:t>
            </a:r>
            <a:r>
              <a:rPr lang="en-US" dirty="0"/>
              <a:t>that variable may hold.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 types are primarily used in computer programming, in which variables are created to store data.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Each variable is assigned a data type that determines what type of data/ value the variable may contain.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data type is a classification of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Which </a:t>
            </a:r>
            <a:r>
              <a:rPr lang="en-US" dirty="0"/>
              <a:t>can store a specific type of information.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Ex. </a:t>
            </a:r>
            <a:r>
              <a:rPr lang="en-US" dirty="0">
                <a:solidFill>
                  <a:sysClr val="windowText" lastClr="000000"/>
                </a:solidFill>
              </a:rPr>
              <a:t>float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ysClr val="windowText" lastClr="000000"/>
                </a:solidFill>
              </a:rPr>
              <a:t> 90.9, 89.57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Integer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Wingdings" panose="05000000000000000000" pitchFamily="2" charset="2"/>
              </a:rPr>
              <a:t> 122, 57, 2, 45789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6B2483E-1155-C4B8-5693-3EC6DEF4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449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A83890-8ECE-E45A-9A5C-0DBBBB86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Built in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FD05D0-EBB5-3B86-42BB-03169F9CC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Primary </a:t>
            </a:r>
            <a:r>
              <a:rPr lang="en-US" dirty="0" smtClean="0"/>
              <a:t>Data/Primitive/ </a:t>
            </a:r>
            <a:r>
              <a:rPr lang="en-US" dirty="0"/>
              <a:t>Built in </a:t>
            </a:r>
            <a:r>
              <a:rPr lang="en-US" dirty="0" smtClean="0"/>
              <a:t>data/Basic data type: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Integer, float, character, void</a:t>
            </a:r>
          </a:p>
          <a:p>
            <a:pPr>
              <a:buFont typeface="Wingdings" panose="05000000000000000000" pitchFamily="2" charset="2"/>
              <a:buChar char="§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Derived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Data/ Non Primitive: 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Array, Function, Pointer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baseline="0" dirty="0">
              <a:solidFill>
                <a:sysClr val="windowText" lastClr="0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User Defined Data Type: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Enumeration</a:t>
            </a:r>
            <a:r>
              <a:rPr lang="en-US" dirty="0">
                <a:solidFill>
                  <a:sysClr val="windowText" lastClr="000000"/>
                </a:solidFill>
              </a:rPr>
              <a:t>, </a:t>
            </a:r>
            <a:r>
              <a:rPr lang="en-US" dirty="0" err="1" smtClean="0">
                <a:solidFill>
                  <a:sysClr val="windowText" lastClr="000000"/>
                </a:solidFill>
              </a:rPr>
              <a:t>Typedef</a:t>
            </a:r>
            <a:r>
              <a:rPr lang="en-US" dirty="0" smtClean="0">
                <a:solidFill>
                  <a:sysClr val="windowText" lastClr="000000"/>
                </a:solidFill>
              </a:rPr>
              <a:t>, Structure, Union, 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B121ABD-53B5-4FB7-C760-7C2FD052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77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Data Type</a:t>
            </a:r>
            <a:endParaRPr lang="en-US" dirty="0"/>
          </a:p>
        </p:txBody>
      </p:sp>
      <p:pic>
        <p:nvPicPr>
          <p:cNvPr id="5" name="Content Placeholder 4" descr="data typ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04503" y="1758576"/>
            <a:ext cx="7649643" cy="384863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6" name="Picture 5" descr="College-of-Engineering-Pune-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73E889-6586-32D2-CB62-FBFB7406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F46AF1-B5CC-224A-E67F-E87F93FA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is an </a:t>
            </a:r>
            <a:r>
              <a:rPr lang="en-US" dirty="0">
                <a:solidFill>
                  <a:srgbClr val="00B050"/>
                </a:solidFill>
              </a:rPr>
              <a:t>aggregation of atomic and composite data </a:t>
            </a:r>
            <a:r>
              <a:rPr lang="en-US" dirty="0"/>
              <a:t>type into a set with defined relationship.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Structure refers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: set of rules that hold the data together.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>
                <a:solidFill>
                  <a:sysClr val="windowText" lastClr="000000"/>
                </a:solidFill>
              </a:rPr>
              <a:t>i.e. set od association or relationship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Data may be organized many different ways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Data structure:  Logical or mathematical model of particular organization of data.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It is distinguished from data object is that describe data object and the way that they are related .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Set of operations which may be applied to elements of data object 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6F2F51-502F-38CC-3CEB-CAB4E5C5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866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B4806-82C8-2965-248D-D6F3EB5F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B21AFD-11F3-F1AE-6A9E-F091EC799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Primitive data structures: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Basic data structures and are directly operated upon by the machine instructions, which is in a primitive level. </a:t>
            </a:r>
          </a:p>
          <a:p>
            <a:pPr lvl="1"/>
            <a:r>
              <a:rPr lang="en-US" dirty="0"/>
              <a:t>Example: integers, floating point numbers, characters, string constants, pointers etc.</a:t>
            </a:r>
          </a:p>
          <a:p>
            <a:r>
              <a:rPr lang="en-US" b="1" dirty="0">
                <a:solidFill>
                  <a:srgbClr val="FF0000"/>
                </a:solidFill>
              </a:rPr>
              <a:t>Non-primitive data structures:</a:t>
            </a:r>
          </a:p>
          <a:p>
            <a:pPr lvl="1"/>
            <a:r>
              <a:rPr lang="en-US" dirty="0"/>
              <a:t>Data structure emphasizing on structuring of a group of </a:t>
            </a:r>
          </a:p>
          <a:p>
            <a:pPr lvl="2"/>
            <a:r>
              <a:rPr lang="en-US" dirty="0"/>
              <a:t>homogeneous (same type) or </a:t>
            </a:r>
          </a:p>
          <a:p>
            <a:pPr lvl="2"/>
            <a:r>
              <a:rPr lang="en-US" dirty="0"/>
              <a:t>Heterogeneous (different type) data items. </a:t>
            </a:r>
          </a:p>
          <a:p>
            <a:pPr lvl="1"/>
            <a:r>
              <a:rPr lang="en-US" dirty="0"/>
              <a:t>Example: Array, list, files, linked list, trees and 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A4BCA1-925D-46AE-87B3-912EE424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721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9058FA-935D-E070-E778-7B714367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Data structure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63781F5-5826-FF0A-3B81-FEBE9256A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9722" y="1723787"/>
            <a:ext cx="7735380" cy="3410426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C2C915-91ED-3470-5A7A-0F009DD7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74161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EB175A-6D1F-335C-FEA9-16EE9698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4E6AAE-6ADC-598B-C741-CE5CA0224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Ex: </a:t>
            </a:r>
          </a:p>
          <a:p>
            <a:pPr marL="514350" lvl="1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70C0"/>
                </a:solidFill>
              </a:rPr>
              <a:t>Array: </a:t>
            </a:r>
            <a:r>
              <a:rPr lang="en-US" sz="2800" dirty="0"/>
              <a:t>homogeneous sequence of data/ data type know as element</a:t>
            </a:r>
          </a:p>
          <a:p>
            <a:pPr marL="971550" lvl="2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Association is position among element. </a:t>
            </a:r>
          </a:p>
          <a:p>
            <a:pPr marL="971550" lvl="2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514350" lvl="1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70C0"/>
                </a:solidFill>
              </a:rPr>
              <a:t>Records</a:t>
            </a:r>
            <a:r>
              <a:rPr lang="en-US" sz="2800" dirty="0"/>
              <a:t>: heterogeneous combination of data into single structure with an key</a:t>
            </a:r>
          </a:p>
          <a:p>
            <a:pPr marL="971550" lvl="2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No association.</a:t>
            </a:r>
          </a:p>
          <a:p>
            <a:pPr marL="57150" indent="-228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Data structure can be nested: Data structure within data structure.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D67307-1302-3B51-2EA1-116122A5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97585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5B3685-0877-A1FF-E5E5-EB937F30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Type: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1B5E85-C512-6020-8525-71B6E3E0F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Need: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</a:rPr>
              <a:t>Programmer need to implement his own data type, </a:t>
            </a:r>
            <a:r>
              <a:rPr lang="en-US" dirty="0" smtClean="0">
                <a:solidFill>
                  <a:sysClr val="windowText" lastClr="000000"/>
                </a:solidFill>
              </a:rPr>
              <a:t>as </a:t>
            </a:r>
            <a:r>
              <a:rPr lang="en-US" dirty="0">
                <a:solidFill>
                  <a:sysClr val="windowText" lastClr="000000"/>
                </a:solidFill>
              </a:rPr>
              <a:t>per his application requirement.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70C0"/>
                </a:solidFill>
              </a:rPr>
              <a:t>Programmer’s own data referred as ADT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ADT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It has data structure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Set of operations that can be used to read that data structure.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Rule: allows not only to read but to doc other operations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With ADT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user not need to concern how the task is done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But what it can do.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80FD86-E743-A924-A6C3-DE3E7474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2130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2BCAA-C60C-E4A7-9394-48B85C29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Type: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0589B0-C600-6BCD-F3AE-98DA42825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279" y="1435494"/>
            <a:ext cx="10515600" cy="47296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" altLang="en-US" dirty="0"/>
              <a:t>ADT </a:t>
            </a:r>
            <a:r>
              <a:rPr lang="en-US" dirty="0"/>
              <a:t>a type (or class) for objects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whose behavior is defined by a set of value and a set of operations.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ADT only mentions </a:t>
            </a:r>
            <a:r>
              <a:rPr lang="en-US" dirty="0">
                <a:solidFill>
                  <a:srgbClr val="0070C0"/>
                </a:solidFill>
              </a:rPr>
              <a:t>what operations are to be performed </a:t>
            </a:r>
            <a:r>
              <a:rPr lang="en-US" dirty="0"/>
              <a:t>but </a:t>
            </a:r>
            <a:r>
              <a:rPr lang="en-US" dirty="0">
                <a:solidFill>
                  <a:srgbClr val="00B050"/>
                </a:solidFill>
              </a:rPr>
              <a:t>not how </a:t>
            </a:r>
            <a:r>
              <a:rPr lang="en-US" dirty="0"/>
              <a:t>these operations will be implemented.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does not specify how data will be organized in memory and what algorithms will be used for implementing the operations.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process of </a:t>
            </a:r>
            <a:r>
              <a:rPr lang="en-US" dirty="0">
                <a:solidFill>
                  <a:srgbClr val="FF0000"/>
                </a:solidFill>
              </a:rPr>
              <a:t>providing only the essentials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hiding the details </a:t>
            </a:r>
            <a:r>
              <a:rPr lang="en-US" dirty="0"/>
              <a:t>is known as </a:t>
            </a:r>
            <a:r>
              <a:rPr lang="en-US" b="1" dirty="0">
                <a:solidFill>
                  <a:srgbClr val="00B050"/>
                </a:solidFill>
              </a:rPr>
              <a:t>abstraction.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Abstractions: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We know what a data type can do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How it is done is hidden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60A02C-449C-34FA-6D41-03A11326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17614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178467-1AC2-DDFE-F266-DEF64234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38A501-DD3C-3B8D-444B-E91AD343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15" y="1498039"/>
            <a:ext cx="10515600" cy="454454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ADT as a black box which hides the inner structure and design of the data type.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Example: Concept of “list”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Three data structure supports list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We can use array, linked list, file.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Abstract data type is a data declarations packaged together with operations that are meaningful for the data type.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Encapsulate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data and operations on data and hide them from user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baseline="0" dirty="0">
                <a:solidFill>
                  <a:sysClr val="windowText" lastClr="000000"/>
                </a:solidFill>
              </a:rPr>
              <a:t>ADT: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Declaration of data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baseline="0" dirty="0">
                <a:solidFill>
                  <a:sysClr val="windowText" lastClr="000000"/>
                </a:solidFill>
              </a:rPr>
              <a:t>Declaration of operations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Encapsulation of data and operations.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65B452-8CED-8AC7-FD36-FFF36ED8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898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4ED160-3148-8597-3997-94548A97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DE3852-0DF2-F73B-E9AA-26B63AF74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518" y="1469759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Encapsulation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Operation on the ADT can only be done by calling the appropriate function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not mention of how the set of operations is implemented 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The definition of the type and all operations on that type can be localized 	to one section of the program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We can treat the ADT as a primitive type:</a:t>
            </a:r>
          </a:p>
          <a:p>
            <a:pPr lvl="2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ADT as  C++: class </a:t>
            </a:r>
          </a:p>
          <a:p>
            <a:pPr lvl="2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method as  C++: member function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E44921F-E9A8-6174-1243-97358F54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  <p:pic>
        <p:nvPicPr>
          <p:cNvPr id="8" name="Picture 7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951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54529E-5A66-5EBA-3386-E3427986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727255-1D40-2B35-7923-EB1E6A402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ADT consist of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Set of definitions that allow programmer to use functions while hiding implementations.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ADT defines: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Set of Domains ‘D’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Set of Functions ‘F’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Set of Rules/ Axioms ‘A’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ADT denotes Abstract Data Structure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" dirty="0"/>
              <a:t>Three </a:t>
            </a:r>
            <a:r>
              <a:rPr lang="en-US" dirty="0"/>
              <a:t>ADTs namely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List ADT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Stack ADT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Queue ADT.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4393A1-B2B8-C246-7926-E17FA962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927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39230-419C-FF7E-3A34-68F2642E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 : </a:t>
            </a:r>
            <a:r>
              <a:rPr lang="en-IN"/>
              <a:t>Array as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6E5826-E7DF-CEE0-61AE-14C8BC02C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ADT as a black box which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hides the inner structure and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design of the data type.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Set as ADT;</a:t>
            </a:r>
          </a:p>
          <a:p>
            <a:pPr lvl="2"/>
            <a:r>
              <a:rPr lang="en-US" altLang="en-US" dirty="0"/>
              <a:t>A set of elements</a:t>
            </a:r>
          </a:p>
          <a:p>
            <a:pPr lvl="2"/>
            <a:r>
              <a:rPr lang="en-US" altLang="en-US" dirty="0"/>
              <a:t>Operations: </a:t>
            </a:r>
            <a:r>
              <a:rPr lang="en-US" altLang="en-US" i="1" dirty="0"/>
              <a:t>union, intersection, size</a:t>
            </a:r>
            <a:r>
              <a:rPr lang="en-US" altLang="en-US" dirty="0"/>
              <a:t> and </a:t>
            </a:r>
            <a:r>
              <a:rPr lang="en-US" altLang="en-US" i="1" dirty="0"/>
              <a:t>complement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Queue ADT.</a:t>
            </a:r>
          </a:p>
          <a:p>
            <a:pPr lvl="2"/>
            <a:r>
              <a:rPr lang="en-US" altLang="en-US" dirty="0"/>
              <a:t>A set of sequences of elements</a:t>
            </a:r>
          </a:p>
          <a:p>
            <a:pPr lvl="2"/>
            <a:r>
              <a:rPr lang="en-US" altLang="en-US" dirty="0"/>
              <a:t>Operations: c</a:t>
            </a:r>
            <a:r>
              <a:rPr lang="en-US" altLang="en-US" i="1" dirty="0"/>
              <a:t>reate empty queue, insert, examine, delete</a:t>
            </a:r>
            <a:r>
              <a:rPr lang="en-US" altLang="en-US" dirty="0"/>
              <a:t>, and d</a:t>
            </a:r>
            <a:r>
              <a:rPr lang="en-US" altLang="en-US" i="1" dirty="0"/>
              <a:t>estroy queue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List as ADT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Stack as ADT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06EAD1-547C-8A87-68BC-9F2BC1C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2379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FA9717-CCC7-6E91-3A48-4CF81EB3D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648" y="316048"/>
            <a:ext cx="9267548" cy="791351"/>
          </a:xfrm>
        </p:spPr>
        <p:txBody>
          <a:bodyPr/>
          <a:lstStyle/>
          <a:p>
            <a:r>
              <a:rPr lang="en-US" dirty="0"/>
              <a:t>Abstract Data Type : </a:t>
            </a:r>
            <a:r>
              <a:rPr lang="en-IN" dirty="0"/>
              <a:t>Array as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1462F0-AD0D-7A50-B3A5-1504394D5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15" y="1498040"/>
            <a:ext cx="10515600" cy="464823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Array-1D Array-finite ordered set of homogeneous element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Finite: specific numbers of elements in an array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Ordered: elements are arranged in sequence 0</a:t>
            </a:r>
            <a:r>
              <a:rPr lang="en-US" baseline="30000" dirty="0"/>
              <a:t>th</a:t>
            </a:r>
            <a:r>
              <a:rPr lang="en-US" dirty="0"/>
              <a:t> ,1</a:t>
            </a:r>
            <a:r>
              <a:rPr lang="en-US" baseline="30000" dirty="0"/>
              <a:t>st</a:t>
            </a:r>
            <a:r>
              <a:rPr lang="en-US" dirty="0"/>
              <a:t> , 2</a:t>
            </a:r>
            <a:r>
              <a:rPr lang="en-US" baseline="30000" dirty="0"/>
              <a:t>nd</a:t>
            </a:r>
            <a:r>
              <a:rPr lang="en-US" dirty="0"/>
              <a:t> ….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Homogeneous : Same of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Two basic operations to access an array: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Extract: accepts an array and an index I, return elements on the array </a:t>
            </a:r>
            <a:r>
              <a:rPr lang="en-US" dirty="0">
                <a:sym typeface="Wingdings" panose="05000000000000000000" pitchFamily="2" charset="2"/>
              </a:rPr>
              <a:t>a[</a:t>
            </a:r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]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Sorting: accepts an array, an index </a:t>
            </a:r>
            <a:r>
              <a:rPr lang="en-US" dirty="0" err="1"/>
              <a:t>i</a:t>
            </a:r>
            <a:r>
              <a:rPr lang="en-US" dirty="0"/>
              <a:t>, and element, return updated array</a:t>
            </a:r>
          </a:p>
          <a:p>
            <a:pPr marL="457200" lvl="1" indent="0">
              <a:buNone/>
            </a:pPr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]=x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Smallest array’s index=</a:t>
            </a:r>
            <a:r>
              <a:rPr lang="en-US" b="1" i="1" dirty="0"/>
              <a:t>lower bound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Highest index =</a:t>
            </a:r>
            <a:r>
              <a:rPr lang="en-US" b="1" i="1" dirty="0"/>
              <a:t>upper bound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i="1" dirty="0"/>
              <a:t>Range=</a:t>
            </a:r>
            <a:r>
              <a:rPr lang="en-US" dirty="0"/>
              <a:t>numbers of elements in an array </a:t>
            </a:r>
            <a:r>
              <a:rPr lang="en-US" sz="2200" b="1" i="1" dirty="0">
                <a:solidFill>
                  <a:srgbClr val="FF0000"/>
                </a:solidFill>
              </a:rPr>
              <a:t>upper bound - lower bound +1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C array is not changed during program’s execution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Lower bound is fixed always zero and upper is fixed at time of program written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04465A-779E-2BA4-5928-964FC3DF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256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DE05E5-C45B-EADA-6F32-1AAE83BB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Type: </a:t>
            </a:r>
            <a:r>
              <a:rPr lang="en-IN" dirty="0"/>
              <a:t>Array as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94D4D2-B3D7-89D0-DDCC-FFBB0B16F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15" y="1498039"/>
            <a:ext cx="10515600" cy="4544541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Array-1D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Data: Array-finite ordered set of homogeneous element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Finite: specific numbers of elements in an array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Ordered: elements are arranged in sequence 0</a:t>
            </a:r>
            <a:r>
              <a:rPr lang="en-US" baseline="30000" dirty="0"/>
              <a:t>th</a:t>
            </a:r>
            <a:r>
              <a:rPr lang="en-US" dirty="0"/>
              <a:t> ,1</a:t>
            </a:r>
            <a:r>
              <a:rPr lang="en-US" baseline="30000" dirty="0"/>
              <a:t>st</a:t>
            </a:r>
            <a:r>
              <a:rPr lang="en-US" dirty="0"/>
              <a:t> , 2</a:t>
            </a:r>
            <a:r>
              <a:rPr lang="en-US" baseline="30000" dirty="0"/>
              <a:t>nd</a:t>
            </a:r>
            <a:r>
              <a:rPr lang="en-US" dirty="0"/>
              <a:t> ….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Homogeneous : Same of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Operations on an array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Extract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Delete an element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Insert an element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Display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Display reverse array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Merge two arrays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Length of array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49D63B-7869-A6C5-4C8D-E35C1135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950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E1F7E3-5BFD-7C17-E74A-EB933BA3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Type: </a:t>
            </a:r>
            <a:r>
              <a:rPr lang="en-IN" dirty="0"/>
              <a:t>List as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0F60BD-D074-A7B0-59B4-DB4C8FA69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list </a:t>
            </a:r>
            <a:r>
              <a:rPr lang="en-US" dirty="0"/>
              <a:t>contains elements of the same type arranged in sequential order.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 sequence of zero or more elements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Example: A1, A2, A3, …… 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Rules: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Size/ length of the list: 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A1: first element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An: last element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Ai: element at position 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Linearly ordered: Ai have Ai+1 successor and Ai-1 as predecessor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D267EC-01E2-5B7C-17A9-7F863F97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1579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8CF39-C971-6C27-62B9-F5CF99F1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Type: List as ADT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A05F24-DCC7-8259-A09C-F7D89C2E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Operations on List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print( ) </a:t>
            </a:r>
            <a:r>
              <a:rPr lang="en-US" dirty="0"/>
              <a:t>– print the list / display the elements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insert( ) </a:t>
            </a:r>
            <a:r>
              <a:rPr lang="en-US" dirty="0"/>
              <a:t>– Insert an element at any position of the list.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Remove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70C0"/>
                </a:solidFill>
              </a:rPr>
              <a:t>removefirst</a:t>
            </a:r>
            <a:r>
              <a:rPr lang="en-US" dirty="0">
                <a:solidFill>
                  <a:srgbClr val="0070C0"/>
                </a:solidFill>
              </a:rPr>
              <a:t>( ) </a:t>
            </a:r>
            <a:r>
              <a:rPr lang="en-US" dirty="0"/>
              <a:t>– Remove the first occurrence of any element from a non-empty list.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70C0"/>
                </a:solidFill>
              </a:rPr>
              <a:t>removeAt</a:t>
            </a:r>
            <a:r>
              <a:rPr lang="en-US" dirty="0">
                <a:solidFill>
                  <a:srgbClr val="0070C0"/>
                </a:solidFill>
              </a:rPr>
              <a:t>( ) </a:t>
            </a:r>
            <a:r>
              <a:rPr lang="en-US" dirty="0"/>
              <a:t>– Remove the element at a specified location from a non-empty list.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replace( ) </a:t>
            </a:r>
            <a:r>
              <a:rPr lang="en-US" dirty="0"/>
              <a:t>– Replace an element at any position by another element.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size( )</a:t>
            </a:r>
            <a:r>
              <a:rPr lang="en-US" dirty="0"/>
              <a:t> – Return the number of elements in the list.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70C0"/>
                </a:solidFill>
              </a:rPr>
              <a:t>isEmpty</a:t>
            </a:r>
            <a:r>
              <a:rPr lang="en-US" dirty="0">
                <a:solidFill>
                  <a:srgbClr val="0070C0"/>
                </a:solidFill>
              </a:rPr>
              <a:t>( ) </a:t>
            </a:r>
            <a:r>
              <a:rPr lang="en-US" dirty="0"/>
              <a:t>– Return true if the list is empty, otherwise return false.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70C0"/>
                </a:solidFill>
              </a:rPr>
              <a:t>isFull</a:t>
            </a:r>
            <a:r>
              <a:rPr lang="en-US" dirty="0">
                <a:solidFill>
                  <a:srgbClr val="0070C0"/>
                </a:solidFill>
              </a:rPr>
              <a:t>( ) </a:t>
            </a:r>
            <a:r>
              <a:rPr lang="en-US" dirty="0"/>
              <a:t>– Return true if the list is full, otherwise return false.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CBEAE52-3904-F967-8634-A166CBA0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7140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587CE-FFE2-008F-5F53-3982A9DB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ADT: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1EB152-A5E9-696D-6EED-0E63BC5B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Choose a data structure to represent the ADT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E.g. arrays, records,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Each operation associated with the ADT is implemented by one or more subroutines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Two standard implementations for the list ADT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Array-based: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/>
              <a:t>Elements are stored in contiguous array positions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/>
              <a:t>Requires an estimate of the maximum size of the list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Linked list: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/>
              <a:t>Ensure that the list is not stored contiguously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6F335C-A21C-ABBF-6CC2-6A3BED6D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23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8277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42675A-40D4-256A-AF3A-D4D84E7E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Type: Stack as ADT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72CC6A-46C1-6A92-D65B-2DDAC43E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15" y="1498040"/>
            <a:ext cx="10515600" cy="45539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Stack </a:t>
            </a:r>
            <a:r>
              <a:rPr lang="en-US" dirty="0"/>
              <a:t>contains elements of the same type arranged in sequential order.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All operations take place at a single end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70C0"/>
                </a:solidFill>
              </a:rPr>
              <a:t>top of the stack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Last In First Out or First In Last Out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Operations:</a:t>
            </a:r>
          </a:p>
          <a:p>
            <a:pPr lvl="1"/>
            <a:r>
              <a:rPr lang="en-US" dirty="0"/>
              <a:t>push() – Insert an element at one end of the stack called top.</a:t>
            </a:r>
          </a:p>
          <a:p>
            <a:pPr lvl="1"/>
            <a:r>
              <a:rPr lang="en-US" dirty="0"/>
              <a:t>pop() – Remove and return the element at the top of the stack, if it is not empty.</a:t>
            </a:r>
          </a:p>
          <a:p>
            <a:pPr lvl="1"/>
            <a:r>
              <a:rPr lang="en-US" dirty="0"/>
              <a:t>size() – Return the number of elements in the stack.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() – Return true if the stack is empty, otherwise return false.</a:t>
            </a:r>
          </a:p>
          <a:p>
            <a:pPr lvl="1"/>
            <a:r>
              <a:rPr lang="en-US" dirty="0" err="1"/>
              <a:t>isFull</a:t>
            </a:r>
            <a:r>
              <a:rPr lang="en-US" dirty="0"/>
              <a:t>() – Return true if the stack is full, otherwise return false.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B8195A-5A59-378D-067A-14A8EA43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24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38577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0FC08B-9D0E-C631-3539-11B938E6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Type: Queue as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88708C-5B9B-D522-3B23-BE5634869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Queue</a:t>
            </a:r>
            <a:r>
              <a:rPr lang="en-US" dirty="0"/>
              <a:t> contains elements of the same type arranged in sequential order.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Operations take place at both ends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Insertion is at the end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sz="3000" dirty="0">
                <a:solidFill>
                  <a:srgbClr val="0070C0"/>
                </a:solidFill>
              </a:rPr>
              <a:t>Rear</a:t>
            </a:r>
            <a:r>
              <a:rPr lang="en-US" sz="3000" dirty="0"/>
              <a:t>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Deletion is at the another end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sz="3000" dirty="0">
                <a:solidFill>
                  <a:srgbClr val="0070C0"/>
                </a:solidFill>
              </a:rPr>
              <a:t>front.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Operations: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enqueue() </a:t>
            </a:r>
            <a:r>
              <a:rPr lang="en-US" dirty="0"/>
              <a:t>– Insert an element at the end of the queue.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dequeue() </a:t>
            </a:r>
            <a:r>
              <a:rPr lang="en-US" dirty="0"/>
              <a:t>– Remove and return the first element of the queue, if the queue is not empty.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peek() </a:t>
            </a:r>
            <a:r>
              <a:rPr lang="en-US" dirty="0"/>
              <a:t>– Return the element of the queue without removing it, if the queue is not empty.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size() </a:t>
            </a:r>
            <a:r>
              <a:rPr lang="en-US" dirty="0"/>
              <a:t>– Return the number of elements in the queue.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isEmpty</a:t>
            </a:r>
            <a:r>
              <a:rPr lang="en-US" dirty="0">
                <a:solidFill>
                  <a:srgbClr val="00B050"/>
                </a:solidFill>
              </a:rPr>
              <a:t>() </a:t>
            </a:r>
            <a:r>
              <a:rPr lang="en-US" dirty="0"/>
              <a:t>– Return true if the queue is empty, otherwise return false.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isFull</a:t>
            </a:r>
            <a:r>
              <a:rPr lang="en-US" dirty="0">
                <a:solidFill>
                  <a:srgbClr val="00B050"/>
                </a:solidFill>
              </a:rPr>
              <a:t>() </a:t>
            </a:r>
            <a:r>
              <a:rPr lang="en-US" dirty="0"/>
              <a:t>– Return true if the queue is full, otherwise return false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F5005C-C683-EC9E-626A-21CB5DE7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25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88313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767174-F164-D79D-701C-1F7345F8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Data Type: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9E59FC-FE65-6684-6AE7-D8DCA189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 type: </a:t>
            </a:r>
            <a:r>
              <a:rPr lang="en-US" sz="2800" dirty="0"/>
              <a:t>Term which </a:t>
            </a:r>
            <a:r>
              <a:rPr lang="en-US" sz="2800" dirty="0">
                <a:solidFill>
                  <a:srgbClr val="00B050"/>
                </a:solidFill>
              </a:rPr>
              <a:t>refers to kind of data </a:t>
            </a:r>
            <a:r>
              <a:rPr lang="en-US" sz="2800" dirty="0"/>
              <a:t>that variable may hold.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Atomic data: </a:t>
            </a:r>
            <a:r>
              <a:rPr lang="en-US" sz="2800" dirty="0"/>
              <a:t>non-decomposable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Composite data: </a:t>
            </a:r>
            <a:r>
              <a:rPr lang="en-US" sz="2800" dirty="0"/>
              <a:t>can be decomposed into atomic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 structure: </a:t>
            </a:r>
            <a:r>
              <a:rPr lang="en-US" sz="2800" dirty="0">
                <a:solidFill>
                  <a:sysClr val="windowText" lastClr="000000"/>
                </a:solidFill>
              </a:rPr>
              <a:t>Logical or mathematical model of particular organization of data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Abstract data type: </a:t>
            </a:r>
            <a:r>
              <a:rPr lang="en-US" sz="2800" dirty="0"/>
              <a:t>is data declaration package together with operations that are meaningful for data type.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319D54-188D-F6A3-7CC6-717330C6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26</a:t>
            </a:fld>
            <a:endParaRPr lang="en-IN"/>
          </a:p>
        </p:txBody>
      </p:sp>
      <p:pic>
        <p:nvPicPr>
          <p:cNvPr id="7" name="Picture 6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66213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98DE17-DD22-BD5B-373E-A8BE5D35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608" y="2027608"/>
            <a:ext cx="7975076" cy="1476806"/>
          </a:xfrm>
        </p:spPr>
        <p:txBody>
          <a:bodyPr/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you!!</a:t>
            </a:r>
            <a:endParaRPr lang="en-IN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FE59DC-C7E4-949A-2A9D-7CDFBD3C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C241-D0FA-41C4-806B-7A3C5377B352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D07C32C-22CB-C7FA-80BD-EB6777CB61A0}"/>
              </a:ext>
            </a:extLst>
          </p:cNvPr>
          <p:cNvSpPr txBox="1">
            <a:spLocks/>
          </p:cNvSpPr>
          <p:nvPr/>
        </p:nvSpPr>
        <p:spPr>
          <a:xfrm>
            <a:off x="2555609" y="2842997"/>
            <a:ext cx="7975076" cy="14768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Bahnschrift Condensed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8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Happy Learning!!</a:t>
            </a:r>
            <a:endParaRPr lang="en-IN" sz="8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 descr="College-of-Engineering-Pune-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4294" cy="11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022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1878</Words>
  <Application>Microsoft Office PowerPoint</Application>
  <PresentationFormat>Custom</PresentationFormat>
  <Paragraphs>273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1_Office Theme</vt:lpstr>
      <vt:lpstr>Advance Data Structures</vt:lpstr>
      <vt:lpstr>Key Points : ADT</vt:lpstr>
      <vt:lpstr>Data</vt:lpstr>
      <vt:lpstr>Data: Atomic vs Composite Data </vt:lpstr>
      <vt:lpstr>Data: Atomic vs Composite Data </vt:lpstr>
      <vt:lpstr>Data Types</vt:lpstr>
      <vt:lpstr>Built in Data Types</vt:lpstr>
      <vt:lpstr>Classification of Data Type</vt:lpstr>
      <vt:lpstr>Data Structure</vt:lpstr>
      <vt:lpstr>Data Structure: </vt:lpstr>
      <vt:lpstr>Classification of Data structure</vt:lpstr>
      <vt:lpstr>Data Structure</vt:lpstr>
      <vt:lpstr>Abstract Data Type: ADT</vt:lpstr>
      <vt:lpstr>Abstract Data Type: ADT</vt:lpstr>
      <vt:lpstr>Abstract Data Type</vt:lpstr>
      <vt:lpstr>Abstract Data Type</vt:lpstr>
      <vt:lpstr>Abstract Data Type</vt:lpstr>
      <vt:lpstr>Abstract Data Type : Array as ADT</vt:lpstr>
      <vt:lpstr>Abstract Data Type : Array as ADT</vt:lpstr>
      <vt:lpstr>Abstract Data Type: Array as ADT</vt:lpstr>
      <vt:lpstr>Abstract Data Type: List as ADT</vt:lpstr>
      <vt:lpstr>Abstract Data Type: List as ADT</vt:lpstr>
      <vt:lpstr>ADT: Implementation</vt:lpstr>
      <vt:lpstr>Abstract Data Type: Stack as ADT</vt:lpstr>
      <vt:lpstr>Abstract Data Type: Queue as ADT</vt:lpstr>
      <vt:lpstr>Abstract Data Type: Summary</vt:lpstr>
      <vt:lpstr>Thank you!!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</dc:title>
  <dc:creator>Devyani Jadhav</dc:creator>
  <cp:lastModifiedBy>The DataTech Labs</cp:lastModifiedBy>
  <cp:revision>37</cp:revision>
  <dcterms:created xsi:type="dcterms:W3CDTF">2025-01-02T23:31:10Z</dcterms:created>
  <dcterms:modified xsi:type="dcterms:W3CDTF">2026-07-21T10:06:24Z</dcterms:modified>
</cp:coreProperties>
</file>