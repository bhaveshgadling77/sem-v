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60" r:id="rId5"/>
    <p:sldId id="259"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7" r:id="rId22"/>
    <p:sldId id="276"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3" r:id="rId38"/>
    <p:sldId id="292" r:id="rId39"/>
    <p:sldId id="294" r:id="rId40"/>
    <p:sldId id="298" r:id="rId41"/>
    <p:sldId id="299" r:id="rId42"/>
    <p:sldId id="300" r:id="rId43"/>
    <p:sldId id="295" r:id="rId44"/>
    <p:sldId id="296" r:id="rId45"/>
    <p:sldId id="297" r:id="rId46"/>
    <p:sldId id="301" r:id="rId47"/>
    <p:sldId id="302" r:id="rId48"/>
    <p:sldId id="303" r:id="rId49"/>
    <p:sldId id="314" r:id="rId50"/>
    <p:sldId id="304" r:id="rId51"/>
    <p:sldId id="310" r:id="rId52"/>
    <p:sldId id="305" r:id="rId53"/>
    <p:sldId id="306" r:id="rId54"/>
    <p:sldId id="307" r:id="rId55"/>
    <p:sldId id="308" r:id="rId56"/>
    <p:sldId id="309" r:id="rId57"/>
    <p:sldId id="312" r:id="rId58"/>
    <p:sldId id="313"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7FE12-8291-D488-8EB5-87FF21BB7E8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A99086B-4CBA-12E6-15BA-D7CA1EABB3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76AFBB9-E86C-0DCC-1900-9A130C8A06D5}"/>
              </a:ext>
            </a:extLst>
          </p:cNvPr>
          <p:cNvSpPr>
            <a:spLocks noGrp="1"/>
          </p:cNvSpPr>
          <p:nvPr>
            <p:ph type="dt" sz="half" idx="10"/>
          </p:nvPr>
        </p:nvSpPr>
        <p:spPr/>
        <p:txBody>
          <a:bodyPr/>
          <a:lstStyle/>
          <a:p>
            <a:fld id="{D1128F22-93B1-4A52-A884-C8D6811680E9}" type="datetimeFigureOut">
              <a:rPr lang="en-IN" smtClean="0"/>
              <a:t>28-07-2026</a:t>
            </a:fld>
            <a:endParaRPr lang="en-IN"/>
          </a:p>
        </p:txBody>
      </p:sp>
      <p:sp>
        <p:nvSpPr>
          <p:cNvPr id="5" name="Footer Placeholder 4">
            <a:extLst>
              <a:ext uri="{FF2B5EF4-FFF2-40B4-BE49-F238E27FC236}">
                <a16:creationId xmlns:a16="http://schemas.microsoft.com/office/drawing/2014/main" id="{95E828C6-B8D6-4B9B-44EC-420B77C002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F2EA1ED-2208-39D1-36C8-CB78C404F3D6}"/>
              </a:ext>
            </a:extLst>
          </p:cNvPr>
          <p:cNvSpPr>
            <a:spLocks noGrp="1"/>
          </p:cNvSpPr>
          <p:nvPr>
            <p:ph type="sldNum" sz="quarter" idx="12"/>
          </p:nvPr>
        </p:nvSpPr>
        <p:spPr/>
        <p:txBody>
          <a:bodyPr/>
          <a:lstStyle/>
          <a:p>
            <a:fld id="{91220CA1-E9A1-46AC-BB5F-55B3DBF3B364}" type="slidenum">
              <a:rPr lang="en-IN" smtClean="0"/>
              <a:t>‹#›</a:t>
            </a:fld>
            <a:endParaRPr lang="en-IN"/>
          </a:p>
        </p:txBody>
      </p:sp>
    </p:spTree>
    <p:extLst>
      <p:ext uri="{BB962C8B-B14F-4D97-AF65-F5344CB8AC3E}">
        <p14:creationId xmlns:p14="http://schemas.microsoft.com/office/powerpoint/2010/main" val="5308695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BEB8E-C9C2-0AEB-FF43-9F1A65217A6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290FC75-B189-40A3-199B-BEF22101620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9400761-1AB8-46A8-4575-9484C979A5FA}"/>
              </a:ext>
            </a:extLst>
          </p:cNvPr>
          <p:cNvSpPr>
            <a:spLocks noGrp="1"/>
          </p:cNvSpPr>
          <p:nvPr>
            <p:ph type="dt" sz="half" idx="10"/>
          </p:nvPr>
        </p:nvSpPr>
        <p:spPr/>
        <p:txBody>
          <a:bodyPr/>
          <a:lstStyle/>
          <a:p>
            <a:fld id="{D1128F22-93B1-4A52-A884-C8D6811680E9}" type="datetimeFigureOut">
              <a:rPr lang="en-IN" smtClean="0"/>
              <a:t>28-07-2026</a:t>
            </a:fld>
            <a:endParaRPr lang="en-IN"/>
          </a:p>
        </p:txBody>
      </p:sp>
      <p:sp>
        <p:nvSpPr>
          <p:cNvPr id="5" name="Footer Placeholder 4">
            <a:extLst>
              <a:ext uri="{FF2B5EF4-FFF2-40B4-BE49-F238E27FC236}">
                <a16:creationId xmlns:a16="http://schemas.microsoft.com/office/drawing/2014/main" id="{1C6A1EDE-3432-732D-CFC9-AC02320769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F3D4B0C-8BB1-747D-AA22-7899B7CFCF61}"/>
              </a:ext>
            </a:extLst>
          </p:cNvPr>
          <p:cNvSpPr>
            <a:spLocks noGrp="1"/>
          </p:cNvSpPr>
          <p:nvPr>
            <p:ph type="sldNum" sz="quarter" idx="12"/>
          </p:nvPr>
        </p:nvSpPr>
        <p:spPr/>
        <p:txBody>
          <a:bodyPr/>
          <a:lstStyle/>
          <a:p>
            <a:fld id="{91220CA1-E9A1-46AC-BB5F-55B3DBF3B364}" type="slidenum">
              <a:rPr lang="en-IN" smtClean="0"/>
              <a:t>‹#›</a:t>
            </a:fld>
            <a:endParaRPr lang="en-IN"/>
          </a:p>
        </p:txBody>
      </p:sp>
    </p:spTree>
    <p:extLst>
      <p:ext uri="{BB962C8B-B14F-4D97-AF65-F5344CB8AC3E}">
        <p14:creationId xmlns:p14="http://schemas.microsoft.com/office/powerpoint/2010/main" val="2973404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93D12-A564-5702-1914-32EFAB19A5D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A7F4C32-3A97-A04F-23B4-C77DE5C1968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8CE0AD9-BEE6-6796-DE57-61AA84A045D8}"/>
              </a:ext>
            </a:extLst>
          </p:cNvPr>
          <p:cNvSpPr>
            <a:spLocks noGrp="1"/>
          </p:cNvSpPr>
          <p:nvPr>
            <p:ph type="dt" sz="half" idx="10"/>
          </p:nvPr>
        </p:nvSpPr>
        <p:spPr/>
        <p:txBody>
          <a:bodyPr/>
          <a:lstStyle/>
          <a:p>
            <a:fld id="{D1128F22-93B1-4A52-A884-C8D6811680E9}" type="datetimeFigureOut">
              <a:rPr lang="en-IN" smtClean="0"/>
              <a:t>28-07-2026</a:t>
            </a:fld>
            <a:endParaRPr lang="en-IN"/>
          </a:p>
        </p:txBody>
      </p:sp>
      <p:sp>
        <p:nvSpPr>
          <p:cNvPr id="5" name="Footer Placeholder 4">
            <a:extLst>
              <a:ext uri="{FF2B5EF4-FFF2-40B4-BE49-F238E27FC236}">
                <a16:creationId xmlns:a16="http://schemas.microsoft.com/office/drawing/2014/main" id="{9E861369-D231-7A44-1651-5FFE3BEBA56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201C16-A178-A7ED-8F8A-B78AE7A7DF25}"/>
              </a:ext>
            </a:extLst>
          </p:cNvPr>
          <p:cNvSpPr>
            <a:spLocks noGrp="1"/>
          </p:cNvSpPr>
          <p:nvPr>
            <p:ph type="sldNum" sz="quarter" idx="12"/>
          </p:nvPr>
        </p:nvSpPr>
        <p:spPr/>
        <p:txBody>
          <a:bodyPr/>
          <a:lstStyle/>
          <a:p>
            <a:fld id="{91220CA1-E9A1-46AC-BB5F-55B3DBF3B364}" type="slidenum">
              <a:rPr lang="en-IN" smtClean="0"/>
              <a:t>‹#›</a:t>
            </a:fld>
            <a:endParaRPr lang="en-IN"/>
          </a:p>
        </p:txBody>
      </p:sp>
    </p:spTree>
    <p:extLst>
      <p:ext uri="{BB962C8B-B14F-4D97-AF65-F5344CB8AC3E}">
        <p14:creationId xmlns:p14="http://schemas.microsoft.com/office/powerpoint/2010/main" val="1862273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4E790-DD5E-83FC-9FA4-1361B29EEF6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A1D7D45-3313-CA38-E529-CA1D2194FFE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EA66CC6-3D1B-3057-59E1-DD6EB564D19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590A406-788D-1DF7-C131-CB94608A1ADF}"/>
              </a:ext>
            </a:extLst>
          </p:cNvPr>
          <p:cNvSpPr>
            <a:spLocks noGrp="1"/>
          </p:cNvSpPr>
          <p:nvPr>
            <p:ph type="dt" sz="half" idx="10"/>
          </p:nvPr>
        </p:nvSpPr>
        <p:spPr/>
        <p:txBody>
          <a:bodyPr/>
          <a:lstStyle/>
          <a:p>
            <a:fld id="{D1128F22-93B1-4A52-A884-C8D6811680E9}" type="datetimeFigureOut">
              <a:rPr lang="en-IN" smtClean="0"/>
              <a:t>28-07-2026</a:t>
            </a:fld>
            <a:endParaRPr lang="en-IN"/>
          </a:p>
        </p:txBody>
      </p:sp>
      <p:sp>
        <p:nvSpPr>
          <p:cNvPr id="6" name="Footer Placeholder 5">
            <a:extLst>
              <a:ext uri="{FF2B5EF4-FFF2-40B4-BE49-F238E27FC236}">
                <a16:creationId xmlns:a16="http://schemas.microsoft.com/office/drawing/2014/main" id="{8944BB67-29C9-82B5-1A4A-5F7B8167CBB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F7627D7-F3BD-E0F0-42E9-1DEC71F038F3}"/>
              </a:ext>
            </a:extLst>
          </p:cNvPr>
          <p:cNvSpPr>
            <a:spLocks noGrp="1"/>
          </p:cNvSpPr>
          <p:nvPr>
            <p:ph type="sldNum" sz="quarter" idx="12"/>
          </p:nvPr>
        </p:nvSpPr>
        <p:spPr/>
        <p:txBody>
          <a:bodyPr/>
          <a:lstStyle/>
          <a:p>
            <a:fld id="{91220CA1-E9A1-46AC-BB5F-55B3DBF3B364}" type="slidenum">
              <a:rPr lang="en-IN" smtClean="0"/>
              <a:t>‹#›</a:t>
            </a:fld>
            <a:endParaRPr lang="en-IN"/>
          </a:p>
        </p:txBody>
      </p:sp>
    </p:spTree>
    <p:extLst>
      <p:ext uri="{BB962C8B-B14F-4D97-AF65-F5344CB8AC3E}">
        <p14:creationId xmlns:p14="http://schemas.microsoft.com/office/powerpoint/2010/main" val="27701589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77BD2-14C9-564F-D536-4466FCF3012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2BFFD08-226B-4D48-5983-BEE260A2DA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0C76C5-56F6-52C4-A663-94EAE289C53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A27EB4E-3D41-C7F0-37ED-BB4744868F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ABC46E-8874-F188-81F5-4CBA605DF6D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5028AD4-587A-A6FD-6171-EC8C98F4212A}"/>
              </a:ext>
            </a:extLst>
          </p:cNvPr>
          <p:cNvSpPr>
            <a:spLocks noGrp="1"/>
          </p:cNvSpPr>
          <p:nvPr>
            <p:ph type="dt" sz="half" idx="10"/>
          </p:nvPr>
        </p:nvSpPr>
        <p:spPr/>
        <p:txBody>
          <a:bodyPr/>
          <a:lstStyle/>
          <a:p>
            <a:fld id="{D1128F22-93B1-4A52-A884-C8D6811680E9}" type="datetimeFigureOut">
              <a:rPr lang="en-IN" smtClean="0"/>
              <a:t>28-07-2026</a:t>
            </a:fld>
            <a:endParaRPr lang="en-IN"/>
          </a:p>
        </p:txBody>
      </p:sp>
      <p:sp>
        <p:nvSpPr>
          <p:cNvPr id="8" name="Footer Placeholder 7">
            <a:extLst>
              <a:ext uri="{FF2B5EF4-FFF2-40B4-BE49-F238E27FC236}">
                <a16:creationId xmlns:a16="http://schemas.microsoft.com/office/drawing/2014/main" id="{2803A72F-F9DF-F9D3-0AA6-57D829A3A01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E0A78E0-48A1-6BCA-E5BE-86646B211AEC}"/>
              </a:ext>
            </a:extLst>
          </p:cNvPr>
          <p:cNvSpPr>
            <a:spLocks noGrp="1"/>
          </p:cNvSpPr>
          <p:nvPr>
            <p:ph type="sldNum" sz="quarter" idx="12"/>
          </p:nvPr>
        </p:nvSpPr>
        <p:spPr/>
        <p:txBody>
          <a:bodyPr/>
          <a:lstStyle/>
          <a:p>
            <a:fld id="{91220CA1-E9A1-46AC-BB5F-55B3DBF3B364}" type="slidenum">
              <a:rPr lang="en-IN" smtClean="0"/>
              <a:t>‹#›</a:t>
            </a:fld>
            <a:endParaRPr lang="en-IN"/>
          </a:p>
        </p:txBody>
      </p:sp>
    </p:spTree>
    <p:extLst>
      <p:ext uri="{BB962C8B-B14F-4D97-AF65-F5344CB8AC3E}">
        <p14:creationId xmlns:p14="http://schemas.microsoft.com/office/powerpoint/2010/main" val="12095199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9F436-B2FD-7012-16F2-240F7D9DB5E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0E4F82F-366A-E969-E420-20D426B0A4BE}"/>
              </a:ext>
            </a:extLst>
          </p:cNvPr>
          <p:cNvSpPr>
            <a:spLocks noGrp="1"/>
          </p:cNvSpPr>
          <p:nvPr>
            <p:ph type="dt" sz="half" idx="10"/>
          </p:nvPr>
        </p:nvSpPr>
        <p:spPr/>
        <p:txBody>
          <a:bodyPr/>
          <a:lstStyle/>
          <a:p>
            <a:fld id="{D1128F22-93B1-4A52-A884-C8D6811680E9}" type="datetimeFigureOut">
              <a:rPr lang="en-IN" smtClean="0"/>
              <a:t>28-07-2026</a:t>
            </a:fld>
            <a:endParaRPr lang="en-IN"/>
          </a:p>
        </p:txBody>
      </p:sp>
      <p:sp>
        <p:nvSpPr>
          <p:cNvPr id="4" name="Footer Placeholder 3">
            <a:extLst>
              <a:ext uri="{FF2B5EF4-FFF2-40B4-BE49-F238E27FC236}">
                <a16:creationId xmlns:a16="http://schemas.microsoft.com/office/drawing/2014/main" id="{DEDEB51F-E882-D1EF-C061-521F1CE984E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75BCD4D-CDCE-7D0E-3A65-CCD437022CF3}"/>
              </a:ext>
            </a:extLst>
          </p:cNvPr>
          <p:cNvSpPr>
            <a:spLocks noGrp="1"/>
          </p:cNvSpPr>
          <p:nvPr>
            <p:ph type="sldNum" sz="quarter" idx="12"/>
          </p:nvPr>
        </p:nvSpPr>
        <p:spPr/>
        <p:txBody>
          <a:bodyPr/>
          <a:lstStyle/>
          <a:p>
            <a:fld id="{91220CA1-E9A1-46AC-BB5F-55B3DBF3B364}" type="slidenum">
              <a:rPr lang="en-IN" smtClean="0"/>
              <a:t>‹#›</a:t>
            </a:fld>
            <a:endParaRPr lang="en-IN"/>
          </a:p>
        </p:txBody>
      </p:sp>
    </p:spTree>
    <p:extLst>
      <p:ext uri="{BB962C8B-B14F-4D97-AF65-F5344CB8AC3E}">
        <p14:creationId xmlns:p14="http://schemas.microsoft.com/office/powerpoint/2010/main" val="14334860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C69309-2030-C2E4-E94A-3A4033158400}"/>
              </a:ext>
            </a:extLst>
          </p:cNvPr>
          <p:cNvSpPr>
            <a:spLocks noGrp="1"/>
          </p:cNvSpPr>
          <p:nvPr>
            <p:ph type="dt" sz="half" idx="10"/>
          </p:nvPr>
        </p:nvSpPr>
        <p:spPr/>
        <p:txBody>
          <a:bodyPr/>
          <a:lstStyle/>
          <a:p>
            <a:fld id="{D1128F22-93B1-4A52-A884-C8D6811680E9}" type="datetimeFigureOut">
              <a:rPr lang="en-IN" smtClean="0"/>
              <a:t>28-07-2026</a:t>
            </a:fld>
            <a:endParaRPr lang="en-IN"/>
          </a:p>
        </p:txBody>
      </p:sp>
      <p:sp>
        <p:nvSpPr>
          <p:cNvPr id="3" name="Footer Placeholder 2">
            <a:extLst>
              <a:ext uri="{FF2B5EF4-FFF2-40B4-BE49-F238E27FC236}">
                <a16:creationId xmlns:a16="http://schemas.microsoft.com/office/drawing/2014/main" id="{929A53CB-7BDD-E250-DEE6-FD77EE20707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E432BA7-7210-88E7-669D-94E03C73DF01}"/>
              </a:ext>
            </a:extLst>
          </p:cNvPr>
          <p:cNvSpPr>
            <a:spLocks noGrp="1"/>
          </p:cNvSpPr>
          <p:nvPr>
            <p:ph type="sldNum" sz="quarter" idx="12"/>
          </p:nvPr>
        </p:nvSpPr>
        <p:spPr/>
        <p:txBody>
          <a:bodyPr/>
          <a:lstStyle/>
          <a:p>
            <a:fld id="{91220CA1-E9A1-46AC-BB5F-55B3DBF3B364}" type="slidenum">
              <a:rPr lang="en-IN" smtClean="0"/>
              <a:t>‹#›</a:t>
            </a:fld>
            <a:endParaRPr lang="en-IN"/>
          </a:p>
        </p:txBody>
      </p:sp>
    </p:spTree>
    <p:extLst>
      <p:ext uri="{BB962C8B-B14F-4D97-AF65-F5344CB8AC3E}">
        <p14:creationId xmlns:p14="http://schemas.microsoft.com/office/powerpoint/2010/main" val="8364417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FE162-57AE-EA0F-E56B-50CB1EBD82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042F687-9820-B9BD-2266-9F51F35434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5504510-D2C4-72D0-C457-DEC7820403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F567D4-9BEE-2AF1-F073-04E0BC8B373C}"/>
              </a:ext>
            </a:extLst>
          </p:cNvPr>
          <p:cNvSpPr>
            <a:spLocks noGrp="1"/>
          </p:cNvSpPr>
          <p:nvPr>
            <p:ph type="dt" sz="half" idx="10"/>
          </p:nvPr>
        </p:nvSpPr>
        <p:spPr/>
        <p:txBody>
          <a:bodyPr/>
          <a:lstStyle/>
          <a:p>
            <a:fld id="{D1128F22-93B1-4A52-A884-C8D6811680E9}" type="datetimeFigureOut">
              <a:rPr lang="en-IN" smtClean="0"/>
              <a:t>28-07-2026</a:t>
            </a:fld>
            <a:endParaRPr lang="en-IN"/>
          </a:p>
        </p:txBody>
      </p:sp>
      <p:sp>
        <p:nvSpPr>
          <p:cNvPr id="6" name="Footer Placeholder 5">
            <a:extLst>
              <a:ext uri="{FF2B5EF4-FFF2-40B4-BE49-F238E27FC236}">
                <a16:creationId xmlns:a16="http://schemas.microsoft.com/office/drawing/2014/main" id="{7ECC5A72-14B0-16CD-A7CF-FF41EBD5C2B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75AC15E-3E7A-1365-47B3-9C90AB09B6B9}"/>
              </a:ext>
            </a:extLst>
          </p:cNvPr>
          <p:cNvSpPr>
            <a:spLocks noGrp="1"/>
          </p:cNvSpPr>
          <p:nvPr>
            <p:ph type="sldNum" sz="quarter" idx="12"/>
          </p:nvPr>
        </p:nvSpPr>
        <p:spPr/>
        <p:txBody>
          <a:bodyPr/>
          <a:lstStyle/>
          <a:p>
            <a:fld id="{91220CA1-E9A1-46AC-BB5F-55B3DBF3B364}" type="slidenum">
              <a:rPr lang="en-IN" smtClean="0"/>
              <a:t>‹#›</a:t>
            </a:fld>
            <a:endParaRPr lang="en-IN"/>
          </a:p>
        </p:txBody>
      </p:sp>
    </p:spTree>
    <p:extLst>
      <p:ext uri="{BB962C8B-B14F-4D97-AF65-F5344CB8AC3E}">
        <p14:creationId xmlns:p14="http://schemas.microsoft.com/office/powerpoint/2010/main" val="26489682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953B0-0563-5484-CF33-6E7A1EA2EC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70D8EB7-2377-F61F-B98F-F47068EF852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CC0A537-37FD-9184-856F-CE1E1AC98E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B9667E-6A69-258B-F299-2226B24F99F1}"/>
              </a:ext>
            </a:extLst>
          </p:cNvPr>
          <p:cNvSpPr>
            <a:spLocks noGrp="1"/>
          </p:cNvSpPr>
          <p:nvPr>
            <p:ph type="dt" sz="half" idx="10"/>
          </p:nvPr>
        </p:nvSpPr>
        <p:spPr/>
        <p:txBody>
          <a:bodyPr/>
          <a:lstStyle/>
          <a:p>
            <a:fld id="{D1128F22-93B1-4A52-A884-C8D6811680E9}" type="datetimeFigureOut">
              <a:rPr lang="en-IN" smtClean="0"/>
              <a:t>28-07-2026</a:t>
            </a:fld>
            <a:endParaRPr lang="en-IN"/>
          </a:p>
        </p:txBody>
      </p:sp>
      <p:sp>
        <p:nvSpPr>
          <p:cNvPr id="6" name="Footer Placeholder 5">
            <a:extLst>
              <a:ext uri="{FF2B5EF4-FFF2-40B4-BE49-F238E27FC236}">
                <a16:creationId xmlns:a16="http://schemas.microsoft.com/office/drawing/2014/main" id="{3155CD1F-ADF5-0A2E-8399-D18D1999FA0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4AEBA2D-2C21-B6C3-8C65-0B539F63BE60}"/>
              </a:ext>
            </a:extLst>
          </p:cNvPr>
          <p:cNvSpPr>
            <a:spLocks noGrp="1"/>
          </p:cNvSpPr>
          <p:nvPr>
            <p:ph type="sldNum" sz="quarter" idx="12"/>
          </p:nvPr>
        </p:nvSpPr>
        <p:spPr/>
        <p:txBody>
          <a:bodyPr/>
          <a:lstStyle/>
          <a:p>
            <a:fld id="{91220CA1-E9A1-46AC-BB5F-55B3DBF3B364}" type="slidenum">
              <a:rPr lang="en-IN" smtClean="0"/>
              <a:t>‹#›</a:t>
            </a:fld>
            <a:endParaRPr lang="en-IN"/>
          </a:p>
        </p:txBody>
      </p:sp>
    </p:spTree>
    <p:extLst>
      <p:ext uri="{BB962C8B-B14F-4D97-AF65-F5344CB8AC3E}">
        <p14:creationId xmlns:p14="http://schemas.microsoft.com/office/powerpoint/2010/main" val="30382825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433B3-3BF3-B792-C8F6-8FDAA70EEA0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2D2E7CB-EA6C-208E-EE8C-D10145A3952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AB3592-5CD1-619F-BA40-A6DF9C8CA1CB}"/>
              </a:ext>
            </a:extLst>
          </p:cNvPr>
          <p:cNvSpPr>
            <a:spLocks noGrp="1"/>
          </p:cNvSpPr>
          <p:nvPr>
            <p:ph type="dt" sz="half" idx="10"/>
          </p:nvPr>
        </p:nvSpPr>
        <p:spPr/>
        <p:txBody>
          <a:bodyPr/>
          <a:lstStyle/>
          <a:p>
            <a:fld id="{D1128F22-93B1-4A52-A884-C8D6811680E9}" type="datetimeFigureOut">
              <a:rPr lang="en-IN" smtClean="0"/>
              <a:t>28-07-2026</a:t>
            </a:fld>
            <a:endParaRPr lang="en-IN"/>
          </a:p>
        </p:txBody>
      </p:sp>
      <p:sp>
        <p:nvSpPr>
          <p:cNvPr id="5" name="Footer Placeholder 4">
            <a:extLst>
              <a:ext uri="{FF2B5EF4-FFF2-40B4-BE49-F238E27FC236}">
                <a16:creationId xmlns:a16="http://schemas.microsoft.com/office/drawing/2014/main" id="{301D27CC-665F-E43B-9530-712BF76502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7FA89F1-C5BD-93B8-292D-A64E01880090}"/>
              </a:ext>
            </a:extLst>
          </p:cNvPr>
          <p:cNvSpPr>
            <a:spLocks noGrp="1"/>
          </p:cNvSpPr>
          <p:nvPr>
            <p:ph type="sldNum" sz="quarter" idx="12"/>
          </p:nvPr>
        </p:nvSpPr>
        <p:spPr/>
        <p:txBody>
          <a:bodyPr/>
          <a:lstStyle/>
          <a:p>
            <a:fld id="{91220CA1-E9A1-46AC-BB5F-55B3DBF3B364}" type="slidenum">
              <a:rPr lang="en-IN" smtClean="0"/>
              <a:t>‹#›</a:t>
            </a:fld>
            <a:endParaRPr lang="en-IN"/>
          </a:p>
        </p:txBody>
      </p:sp>
    </p:spTree>
    <p:extLst>
      <p:ext uri="{BB962C8B-B14F-4D97-AF65-F5344CB8AC3E}">
        <p14:creationId xmlns:p14="http://schemas.microsoft.com/office/powerpoint/2010/main" val="4037196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BF7311E-130C-D0EE-6383-BC278222BD2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5E65B6F-2215-A465-8B9E-4D1D34BED8F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668BAF8-742C-B55E-6F3E-B7A56EA5C6BF}"/>
              </a:ext>
            </a:extLst>
          </p:cNvPr>
          <p:cNvSpPr>
            <a:spLocks noGrp="1"/>
          </p:cNvSpPr>
          <p:nvPr>
            <p:ph type="dt" sz="half" idx="10"/>
          </p:nvPr>
        </p:nvSpPr>
        <p:spPr/>
        <p:txBody>
          <a:bodyPr/>
          <a:lstStyle/>
          <a:p>
            <a:fld id="{D1128F22-93B1-4A52-A884-C8D6811680E9}" type="datetimeFigureOut">
              <a:rPr lang="en-IN" smtClean="0"/>
              <a:t>28-07-2026</a:t>
            </a:fld>
            <a:endParaRPr lang="en-IN"/>
          </a:p>
        </p:txBody>
      </p:sp>
      <p:sp>
        <p:nvSpPr>
          <p:cNvPr id="5" name="Footer Placeholder 4">
            <a:extLst>
              <a:ext uri="{FF2B5EF4-FFF2-40B4-BE49-F238E27FC236}">
                <a16:creationId xmlns:a16="http://schemas.microsoft.com/office/drawing/2014/main" id="{D80C5B0A-169B-5A14-15D9-98180B2FE9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31105B-CCC4-B8D6-6D33-9DE58A81FE9F}"/>
              </a:ext>
            </a:extLst>
          </p:cNvPr>
          <p:cNvSpPr>
            <a:spLocks noGrp="1"/>
          </p:cNvSpPr>
          <p:nvPr>
            <p:ph type="sldNum" sz="quarter" idx="12"/>
          </p:nvPr>
        </p:nvSpPr>
        <p:spPr/>
        <p:txBody>
          <a:bodyPr/>
          <a:lstStyle/>
          <a:p>
            <a:fld id="{91220CA1-E9A1-46AC-BB5F-55B3DBF3B364}" type="slidenum">
              <a:rPr lang="en-IN" smtClean="0"/>
              <a:t>‹#›</a:t>
            </a:fld>
            <a:endParaRPr lang="en-IN"/>
          </a:p>
        </p:txBody>
      </p:sp>
    </p:spTree>
    <p:extLst>
      <p:ext uri="{BB962C8B-B14F-4D97-AF65-F5344CB8AC3E}">
        <p14:creationId xmlns:p14="http://schemas.microsoft.com/office/powerpoint/2010/main" val="13318852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446DF5-DA5D-2741-CA85-04408D1462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196895A-E4C3-4383-69DD-711BEFB754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59DFB83-BC09-7C68-8A49-BB7389FDCAD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1128F22-93B1-4A52-A884-C8D6811680E9}" type="datetimeFigureOut">
              <a:rPr lang="en-IN" smtClean="0"/>
              <a:t>28-07-2026</a:t>
            </a:fld>
            <a:endParaRPr lang="en-IN"/>
          </a:p>
        </p:txBody>
      </p:sp>
      <p:sp>
        <p:nvSpPr>
          <p:cNvPr id="5" name="Footer Placeholder 4">
            <a:extLst>
              <a:ext uri="{FF2B5EF4-FFF2-40B4-BE49-F238E27FC236}">
                <a16:creationId xmlns:a16="http://schemas.microsoft.com/office/drawing/2014/main" id="{7519460C-8B27-E452-0BA9-617B9CC2A22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F64A0F91-A714-00E4-C036-60DAB33402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1220CA1-E9A1-46AC-BB5F-55B3DBF3B364}" type="slidenum">
              <a:rPr lang="en-IN" smtClean="0"/>
              <a:t>‹#›</a:t>
            </a:fld>
            <a:endParaRPr lang="en-IN"/>
          </a:p>
        </p:txBody>
      </p:sp>
    </p:spTree>
    <p:extLst>
      <p:ext uri="{BB962C8B-B14F-4D97-AF65-F5344CB8AC3E}">
        <p14:creationId xmlns:p14="http://schemas.microsoft.com/office/powerpoint/2010/main" val="12834758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geeksforgeeks.org/software-engineering/waterfall-model/"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5D8CE-0B33-2DFD-0D2B-B02D648D375A}"/>
              </a:ext>
            </a:extLst>
          </p:cNvPr>
          <p:cNvSpPr>
            <a:spLocks noGrp="1"/>
          </p:cNvSpPr>
          <p:nvPr>
            <p:ph type="ctrTitle"/>
          </p:nvPr>
        </p:nvSpPr>
        <p:spPr>
          <a:xfrm>
            <a:off x="1524000" y="1122363"/>
            <a:ext cx="9144000" cy="3253694"/>
          </a:xfrm>
        </p:spPr>
        <p:txBody>
          <a:bodyPr>
            <a:normAutofit fontScale="90000"/>
          </a:bodyPr>
          <a:lstStyle/>
          <a:p>
            <a:br>
              <a:rPr lang="en-IN" b="1" dirty="0"/>
            </a:br>
            <a:br>
              <a:rPr lang="en-IN" b="1" dirty="0"/>
            </a:br>
            <a:r>
              <a:rPr lang="en-IN" b="1" dirty="0"/>
              <a:t>Software Development Models - SDLC Models</a:t>
            </a:r>
            <a:br>
              <a:rPr lang="en-IN" b="1" dirty="0"/>
            </a:br>
            <a:endParaRPr lang="en-IN" dirty="0"/>
          </a:p>
        </p:txBody>
      </p:sp>
    </p:spTree>
    <p:extLst>
      <p:ext uri="{BB962C8B-B14F-4D97-AF65-F5344CB8AC3E}">
        <p14:creationId xmlns:p14="http://schemas.microsoft.com/office/powerpoint/2010/main" val="27398537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F36048-D559-4E17-CA6C-8A9434170B23}"/>
              </a:ext>
            </a:extLst>
          </p:cNvPr>
          <p:cNvSpPr>
            <a:spLocks noGrp="1"/>
          </p:cNvSpPr>
          <p:nvPr>
            <p:ph idx="1"/>
          </p:nvPr>
        </p:nvSpPr>
        <p:spPr>
          <a:xfrm>
            <a:off x="838200" y="1034143"/>
            <a:ext cx="10515600" cy="5142820"/>
          </a:xfrm>
        </p:spPr>
        <p:txBody>
          <a:bodyPr/>
          <a:lstStyle/>
          <a:p>
            <a:pPr>
              <a:lnSpc>
                <a:spcPct val="100000"/>
              </a:lnSpc>
            </a:pPr>
            <a:r>
              <a:rPr lang="en-IN" b="1" dirty="0"/>
              <a:t>Definition:</a:t>
            </a:r>
          </a:p>
          <a:p>
            <a:pPr marL="0" indent="0">
              <a:lnSpc>
                <a:spcPct val="100000"/>
              </a:lnSpc>
              <a:buNone/>
            </a:pPr>
            <a:endParaRPr lang="en-IN" b="1" dirty="0"/>
          </a:p>
          <a:p>
            <a:pPr>
              <a:lnSpc>
                <a:spcPct val="100000"/>
              </a:lnSpc>
            </a:pPr>
            <a:r>
              <a:rPr lang="en-IN" dirty="0"/>
              <a:t>Software Development Life Cycle (SDLC) models are </a:t>
            </a:r>
            <a:r>
              <a:rPr lang="en-IN" b="1" dirty="0"/>
              <a:t>frameworks or methodologies</a:t>
            </a:r>
            <a:r>
              <a:rPr lang="en-IN" dirty="0"/>
              <a:t> that guide the process of developing software applications from </a:t>
            </a:r>
            <a:r>
              <a:rPr lang="en-IN" b="1" dirty="0"/>
              <a:t>planning and requirements gathering to deployment and maintenance</a:t>
            </a:r>
            <a:r>
              <a:rPr lang="en-IN" dirty="0"/>
              <a:t>. </a:t>
            </a:r>
          </a:p>
          <a:p>
            <a:pPr marL="0" indent="0">
              <a:lnSpc>
                <a:spcPct val="100000"/>
              </a:lnSpc>
              <a:buNone/>
            </a:pPr>
            <a:endParaRPr lang="en-IN" dirty="0"/>
          </a:p>
          <a:p>
            <a:pPr>
              <a:lnSpc>
                <a:spcPct val="100000"/>
              </a:lnSpc>
            </a:pPr>
            <a:r>
              <a:rPr lang="en-IN" dirty="0"/>
              <a:t>Each SDLC model follows a different approach to organizing and managing the phases of software development.</a:t>
            </a:r>
          </a:p>
        </p:txBody>
      </p:sp>
    </p:spTree>
    <p:extLst>
      <p:ext uri="{BB962C8B-B14F-4D97-AF65-F5344CB8AC3E}">
        <p14:creationId xmlns:p14="http://schemas.microsoft.com/office/powerpoint/2010/main" val="33653797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418329F8-4542-F3B7-3249-47757A699F03}"/>
              </a:ext>
            </a:extLst>
          </p:cNvPr>
          <p:cNvSpPr>
            <a:spLocks noGrp="1"/>
          </p:cNvSpPr>
          <p:nvPr>
            <p:ph idx="1"/>
          </p:nvPr>
        </p:nvSpPr>
        <p:spPr/>
        <p:txBody>
          <a:bodyPr/>
          <a:lstStyle/>
          <a:p>
            <a:endParaRPr lang="en-IN"/>
          </a:p>
        </p:txBody>
      </p:sp>
      <p:pic>
        <p:nvPicPr>
          <p:cNvPr id="9" name="Picture 8">
            <a:extLst>
              <a:ext uri="{FF2B5EF4-FFF2-40B4-BE49-F238E27FC236}">
                <a16:creationId xmlns:a16="http://schemas.microsoft.com/office/drawing/2014/main" id="{B8D0B3B6-40BA-6905-4BAD-F9415D3D7AB5}"/>
              </a:ext>
            </a:extLst>
          </p:cNvPr>
          <p:cNvPicPr>
            <a:picLocks noChangeAspect="1"/>
          </p:cNvPicPr>
          <p:nvPr/>
        </p:nvPicPr>
        <p:blipFill>
          <a:blip r:embed="rId2"/>
          <a:stretch>
            <a:fillRect/>
          </a:stretch>
        </p:blipFill>
        <p:spPr>
          <a:xfrm>
            <a:off x="1317171" y="1049720"/>
            <a:ext cx="9274629" cy="4998044"/>
          </a:xfrm>
          <a:prstGeom prst="rect">
            <a:avLst/>
          </a:prstGeom>
        </p:spPr>
      </p:pic>
    </p:spTree>
    <p:extLst>
      <p:ext uri="{BB962C8B-B14F-4D97-AF65-F5344CB8AC3E}">
        <p14:creationId xmlns:p14="http://schemas.microsoft.com/office/powerpoint/2010/main" val="4202431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14CA7-A98C-FA0E-E71D-8D24B72565B7}"/>
              </a:ext>
            </a:extLst>
          </p:cNvPr>
          <p:cNvSpPr>
            <a:spLocks noGrp="1"/>
          </p:cNvSpPr>
          <p:nvPr>
            <p:ph type="title"/>
          </p:nvPr>
        </p:nvSpPr>
        <p:spPr/>
        <p:txBody>
          <a:bodyPr>
            <a:normAutofit/>
          </a:bodyPr>
          <a:lstStyle/>
          <a:p>
            <a:r>
              <a:rPr lang="en-IN" sz="4000" dirty="0">
                <a:hlinkClick r:id="rId2">
                  <a:extLst>
                    <a:ext uri="{A12FA001-AC4F-418D-AE19-62706E023703}">
                      <ahyp:hlinkClr xmlns:ahyp="http://schemas.microsoft.com/office/drawing/2018/hyperlinkcolor" val="tx"/>
                    </a:ext>
                  </a:extLst>
                </a:hlinkClick>
              </a:rPr>
              <a:t>1. Waterfall </a:t>
            </a:r>
            <a:r>
              <a:rPr lang="en-IN" sz="4000" dirty="0"/>
              <a:t>model</a:t>
            </a:r>
          </a:p>
        </p:txBody>
      </p:sp>
      <p:sp>
        <p:nvSpPr>
          <p:cNvPr id="3" name="Content Placeholder 2">
            <a:extLst>
              <a:ext uri="{FF2B5EF4-FFF2-40B4-BE49-F238E27FC236}">
                <a16:creationId xmlns:a16="http://schemas.microsoft.com/office/drawing/2014/main" id="{68ECFE69-4CC1-F7EE-D837-37A5EAF409D9}"/>
              </a:ext>
            </a:extLst>
          </p:cNvPr>
          <p:cNvSpPr>
            <a:spLocks noGrp="1"/>
          </p:cNvSpPr>
          <p:nvPr>
            <p:ph idx="1"/>
          </p:nvPr>
        </p:nvSpPr>
        <p:spPr/>
        <p:txBody>
          <a:bodyPr/>
          <a:lstStyle/>
          <a:p>
            <a:pPr>
              <a:lnSpc>
                <a:spcPct val="100000"/>
              </a:lnSpc>
            </a:pPr>
            <a:r>
              <a:rPr lang="en-IN" dirty="0"/>
              <a:t>The </a:t>
            </a:r>
            <a:r>
              <a:rPr lang="en-IN" u="sng" dirty="0">
                <a:hlinkClick r:id="rId2"/>
              </a:rPr>
              <a:t>Waterfall </a:t>
            </a:r>
            <a:r>
              <a:rPr lang="en-IN" dirty="0"/>
              <a:t>model is one of the oldest and most straightforward approaches to software development.</a:t>
            </a:r>
          </a:p>
          <a:p>
            <a:pPr>
              <a:lnSpc>
                <a:spcPct val="100000"/>
              </a:lnSpc>
            </a:pPr>
            <a:r>
              <a:rPr lang="en-IN" dirty="0"/>
              <a:t>The </a:t>
            </a:r>
            <a:r>
              <a:rPr lang="en-IN" b="1" dirty="0"/>
              <a:t>Waterfall Model</a:t>
            </a:r>
            <a:r>
              <a:rPr lang="en-IN" dirty="0"/>
              <a:t> is a </a:t>
            </a:r>
            <a:r>
              <a:rPr lang="en-IN" b="1" dirty="0"/>
              <a:t>linear and sequential Software Development Life Cycle (SDLC) model</a:t>
            </a:r>
            <a:r>
              <a:rPr lang="en-IN" dirty="0"/>
              <a:t>.</a:t>
            </a:r>
          </a:p>
          <a:p>
            <a:pPr>
              <a:lnSpc>
                <a:spcPct val="100000"/>
              </a:lnSpc>
            </a:pPr>
            <a:r>
              <a:rPr lang="en-IN" dirty="0"/>
              <a:t> In this model, each phase of software development is completed before moving to the next phase. The process flows in one direction, like a </a:t>
            </a:r>
            <a:r>
              <a:rPr lang="en-IN" b="1" dirty="0"/>
              <a:t>waterfall</a:t>
            </a:r>
            <a:r>
              <a:rPr lang="en-IN" dirty="0"/>
              <a:t>, making it simple, structured, and easy to understand.</a:t>
            </a:r>
          </a:p>
        </p:txBody>
      </p:sp>
    </p:spTree>
    <p:extLst>
      <p:ext uri="{BB962C8B-B14F-4D97-AF65-F5344CB8AC3E}">
        <p14:creationId xmlns:p14="http://schemas.microsoft.com/office/powerpoint/2010/main" val="3989725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FED34B0-619D-618F-1058-E34BAEABD468}"/>
              </a:ext>
            </a:extLst>
          </p:cNvPr>
          <p:cNvPicPr>
            <a:picLocks noGrp="1" noChangeAspect="1"/>
          </p:cNvPicPr>
          <p:nvPr>
            <p:ph idx="1"/>
          </p:nvPr>
        </p:nvPicPr>
        <p:blipFill>
          <a:blip r:embed="rId2"/>
          <a:stretch>
            <a:fillRect/>
          </a:stretch>
        </p:blipFill>
        <p:spPr>
          <a:xfrm>
            <a:off x="1480457" y="1209787"/>
            <a:ext cx="9231086" cy="4831783"/>
          </a:xfrm>
          <a:prstGeom prst="rect">
            <a:avLst/>
          </a:prstGeom>
        </p:spPr>
      </p:pic>
    </p:spTree>
    <p:extLst>
      <p:ext uri="{BB962C8B-B14F-4D97-AF65-F5344CB8AC3E}">
        <p14:creationId xmlns:p14="http://schemas.microsoft.com/office/powerpoint/2010/main" val="366718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3A6FB0-C7C5-2D8A-77B4-5D56982293CD}"/>
              </a:ext>
            </a:extLst>
          </p:cNvPr>
          <p:cNvSpPr>
            <a:spLocks noGrp="1"/>
          </p:cNvSpPr>
          <p:nvPr>
            <p:ph idx="1"/>
          </p:nvPr>
        </p:nvSpPr>
        <p:spPr>
          <a:xfrm>
            <a:off x="838200" y="435429"/>
            <a:ext cx="10515600" cy="5741534"/>
          </a:xfrm>
        </p:spPr>
        <p:txBody>
          <a:bodyPr/>
          <a:lstStyle/>
          <a:p>
            <a:pPr marL="0" indent="0">
              <a:buNone/>
            </a:pPr>
            <a:r>
              <a:rPr lang="en-IN" b="1" dirty="0"/>
              <a:t>Phases of Waterfall SDLC Models</a:t>
            </a:r>
          </a:p>
          <a:p>
            <a:pPr marL="0" indent="0">
              <a:buNone/>
            </a:pPr>
            <a:r>
              <a:rPr lang="en-IN" b="1" dirty="0"/>
              <a:t>1. Requirement Analysis</a:t>
            </a:r>
          </a:p>
          <a:p>
            <a:r>
              <a:rPr lang="en-IN" dirty="0"/>
              <a:t>This is the </a:t>
            </a:r>
            <a:r>
              <a:rPr lang="en-IN" b="1" dirty="0"/>
              <a:t>first phase</a:t>
            </a:r>
            <a:r>
              <a:rPr lang="en-IN" dirty="0"/>
              <a:t> of the Waterfall Model. The development team meets with the client or stakeholders to gather and </a:t>
            </a:r>
            <a:r>
              <a:rPr lang="en-IN" dirty="0" err="1"/>
              <a:t>analyze</a:t>
            </a:r>
            <a:r>
              <a:rPr lang="en-IN" dirty="0"/>
              <a:t> all the software requirements. The goal is to clearly understand what the customer wants and define the project's scope and objectives.</a:t>
            </a:r>
          </a:p>
          <a:p>
            <a:pPr marL="0" indent="0">
              <a:buNone/>
            </a:pPr>
            <a:r>
              <a:rPr lang="en-IN" b="1" dirty="0"/>
              <a:t>Activities:</a:t>
            </a:r>
            <a:endParaRPr lang="en-IN" dirty="0"/>
          </a:p>
          <a:p>
            <a:r>
              <a:rPr lang="en-IN" dirty="0"/>
              <a:t>Gather user requirements. </a:t>
            </a:r>
          </a:p>
          <a:p>
            <a:r>
              <a:rPr lang="en-IN" dirty="0" err="1"/>
              <a:t>Analyze</a:t>
            </a:r>
            <a:r>
              <a:rPr lang="en-IN" dirty="0"/>
              <a:t> project feasibility. </a:t>
            </a:r>
          </a:p>
          <a:p>
            <a:r>
              <a:rPr lang="en-IN" dirty="0"/>
              <a:t>Prepare the Software Requirement Specification (SRS) document.</a:t>
            </a:r>
          </a:p>
          <a:p>
            <a:endParaRPr lang="en-IN" b="1" dirty="0"/>
          </a:p>
          <a:p>
            <a:endParaRPr lang="en-IN" dirty="0"/>
          </a:p>
        </p:txBody>
      </p:sp>
    </p:spTree>
    <p:extLst>
      <p:ext uri="{BB962C8B-B14F-4D97-AF65-F5344CB8AC3E}">
        <p14:creationId xmlns:p14="http://schemas.microsoft.com/office/powerpoint/2010/main" val="30161557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004EB4-63DB-BCCD-7BD7-972A7537D791}"/>
              </a:ext>
            </a:extLst>
          </p:cNvPr>
          <p:cNvSpPr>
            <a:spLocks noGrp="1"/>
          </p:cNvSpPr>
          <p:nvPr>
            <p:ph idx="1"/>
          </p:nvPr>
        </p:nvSpPr>
        <p:spPr>
          <a:xfrm>
            <a:off x="762000" y="824140"/>
            <a:ext cx="10515600" cy="4351338"/>
          </a:xfrm>
        </p:spPr>
        <p:txBody>
          <a:bodyPr/>
          <a:lstStyle/>
          <a:p>
            <a:pPr marL="0" indent="0">
              <a:buNone/>
            </a:pPr>
            <a:r>
              <a:rPr lang="en-IN" b="1" dirty="0"/>
              <a:t>2. System Design</a:t>
            </a:r>
          </a:p>
          <a:p>
            <a:r>
              <a:rPr lang="en-IN" dirty="0"/>
              <a:t>After the requirements are finalized, the </a:t>
            </a:r>
            <a:r>
              <a:rPr lang="en-IN" b="1" dirty="0"/>
              <a:t>design phase</a:t>
            </a:r>
            <a:r>
              <a:rPr lang="en-IN" dirty="0"/>
              <a:t> begins. In this phase, the development team creates a detailed plan for building the software.</a:t>
            </a:r>
          </a:p>
          <a:p>
            <a:pPr marL="0" indent="0">
              <a:buNone/>
            </a:pPr>
            <a:r>
              <a:rPr lang="en-IN" b="1" dirty="0"/>
              <a:t>Activities:</a:t>
            </a:r>
            <a:endParaRPr lang="en-IN" dirty="0"/>
          </a:p>
          <a:p>
            <a:r>
              <a:rPr lang="en-IN" dirty="0"/>
              <a:t>Design the software architecture. </a:t>
            </a:r>
          </a:p>
          <a:p>
            <a:r>
              <a:rPr lang="en-IN" dirty="0"/>
              <a:t>Design the database and user interface (UI). </a:t>
            </a:r>
          </a:p>
          <a:p>
            <a:r>
              <a:rPr lang="en-IN" dirty="0"/>
              <a:t>Define system components and modules</a:t>
            </a:r>
          </a:p>
          <a:p>
            <a:endParaRPr lang="en-IN" dirty="0"/>
          </a:p>
        </p:txBody>
      </p:sp>
    </p:spTree>
    <p:extLst>
      <p:ext uri="{BB962C8B-B14F-4D97-AF65-F5344CB8AC3E}">
        <p14:creationId xmlns:p14="http://schemas.microsoft.com/office/powerpoint/2010/main" val="23481448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32F344-BB75-95C9-9AA7-7EEC30D06262}"/>
              </a:ext>
            </a:extLst>
          </p:cNvPr>
          <p:cNvSpPr>
            <a:spLocks noGrp="1"/>
          </p:cNvSpPr>
          <p:nvPr>
            <p:ph idx="1"/>
          </p:nvPr>
        </p:nvSpPr>
        <p:spPr>
          <a:xfrm>
            <a:off x="696685" y="584654"/>
            <a:ext cx="10515600" cy="4749346"/>
          </a:xfrm>
        </p:spPr>
        <p:txBody>
          <a:bodyPr/>
          <a:lstStyle/>
          <a:p>
            <a:pPr marL="0" indent="0">
              <a:buNone/>
            </a:pPr>
            <a:r>
              <a:rPr lang="en-IN" b="1" dirty="0"/>
              <a:t>3. Development (Implementation)</a:t>
            </a:r>
          </a:p>
          <a:p>
            <a:r>
              <a:rPr lang="en-IN" dirty="0"/>
              <a:t>In this phase, developers write the source code according to the design specifications. Each module is developed and tested individually to ensure it works correctly.</a:t>
            </a:r>
          </a:p>
          <a:p>
            <a:pPr marL="0" indent="0">
              <a:buNone/>
            </a:pPr>
            <a:endParaRPr lang="en-IN" dirty="0"/>
          </a:p>
          <a:p>
            <a:pPr marL="0" indent="0">
              <a:buNone/>
            </a:pPr>
            <a:r>
              <a:rPr lang="en-IN" b="1" dirty="0"/>
              <a:t>Activities:</a:t>
            </a:r>
            <a:endParaRPr lang="en-IN" dirty="0"/>
          </a:p>
          <a:p>
            <a:r>
              <a:rPr lang="en-IN" dirty="0"/>
              <a:t>Write the program code. </a:t>
            </a:r>
          </a:p>
          <a:p>
            <a:r>
              <a:rPr lang="en-IN" dirty="0"/>
              <a:t>Develop software modules. </a:t>
            </a:r>
          </a:p>
          <a:p>
            <a:r>
              <a:rPr lang="en-IN" dirty="0"/>
              <a:t>Perform </a:t>
            </a:r>
            <a:r>
              <a:rPr lang="en-IN" b="1" dirty="0"/>
              <a:t>Unit Testing</a:t>
            </a:r>
            <a:r>
              <a:rPr lang="en-IN" dirty="0"/>
              <a:t> on each module.</a:t>
            </a:r>
          </a:p>
          <a:p>
            <a:endParaRPr lang="en-IN" dirty="0"/>
          </a:p>
        </p:txBody>
      </p:sp>
    </p:spTree>
    <p:extLst>
      <p:ext uri="{BB962C8B-B14F-4D97-AF65-F5344CB8AC3E}">
        <p14:creationId xmlns:p14="http://schemas.microsoft.com/office/powerpoint/2010/main" val="36571258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842CFA-BEA7-576D-C09D-5FDD531044C6}"/>
              </a:ext>
            </a:extLst>
          </p:cNvPr>
          <p:cNvSpPr>
            <a:spLocks noGrp="1"/>
          </p:cNvSpPr>
          <p:nvPr>
            <p:ph idx="1"/>
          </p:nvPr>
        </p:nvSpPr>
        <p:spPr>
          <a:xfrm>
            <a:off x="838200" y="649967"/>
            <a:ext cx="10515600" cy="4662261"/>
          </a:xfrm>
        </p:spPr>
        <p:txBody>
          <a:bodyPr>
            <a:normAutofit/>
          </a:bodyPr>
          <a:lstStyle/>
          <a:p>
            <a:pPr marL="0" indent="0">
              <a:buNone/>
            </a:pPr>
            <a:r>
              <a:rPr lang="en-IN" b="1" dirty="0"/>
              <a:t>4. Testing</a:t>
            </a:r>
          </a:p>
          <a:p>
            <a:r>
              <a:rPr lang="en-IN" dirty="0"/>
              <a:t>After the software is developed, it is tested to ensure that it meets all the specified requirements and is free from defects or errors.</a:t>
            </a:r>
          </a:p>
          <a:p>
            <a:endParaRPr lang="en-IN" dirty="0"/>
          </a:p>
          <a:p>
            <a:pPr marL="0" indent="0">
              <a:buNone/>
            </a:pPr>
            <a:r>
              <a:rPr lang="en-IN" b="1" dirty="0"/>
              <a:t>Activities:</a:t>
            </a:r>
            <a:endParaRPr lang="en-IN" dirty="0"/>
          </a:p>
          <a:p>
            <a:r>
              <a:rPr lang="en-IN" dirty="0"/>
              <a:t>Perform integration testing. </a:t>
            </a:r>
          </a:p>
          <a:p>
            <a:r>
              <a:rPr lang="en-IN" dirty="0"/>
              <a:t>Conduct system testing. </a:t>
            </a:r>
          </a:p>
          <a:p>
            <a:r>
              <a:rPr lang="en-IN" dirty="0"/>
              <a:t>Carry out user acceptance testing (UAT). </a:t>
            </a:r>
          </a:p>
          <a:p>
            <a:r>
              <a:rPr lang="en-IN" dirty="0"/>
              <a:t>Identify and fix bugs.</a:t>
            </a:r>
          </a:p>
          <a:p>
            <a:endParaRPr lang="en-IN" dirty="0"/>
          </a:p>
        </p:txBody>
      </p:sp>
    </p:spTree>
    <p:extLst>
      <p:ext uri="{BB962C8B-B14F-4D97-AF65-F5344CB8AC3E}">
        <p14:creationId xmlns:p14="http://schemas.microsoft.com/office/powerpoint/2010/main" val="36627107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FCC3C3-F139-7752-25B4-427E623A2682}"/>
              </a:ext>
            </a:extLst>
          </p:cNvPr>
          <p:cNvSpPr>
            <a:spLocks noGrp="1"/>
          </p:cNvSpPr>
          <p:nvPr>
            <p:ph idx="1"/>
          </p:nvPr>
        </p:nvSpPr>
        <p:spPr>
          <a:xfrm>
            <a:off x="838200" y="802368"/>
            <a:ext cx="10515600" cy="4977946"/>
          </a:xfrm>
        </p:spPr>
        <p:txBody>
          <a:bodyPr>
            <a:normAutofit lnSpcReduction="10000"/>
          </a:bodyPr>
          <a:lstStyle/>
          <a:p>
            <a:pPr marL="0" indent="0">
              <a:lnSpc>
                <a:spcPct val="100000"/>
              </a:lnSpc>
              <a:buNone/>
            </a:pPr>
            <a:r>
              <a:rPr lang="en-IN" b="1" dirty="0"/>
              <a:t>5. Deployment</a:t>
            </a:r>
          </a:p>
          <a:p>
            <a:pPr>
              <a:lnSpc>
                <a:spcPct val="100000"/>
              </a:lnSpc>
            </a:pPr>
            <a:r>
              <a:rPr lang="en-IN" dirty="0"/>
              <a:t>Once the software has been successfully tested and approved, it is released to the users or installed in the production environment for actual use.</a:t>
            </a:r>
          </a:p>
          <a:p>
            <a:pPr marL="0" indent="0">
              <a:lnSpc>
                <a:spcPct val="100000"/>
              </a:lnSpc>
              <a:buNone/>
            </a:pPr>
            <a:endParaRPr lang="en-IN" dirty="0"/>
          </a:p>
          <a:p>
            <a:pPr marL="0" indent="0">
              <a:lnSpc>
                <a:spcPct val="100000"/>
              </a:lnSpc>
              <a:buNone/>
            </a:pPr>
            <a:r>
              <a:rPr lang="en-IN" b="1" dirty="0"/>
              <a:t>Activities:</a:t>
            </a:r>
            <a:endParaRPr lang="en-IN" dirty="0"/>
          </a:p>
          <a:p>
            <a:pPr>
              <a:lnSpc>
                <a:spcPct val="100000"/>
              </a:lnSpc>
            </a:pPr>
            <a:r>
              <a:rPr lang="en-IN" dirty="0"/>
              <a:t>Install the software. </a:t>
            </a:r>
          </a:p>
          <a:p>
            <a:pPr>
              <a:lnSpc>
                <a:spcPct val="100000"/>
              </a:lnSpc>
            </a:pPr>
            <a:r>
              <a:rPr lang="en-IN" dirty="0"/>
              <a:t>Configure the production environment. </a:t>
            </a:r>
          </a:p>
          <a:p>
            <a:pPr>
              <a:lnSpc>
                <a:spcPct val="100000"/>
              </a:lnSpc>
            </a:pPr>
            <a:r>
              <a:rPr lang="en-IN" dirty="0"/>
              <a:t>Release the application to users. </a:t>
            </a:r>
          </a:p>
          <a:p>
            <a:pPr>
              <a:lnSpc>
                <a:spcPct val="100000"/>
              </a:lnSpc>
            </a:pPr>
            <a:r>
              <a:rPr lang="en-IN" dirty="0"/>
              <a:t>Perform final verification (smoke testing).</a:t>
            </a:r>
          </a:p>
          <a:p>
            <a:pPr>
              <a:lnSpc>
                <a:spcPct val="100000"/>
              </a:lnSpc>
            </a:pPr>
            <a:endParaRPr lang="en-IN" dirty="0"/>
          </a:p>
        </p:txBody>
      </p:sp>
    </p:spTree>
    <p:extLst>
      <p:ext uri="{BB962C8B-B14F-4D97-AF65-F5344CB8AC3E}">
        <p14:creationId xmlns:p14="http://schemas.microsoft.com/office/powerpoint/2010/main" val="33529182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D6D01E-0CC0-04F5-FB2B-42EAB94EE828}"/>
              </a:ext>
            </a:extLst>
          </p:cNvPr>
          <p:cNvSpPr>
            <a:spLocks noGrp="1"/>
          </p:cNvSpPr>
          <p:nvPr>
            <p:ph idx="1"/>
          </p:nvPr>
        </p:nvSpPr>
        <p:spPr>
          <a:xfrm>
            <a:off x="838200" y="856796"/>
            <a:ext cx="10515600" cy="4945289"/>
          </a:xfrm>
        </p:spPr>
        <p:txBody>
          <a:bodyPr>
            <a:normAutofit/>
          </a:bodyPr>
          <a:lstStyle/>
          <a:p>
            <a:pPr marL="0" indent="0">
              <a:buNone/>
            </a:pPr>
            <a:r>
              <a:rPr lang="en-IN" b="1" dirty="0"/>
              <a:t>6. Maintenance</a:t>
            </a:r>
          </a:p>
          <a:p>
            <a:r>
              <a:rPr lang="en-IN" dirty="0"/>
              <a:t>Maintenance is the final phase of the Waterfall Model. After deployment, the software is monitored and maintained to ensure it continues to work correctly. Any issues are fixed, and updates or enhancements are made as needed.</a:t>
            </a:r>
          </a:p>
          <a:p>
            <a:pPr marL="0" indent="0">
              <a:buNone/>
            </a:pPr>
            <a:r>
              <a:rPr lang="en-IN" b="1" dirty="0"/>
              <a:t>Activities:</a:t>
            </a:r>
            <a:endParaRPr lang="en-IN" dirty="0"/>
          </a:p>
          <a:p>
            <a:r>
              <a:rPr lang="en-IN" dirty="0"/>
              <a:t>Fix bugs and errors. </a:t>
            </a:r>
          </a:p>
          <a:p>
            <a:r>
              <a:rPr lang="en-IN" dirty="0"/>
              <a:t>Improve software performance. </a:t>
            </a:r>
          </a:p>
          <a:p>
            <a:r>
              <a:rPr lang="en-IN" dirty="0"/>
              <a:t>Update the software based on user feedback. </a:t>
            </a:r>
          </a:p>
          <a:p>
            <a:r>
              <a:rPr lang="en-IN" dirty="0"/>
              <a:t>Add minor enhancements and security updates</a:t>
            </a:r>
          </a:p>
          <a:p>
            <a:endParaRPr lang="en-IN" dirty="0"/>
          </a:p>
        </p:txBody>
      </p:sp>
    </p:spTree>
    <p:extLst>
      <p:ext uri="{BB962C8B-B14F-4D97-AF65-F5344CB8AC3E}">
        <p14:creationId xmlns:p14="http://schemas.microsoft.com/office/powerpoint/2010/main" val="28142041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E0BC9F-9FDD-8BC9-B3DD-F02790D05853}"/>
              </a:ext>
            </a:extLst>
          </p:cNvPr>
          <p:cNvSpPr>
            <a:spLocks noGrp="1"/>
          </p:cNvSpPr>
          <p:nvPr>
            <p:ph idx="1"/>
          </p:nvPr>
        </p:nvSpPr>
        <p:spPr>
          <a:xfrm>
            <a:off x="740229" y="671739"/>
            <a:ext cx="10515600" cy="4351338"/>
          </a:xfrm>
        </p:spPr>
        <p:txBody>
          <a:bodyPr/>
          <a:lstStyle/>
          <a:p>
            <a:pPr marL="0" indent="0">
              <a:buNone/>
            </a:pPr>
            <a:r>
              <a:rPr lang="en-IN" b="1" dirty="0"/>
              <a:t>Advantages of the Waterfall Model:</a:t>
            </a:r>
          </a:p>
          <a:p>
            <a:pPr marL="0" indent="0">
              <a:buNone/>
            </a:pPr>
            <a:endParaRPr lang="en-IN" dirty="0"/>
          </a:p>
          <a:p>
            <a:r>
              <a:rPr lang="en-IN" dirty="0"/>
              <a:t>Simple and easy to understand. </a:t>
            </a:r>
          </a:p>
          <a:p>
            <a:r>
              <a:rPr lang="en-IN" dirty="0"/>
              <a:t>Provides clear documentation at every phase. </a:t>
            </a:r>
          </a:p>
          <a:p>
            <a:r>
              <a:rPr lang="en-IN" dirty="0"/>
              <a:t>Suitable for projects with stable and fixed requirements. </a:t>
            </a:r>
          </a:p>
          <a:p>
            <a:r>
              <a:rPr lang="en-IN" dirty="0"/>
              <a:t>Offers better predictability of project schedule, cost, and deliverables.</a:t>
            </a:r>
          </a:p>
          <a:p>
            <a:endParaRPr lang="en-IN" dirty="0"/>
          </a:p>
        </p:txBody>
      </p:sp>
    </p:spTree>
    <p:extLst>
      <p:ext uri="{BB962C8B-B14F-4D97-AF65-F5344CB8AC3E}">
        <p14:creationId xmlns:p14="http://schemas.microsoft.com/office/powerpoint/2010/main" val="36125134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9D92E3-7ECB-C827-9777-0F2F0584E4D3}"/>
              </a:ext>
            </a:extLst>
          </p:cNvPr>
          <p:cNvSpPr>
            <a:spLocks noGrp="1"/>
          </p:cNvSpPr>
          <p:nvPr>
            <p:ph idx="1"/>
          </p:nvPr>
        </p:nvSpPr>
        <p:spPr>
          <a:xfrm>
            <a:off x="838200" y="976539"/>
            <a:ext cx="10515600" cy="4351338"/>
          </a:xfrm>
        </p:spPr>
        <p:txBody>
          <a:bodyPr/>
          <a:lstStyle/>
          <a:p>
            <a:pPr marL="0" indent="0">
              <a:buNone/>
            </a:pPr>
            <a:r>
              <a:rPr lang="en-IN" b="1" dirty="0"/>
              <a:t>Disadvantages of the Waterfall Model:</a:t>
            </a:r>
          </a:p>
          <a:p>
            <a:pPr marL="0" indent="0">
              <a:buNone/>
            </a:pPr>
            <a:endParaRPr lang="en-IN" dirty="0"/>
          </a:p>
          <a:p>
            <a:r>
              <a:rPr lang="en-IN" dirty="0"/>
              <a:t>Difficult to accommodate changes once development begins. </a:t>
            </a:r>
          </a:p>
          <a:p>
            <a:r>
              <a:rPr lang="en-IN" dirty="0"/>
              <a:t>Testing is performed only after coding, so defects are identified late. </a:t>
            </a:r>
          </a:p>
          <a:p>
            <a:r>
              <a:rPr lang="en-IN" dirty="0"/>
              <a:t>Limited customer involvement after the requirements phase. </a:t>
            </a:r>
          </a:p>
          <a:p>
            <a:r>
              <a:rPr lang="en-IN" dirty="0"/>
              <a:t>Does not support prototyping or early user feedback.</a:t>
            </a:r>
          </a:p>
          <a:p>
            <a:endParaRPr lang="en-IN" dirty="0"/>
          </a:p>
        </p:txBody>
      </p:sp>
    </p:spTree>
    <p:extLst>
      <p:ext uri="{BB962C8B-B14F-4D97-AF65-F5344CB8AC3E}">
        <p14:creationId xmlns:p14="http://schemas.microsoft.com/office/powerpoint/2010/main" val="13758220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C624C-F763-E159-BBC5-3D033D093E71}"/>
              </a:ext>
            </a:extLst>
          </p:cNvPr>
          <p:cNvSpPr>
            <a:spLocks noGrp="1"/>
          </p:cNvSpPr>
          <p:nvPr>
            <p:ph type="title"/>
          </p:nvPr>
        </p:nvSpPr>
        <p:spPr/>
        <p:txBody>
          <a:bodyPr/>
          <a:lstStyle/>
          <a:p>
            <a:r>
              <a:rPr lang="en-IN" b="1" dirty="0"/>
              <a:t>2. Iterative SDLC Models</a:t>
            </a:r>
            <a:br>
              <a:rPr lang="en-IN" b="1" dirty="0"/>
            </a:br>
            <a:endParaRPr lang="en-IN" dirty="0"/>
          </a:p>
        </p:txBody>
      </p:sp>
      <p:sp>
        <p:nvSpPr>
          <p:cNvPr id="3" name="Content Placeholder 2">
            <a:extLst>
              <a:ext uri="{FF2B5EF4-FFF2-40B4-BE49-F238E27FC236}">
                <a16:creationId xmlns:a16="http://schemas.microsoft.com/office/drawing/2014/main" id="{C5C47DDD-E87E-F4BC-6065-3609A95E1082}"/>
              </a:ext>
            </a:extLst>
          </p:cNvPr>
          <p:cNvSpPr>
            <a:spLocks noGrp="1"/>
          </p:cNvSpPr>
          <p:nvPr>
            <p:ph idx="1"/>
          </p:nvPr>
        </p:nvSpPr>
        <p:spPr>
          <a:xfrm>
            <a:off x="838200" y="1480457"/>
            <a:ext cx="10515600" cy="4696506"/>
          </a:xfrm>
        </p:spPr>
        <p:txBody>
          <a:bodyPr/>
          <a:lstStyle/>
          <a:p>
            <a:pPr>
              <a:lnSpc>
                <a:spcPct val="100000"/>
              </a:lnSpc>
            </a:pPr>
            <a:r>
              <a:rPr lang="en-IN" dirty="0"/>
              <a:t>The </a:t>
            </a:r>
            <a:r>
              <a:rPr lang="en-IN" b="1" dirty="0"/>
              <a:t>Iterative SDLC Model</a:t>
            </a:r>
            <a:r>
              <a:rPr lang="en-IN" dirty="0"/>
              <a:t> is a software development methodology in which the software is developed </a:t>
            </a:r>
            <a:r>
              <a:rPr lang="en-IN" b="1" dirty="0"/>
              <a:t>through repeated cycles (iterations)</a:t>
            </a:r>
            <a:r>
              <a:rPr lang="en-IN" dirty="0"/>
              <a:t>. Instead of building the entire system at once, the project is developed in </a:t>
            </a:r>
            <a:r>
              <a:rPr lang="en-IN" b="1" dirty="0"/>
              <a:t>small parts</a:t>
            </a:r>
            <a:r>
              <a:rPr lang="en-IN" dirty="0"/>
              <a:t>, and each iteration improves the software based on testing and user feedback.</a:t>
            </a:r>
          </a:p>
          <a:p>
            <a:pPr>
              <a:lnSpc>
                <a:spcPct val="100000"/>
              </a:lnSpc>
            </a:pPr>
            <a:endParaRPr lang="en-IN" dirty="0"/>
          </a:p>
          <a:p>
            <a:pPr>
              <a:lnSpc>
                <a:spcPct val="100000"/>
              </a:lnSpc>
            </a:pPr>
            <a:r>
              <a:rPr lang="en-IN" dirty="0"/>
              <a:t>The Iterative Model is </a:t>
            </a:r>
            <a:r>
              <a:rPr lang="en-IN" b="1" dirty="0"/>
              <a:t>flexible and efficient</a:t>
            </a:r>
            <a:r>
              <a:rPr lang="en-IN" dirty="0"/>
              <a:t> because it allows continuous improvement, early testing, and easy adaptation to changing requirements.</a:t>
            </a:r>
          </a:p>
        </p:txBody>
      </p:sp>
    </p:spTree>
    <p:extLst>
      <p:ext uri="{BB962C8B-B14F-4D97-AF65-F5344CB8AC3E}">
        <p14:creationId xmlns:p14="http://schemas.microsoft.com/office/powerpoint/2010/main" val="31916004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D048058-DBA8-1354-3396-163E8B2C5CFD}"/>
              </a:ext>
            </a:extLst>
          </p:cNvPr>
          <p:cNvPicPr>
            <a:picLocks noGrp="1" noChangeAspect="1"/>
          </p:cNvPicPr>
          <p:nvPr>
            <p:ph idx="1"/>
          </p:nvPr>
        </p:nvPicPr>
        <p:blipFill>
          <a:blip r:embed="rId2"/>
          <a:stretch>
            <a:fillRect/>
          </a:stretch>
        </p:blipFill>
        <p:spPr>
          <a:xfrm>
            <a:off x="1088571" y="892630"/>
            <a:ext cx="10069286" cy="5280476"/>
          </a:xfrm>
          <a:prstGeom prst="rect">
            <a:avLst/>
          </a:prstGeom>
        </p:spPr>
      </p:pic>
    </p:spTree>
    <p:extLst>
      <p:ext uri="{BB962C8B-B14F-4D97-AF65-F5344CB8AC3E}">
        <p14:creationId xmlns:p14="http://schemas.microsoft.com/office/powerpoint/2010/main" val="11502819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F94C78-43E4-5B2B-BC51-B407C9FA4ECD}"/>
              </a:ext>
            </a:extLst>
          </p:cNvPr>
          <p:cNvSpPr>
            <a:spLocks noGrp="1"/>
          </p:cNvSpPr>
          <p:nvPr>
            <p:ph idx="1"/>
          </p:nvPr>
        </p:nvSpPr>
        <p:spPr>
          <a:xfrm>
            <a:off x="838200" y="881743"/>
            <a:ext cx="10515600" cy="5295220"/>
          </a:xfrm>
        </p:spPr>
        <p:txBody>
          <a:bodyPr>
            <a:normAutofit fontScale="92500" lnSpcReduction="20000"/>
          </a:bodyPr>
          <a:lstStyle/>
          <a:p>
            <a:pPr marL="0" indent="0">
              <a:lnSpc>
                <a:spcPct val="110000"/>
              </a:lnSpc>
              <a:buNone/>
            </a:pPr>
            <a:r>
              <a:rPr lang="en-IN" b="1" dirty="0"/>
              <a:t>Iteration 1 – Initial Version</a:t>
            </a:r>
          </a:p>
          <a:p>
            <a:pPr>
              <a:lnSpc>
                <a:spcPct val="110000"/>
              </a:lnSpc>
            </a:pPr>
            <a:r>
              <a:rPr lang="en-IN" dirty="0"/>
              <a:t>This is the first development cycle where the basic version of the software is created.</a:t>
            </a:r>
          </a:p>
          <a:p>
            <a:pPr>
              <a:lnSpc>
                <a:spcPct val="110000"/>
              </a:lnSpc>
            </a:pPr>
            <a:endParaRPr lang="en-IN" dirty="0"/>
          </a:p>
          <a:p>
            <a:pPr marL="0" indent="0">
              <a:lnSpc>
                <a:spcPct val="110000"/>
              </a:lnSpc>
              <a:buNone/>
            </a:pPr>
            <a:r>
              <a:rPr lang="en-IN" b="1" dirty="0"/>
              <a:t>Steps:</a:t>
            </a:r>
            <a:endParaRPr lang="en-IN" dirty="0"/>
          </a:p>
          <a:p>
            <a:pPr>
              <a:lnSpc>
                <a:spcPct val="110000"/>
              </a:lnSpc>
            </a:pPr>
            <a:r>
              <a:rPr lang="en-IN" b="1" dirty="0"/>
              <a:t>Requirements</a:t>
            </a:r>
            <a:r>
              <a:rPr lang="en-IN" dirty="0"/>
              <a:t> – Gather the initial requirements from the client. </a:t>
            </a:r>
          </a:p>
          <a:p>
            <a:pPr>
              <a:lnSpc>
                <a:spcPct val="110000"/>
              </a:lnSpc>
            </a:pPr>
            <a:r>
              <a:rPr lang="en-IN" b="1" dirty="0"/>
              <a:t>Analysis</a:t>
            </a:r>
            <a:r>
              <a:rPr lang="en-IN" dirty="0"/>
              <a:t> – </a:t>
            </a:r>
            <a:r>
              <a:rPr lang="en-IN" dirty="0" err="1"/>
              <a:t>Analyze</a:t>
            </a:r>
            <a:r>
              <a:rPr lang="en-IN" dirty="0"/>
              <a:t> the requirements and determine feasibility. </a:t>
            </a:r>
          </a:p>
          <a:p>
            <a:pPr>
              <a:lnSpc>
                <a:spcPct val="110000"/>
              </a:lnSpc>
            </a:pPr>
            <a:r>
              <a:rPr lang="en-IN" b="1" dirty="0"/>
              <a:t>Design</a:t>
            </a:r>
            <a:r>
              <a:rPr lang="en-IN" dirty="0"/>
              <a:t> – Create the system design and architecture. </a:t>
            </a:r>
          </a:p>
          <a:p>
            <a:pPr>
              <a:lnSpc>
                <a:spcPct val="110000"/>
              </a:lnSpc>
            </a:pPr>
            <a:r>
              <a:rPr lang="en-IN" b="1" dirty="0"/>
              <a:t>Testing</a:t>
            </a:r>
            <a:r>
              <a:rPr lang="en-IN" dirty="0"/>
              <a:t> – Test the developed features for defects. </a:t>
            </a:r>
          </a:p>
          <a:p>
            <a:pPr>
              <a:lnSpc>
                <a:spcPct val="110000"/>
              </a:lnSpc>
            </a:pPr>
            <a:r>
              <a:rPr lang="en-IN" b="1" dirty="0"/>
              <a:t>Implementation</a:t>
            </a:r>
            <a:r>
              <a:rPr lang="en-IN" dirty="0"/>
              <a:t> – Develop (code) the first version of the software. </a:t>
            </a:r>
          </a:p>
          <a:p>
            <a:pPr>
              <a:lnSpc>
                <a:spcPct val="110000"/>
              </a:lnSpc>
            </a:pPr>
            <a:r>
              <a:rPr lang="en-IN" b="1" dirty="0"/>
              <a:t>Review</a:t>
            </a:r>
            <a:r>
              <a:rPr lang="en-IN" dirty="0"/>
              <a:t> – Evaluate the software and collect customer feedback.</a:t>
            </a:r>
          </a:p>
          <a:p>
            <a:pPr>
              <a:lnSpc>
                <a:spcPct val="110000"/>
              </a:lnSpc>
            </a:pPr>
            <a:endParaRPr lang="en-IN" dirty="0"/>
          </a:p>
        </p:txBody>
      </p:sp>
    </p:spTree>
    <p:extLst>
      <p:ext uri="{BB962C8B-B14F-4D97-AF65-F5344CB8AC3E}">
        <p14:creationId xmlns:p14="http://schemas.microsoft.com/office/powerpoint/2010/main" val="17926369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9081DE-6A49-FFB6-1377-F99D122E8F0D}"/>
              </a:ext>
            </a:extLst>
          </p:cNvPr>
          <p:cNvSpPr>
            <a:spLocks noGrp="1"/>
          </p:cNvSpPr>
          <p:nvPr>
            <p:ph idx="1"/>
          </p:nvPr>
        </p:nvSpPr>
        <p:spPr>
          <a:xfrm>
            <a:off x="838200" y="726168"/>
            <a:ext cx="10515600" cy="4351338"/>
          </a:xfrm>
        </p:spPr>
        <p:txBody>
          <a:bodyPr>
            <a:normAutofit lnSpcReduction="10000"/>
          </a:bodyPr>
          <a:lstStyle/>
          <a:p>
            <a:pPr marL="0" indent="0">
              <a:buNone/>
            </a:pPr>
            <a:r>
              <a:rPr lang="en-IN" b="1" dirty="0"/>
              <a:t>Iteration 2 – Improved Version</a:t>
            </a:r>
          </a:p>
          <a:p>
            <a:r>
              <a:rPr lang="en-IN" dirty="0"/>
              <a:t>Based on the feedback from Iteration 1, improvements and additional features are added.</a:t>
            </a:r>
          </a:p>
          <a:p>
            <a:pPr marL="0" indent="0">
              <a:buNone/>
            </a:pPr>
            <a:endParaRPr lang="en-IN" b="1" dirty="0"/>
          </a:p>
          <a:p>
            <a:pPr marL="0" indent="0">
              <a:buNone/>
            </a:pPr>
            <a:r>
              <a:rPr lang="en-IN" b="1" dirty="0"/>
              <a:t>Steps:</a:t>
            </a:r>
            <a:endParaRPr lang="en-IN" dirty="0"/>
          </a:p>
          <a:p>
            <a:r>
              <a:rPr lang="en-IN" dirty="0"/>
              <a:t>Design </a:t>
            </a:r>
          </a:p>
          <a:p>
            <a:r>
              <a:rPr lang="en-IN" dirty="0"/>
              <a:t>Testing </a:t>
            </a:r>
          </a:p>
          <a:p>
            <a:r>
              <a:rPr lang="en-IN" dirty="0"/>
              <a:t>Implementation </a:t>
            </a:r>
          </a:p>
          <a:p>
            <a:r>
              <a:rPr lang="en-IN" dirty="0"/>
              <a:t>Review</a:t>
            </a:r>
          </a:p>
          <a:p>
            <a:endParaRPr lang="en-IN" dirty="0"/>
          </a:p>
        </p:txBody>
      </p:sp>
    </p:spTree>
    <p:extLst>
      <p:ext uri="{BB962C8B-B14F-4D97-AF65-F5344CB8AC3E}">
        <p14:creationId xmlns:p14="http://schemas.microsoft.com/office/powerpoint/2010/main" val="26392458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1A99DA-94FB-C9DF-673C-3375CC0B83EC}"/>
              </a:ext>
            </a:extLst>
          </p:cNvPr>
          <p:cNvSpPr>
            <a:spLocks noGrp="1"/>
          </p:cNvSpPr>
          <p:nvPr>
            <p:ph idx="1"/>
          </p:nvPr>
        </p:nvSpPr>
        <p:spPr>
          <a:xfrm>
            <a:off x="838200" y="740229"/>
            <a:ext cx="10515600" cy="5436734"/>
          </a:xfrm>
        </p:spPr>
        <p:txBody>
          <a:bodyPr>
            <a:normAutofit lnSpcReduction="10000"/>
          </a:bodyPr>
          <a:lstStyle/>
          <a:p>
            <a:pPr marL="0" indent="0">
              <a:lnSpc>
                <a:spcPct val="100000"/>
              </a:lnSpc>
              <a:buNone/>
            </a:pPr>
            <a:r>
              <a:rPr lang="en-IN" b="1" dirty="0"/>
              <a:t>Iteration 3 – Final Version</a:t>
            </a:r>
          </a:p>
          <a:p>
            <a:pPr>
              <a:lnSpc>
                <a:spcPct val="100000"/>
              </a:lnSpc>
            </a:pPr>
            <a:r>
              <a:rPr lang="en-IN" dirty="0"/>
              <a:t>The software is further refined and prepared for release.</a:t>
            </a:r>
          </a:p>
          <a:p>
            <a:pPr marL="0" indent="0">
              <a:lnSpc>
                <a:spcPct val="100000"/>
              </a:lnSpc>
              <a:buNone/>
            </a:pPr>
            <a:endParaRPr lang="en-IN" dirty="0"/>
          </a:p>
          <a:p>
            <a:pPr marL="0" indent="0">
              <a:lnSpc>
                <a:spcPct val="100000"/>
              </a:lnSpc>
              <a:buNone/>
            </a:pPr>
            <a:r>
              <a:rPr lang="en-IN" b="1" dirty="0"/>
              <a:t>Steps:</a:t>
            </a:r>
            <a:endParaRPr lang="en-IN" dirty="0"/>
          </a:p>
          <a:p>
            <a:pPr>
              <a:lnSpc>
                <a:spcPct val="100000"/>
              </a:lnSpc>
            </a:pPr>
            <a:r>
              <a:rPr lang="en-IN" b="1" dirty="0"/>
              <a:t>Design</a:t>
            </a:r>
            <a:r>
              <a:rPr lang="en-IN" dirty="0"/>
              <a:t> – Design the remaining features. </a:t>
            </a:r>
          </a:p>
          <a:p>
            <a:pPr>
              <a:lnSpc>
                <a:spcPct val="100000"/>
              </a:lnSpc>
            </a:pPr>
            <a:r>
              <a:rPr lang="en-IN" b="1" dirty="0"/>
              <a:t>Testing</a:t>
            </a:r>
            <a:r>
              <a:rPr lang="en-IN" dirty="0"/>
              <a:t> – Test the new features and overall system. </a:t>
            </a:r>
          </a:p>
          <a:p>
            <a:pPr>
              <a:lnSpc>
                <a:spcPct val="100000"/>
              </a:lnSpc>
            </a:pPr>
            <a:r>
              <a:rPr lang="en-IN" b="1" dirty="0"/>
              <a:t>Implementation</a:t>
            </a:r>
            <a:r>
              <a:rPr lang="en-IN" dirty="0"/>
              <a:t> – Complete the remaining development. </a:t>
            </a:r>
          </a:p>
          <a:p>
            <a:pPr>
              <a:lnSpc>
                <a:spcPct val="100000"/>
              </a:lnSpc>
            </a:pPr>
            <a:r>
              <a:rPr lang="en-IN" b="1" dirty="0"/>
              <a:t>Review</a:t>
            </a:r>
            <a:r>
              <a:rPr lang="en-IN" dirty="0"/>
              <a:t> – Final evaluation and customer approval. </a:t>
            </a:r>
          </a:p>
          <a:p>
            <a:pPr>
              <a:lnSpc>
                <a:spcPct val="100000"/>
              </a:lnSpc>
            </a:pPr>
            <a:r>
              <a:rPr lang="en-IN" b="1" dirty="0"/>
              <a:t>Deployment</a:t>
            </a:r>
            <a:r>
              <a:rPr lang="en-IN" dirty="0"/>
              <a:t> – Release the software to users. </a:t>
            </a:r>
          </a:p>
          <a:p>
            <a:pPr>
              <a:lnSpc>
                <a:spcPct val="100000"/>
              </a:lnSpc>
            </a:pPr>
            <a:r>
              <a:rPr lang="en-IN" b="1" dirty="0"/>
              <a:t>Maintenance</a:t>
            </a:r>
            <a:r>
              <a:rPr lang="en-IN" dirty="0"/>
              <a:t> – Fix bugs and provide updates after deployment.</a:t>
            </a:r>
          </a:p>
          <a:p>
            <a:pPr>
              <a:lnSpc>
                <a:spcPct val="100000"/>
              </a:lnSpc>
            </a:pPr>
            <a:endParaRPr lang="en-IN" dirty="0"/>
          </a:p>
        </p:txBody>
      </p:sp>
    </p:spTree>
    <p:extLst>
      <p:ext uri="{BB962C8B-B14F-4D97-AF65-F5344CB8AC3E}">
        <p14:creationId xmlns:p14="http://schemas.microsoft.com/office/powerpoint/2010/main" val="21563597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8679C-CB88-D9B2-36C7-A758AF765112}"/>
              </a:ext>
            </a:extLst>
          </p:cNvPr>
          <p:cNvSpPr>
            <a:spLocks noGrp="1"/>
          </p:cNvSpPr>
          <p:nvPr>
            <p:ph type="title"/>
          </p:nvPr>
        </p:nvSpPr>
        <p:spPr/>
        <p:txBody>
          <a:bodyPr/>
          <a:lstStyle/>
          <a:p>
            <a:r>
              <a:rPr lang="en-IN" dirty="0"/>
              <a:t>Advantages of the Iterative SDLC Model</a:t>
            </a:r>
          </a:p>
        </p:txBody>
      </p:sp>
      <p:sp>
        <p:nvSpPr>
          <p:cNvPr id="3" name="Content Placeholder 2">
            <a:extLst>
              <a:ext uri="{FF2B5EF4-FFF2-40B4-BE49-F238E27FC236}">
                <a16:creationId xmlns:a16="http://schemas.microsoft.com/office/drawing/2014/main" id="{18AF3E11-5804-216A-9E15-929814315FA7}"/>
              </a:ext>
            </a:extLst>
          </p:cNvPr>
          <p:cNvSpPr>
            <a:spLocks noGrp="1"/>
          </p:cNvSpPr>
          <p:nvPr>
            <p:ph idx="1"/>
          </p:nvPr>
        </p:nvSpPr>
        <p:spPr/>
        <p:txBody>
          <a:bodyPr/>
          <a:lstStyle/>
          <a:p>
            <a:r>
              <a:rPr lang="en-IN" dirty="0"/>
              <a:t>Faster delivery of working software through incremental development. </a:t>
            </a:r>
          </a:p>
          <a:p>
            <a:r>
              <a:rPr lang="en-IN" dirty="0"/>
              <a:t>Flexible enough to accommodate changing requirements. </a:t>
            </a:r>
          </a:p>
          <a:p>
            <a:r>
              <a:rPr lang="en-IN" dirty="0"/>
              <a:t>Better software quality due to continuous testing and improvements.</a:t>
            </a:r>
          </a:p>
          <a:p>
            <a:r>
              <a:rPr lang="en-IN" dirty="0"/>
              <a:t> Regular stakeholder feedback ensures the final product meets user and business requirements.</a:t>
            </a:r>
          </a:p>
        </p:txBody>
      </p:sp>
    </p:spTree>
    <p:extLst>
      <p:ext uri="{BB962C8B-B14F-4D97-AF65-F5344CB8AC3E}">
        <p14:creationId xmlns:p14="http://schemas.microsoft.com/office/powerpoint/2010/main" val="6836072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472FE046-85B0-9559-A408-524F3CA22D08}"/>
              </a:ext>
            </a:extLst>
          </p:cNvPr>
          <p:cNvGraphicFramePr>
            <a:graphicFrameLocks noGrp="1"/>
          </p:cNvGraphicFramePr>
          <p:nvPr>
            <p:ph idx="1"/>
            <p:extLst>
              <p:ext uri="{D42A27DB-BD31-4B8C-83A1-F6EECF244321}">
                <p14:modId xmlns:p14="http://schemas.microsoft.com/office/powerpoint/2010/main" val="3932069813"/>
              </p:ext>
            </p:extLst>
          </p:nvPr>
        </p:nvGraphicFramePr>
        <p:xfrm>
          <a:off x="838200" y="1121229"/>
          <a:ext cx="10515600" cy="5149577"/>
        </p:xfrm>
        <a:graphic>
          <a:graphicData uri="http://schemas.openxmlformats.org/drawingml/2006/table">
            <a:tbl>
              <a:tblPr/>
              <a:tblGrid>
                <a:gridCol w="5257800">
                  <a:extLst>
                    <a:ext uri="{9D8B030D-6E8A-4147-A177-3AD203B41FA5}">
                      <a16:colId xmlns:a16="http://schemas.microsoft.com/office/drawing/2014/main" val="617888191"/>
                    </a:ext>
                  </a:extLst>
                </a:gridCol>
                <a:gridCol w="5257800">
                  <a:extLst>
                    <a:ext uri="{9D8B030D-6E8A-4147-A177-3AD203B41FA5}">
                      <a16:colId xmlns:a16="http://schemas.microsoft.com/office/drawing/2014/main" val="1423832463"/>
                    </a:ext>
                  </a:extLst>
                </a:gridCol>
              </a:tblGrid>
              <a:tr h="651739">
                <a:tc>
                  <a:txBody>
                    <a:bodyPr/>
                    <a:lstStyle/>
                    <a:p>
                      <a:pPr>
                        <a:buNone/>
                      </a:pPr>
                      <a:r>
                        <a:rPr lang="en-IN" sz="2000" b="1" dirty="0"/>
                        <a:t>Disadvantage </a:t>
                      </a:r>
                      <a:endParaRPr lang="en-IN" sz="2000" dirty="0"/>
                    </a:p>
                  </a:txBody>
                  <a:tcPr anchor="ctr">
                    <a:lnL>
                      <a:noFill/>
                    </a:lnL>
                    <a:lnR>
                      <a:noFill/>
                    </a:lnR>
                    <a:lnT>
                      <a:noFill/>
                    </a:lnT>
                    <a:lnB>
                      <a:noFill/>
                    </a:lnB>
                    <a:noFill/>
                  </a:tcPr>
                </a:tc>
                <a:tc>
                  <a:txBody>
                    <a:bodyPr/>
                    <a:lstStyle/>
                    <a:p>
                      <a:pPr>
                        <a:buNone/>
                      </a:pPr>
                      <a:endParaRPr lang="en-IN" sz="2000" dirty="0"/>
                    </a:p>
                  </a:txBody>
                  <a:tcPr anchor="ctr">
                    <a:lnL>
                      <a:noFill/>
                    </a:lnL>
                    <a:lnR>
                      <a:noFill/>
                    </a:lnR>
                    <a:lnT>
                      <a:noFill/>
                    </a:lnT>
                    <a:lnB>
                      <a:noFill/>
                    </a:lnB>
                    <a:noFill/>
                  </a:tcPr>
                </a:tc>
                <a:extLst>
                  <a:ext uri="{0D108BD9-81ED-4DB2-BD59-A6C34878D82A}">
                    <a16:rowId xmlns:a16="http://schemas.microsoft.com/office/drawing/2014/main" val="2655186469"/>
                  </a:ext>
                </a:extLst>
              </a:tr>
              <a:tr h="1140541">
                <a:tc>
                  <a:txBody>
                    <a:bodyPr/>
                    <a:lstStyle/>
                    <a:p>
                      <a:pPr>
                        <a:buNone/>
                      </a:pPr>
                      <a:r>
                        <a:rPr lang="en-IN" sz="2000" b="1" dirty="0"/>
                        <a:t>Higher Cost </a:t>
                      </a:r>
                      <a:endParaRPr lang="en-IN" sz="2000" dirty="0"/>
                    </a:p>
                  </a:txBody>
                  <a:tcPr anchor="ctr">
                    <a:lnL>
                      <a:noFill/>
                    </a:lnL>
                    <a:lnR>
                      <a:noFill/>
                    </a:lnR>
                    <a:lnT>
                      <a:noFill/>
                    </a:lnT>
                    <a:lnB>
                      <a:noFill/>
                    </a:lnB>
                    <a:noFill/>
                  </a:tcPr>
                </a:tc>
                <a:tc>
                  <a:txBody>
                    <a:bodyPr/>
                    <a:lstStyle/>
                    <a:p>
                      <a:pPr>
                        <a:buNone/>
                      </a:pPr>
                      <a:r>
                        <a:rPr lang="en-IN" sz="2000" dirty="0"/>
                        <a:t>Repeated development and testing increase project cost.</a:t>
                      </a:r>
                    </a:p>
                  </a:txBody>
                  <a:tcPr anchor="ctr">
                    <a:lnL>
                      <a:noFill/>
                    </a:lnL>
                    <a:lnR>
                      <a:noFill/>
                    </a:lnR>
                    <a:lnT>
                      <a:noFill/>
                    </a:lnT>
                    <a:lnB>
                      <a:noFill/>
                    </a:lnB>
                    <a:noFill/>
                  </a:tcPr>
                </a:tc>
                <a:extLst>
                  <a:ext uri="{0D108BD9-81ED-4DB2-BD59-A6C34878D82A}">
                    <a16:rowId xmlns:a16="http://schemas.microsoft.com/office/drawing/2014/main" val="300845129"/>
                  </a:ext>
                </a:extLst>
              </a:tr>
              <a:tr h="651739">
                <a:tc>
                  <a:txBody>
                    <a:bodyPr/>
                    <a:lstStyle/>
                    <a:p>
                      <a:pPr>
                        <a:buNone/>
                      </a:pPr>
                      <a:r>
                        <a:rPr lang="en-IN" sz="2000" b="1" dirty="0"/>
                        <a:t>Time-Consuming</a:t>
                      </a:r>
                      <a:endParaRPr lang="en-IN" sz="2000" dirty="0"/>
                    </a:p>
                  </a:txBody>
                  <a:tcPr anchor="ctr">
                    <a:lnL>
                      <a:noFill/>
                    </a:lnL>
                    <a:lnR>
                      <a:noFill/>
                    </a:lnR>
                    <a:lnT>
                      <a:noFill/>
                    </a:lnT>
                    <a:lnB>
                      <a:noFill/>
                    </a:lnB>
                    <a:noFill/>
                  </a:tcPr>
                </a:tc>
                <a:tc>
                  <a:txBody>
                    <a:bodyPr/>
                    <a:lstStyle/>
                    <a:p>
                      <a:pPr>
                        <a:buNone/>
                      </a:pPr>
                      <a:r>
                        <a:rPr lang="en-IN" sz="2000"/>
                        <a:t>Multiple iterations may take longer to complete.</a:t>
                      </a:r>
                    </a:p>
                  </a:txBody>
                  <a:tcPr anchor="ctr">
                    <a:lnL>
                      <a:noFill/>
                    </a:lnL>
                    <a:lnR>
                      <a:noFill/>
                    </a:lnR>
                    <a:lnT>
                      <a:noFill/>
                    </a:lnT>
                    <a:lnB>
                      <a:noFill/>
                    </a:lnB>
                    <a:noFill/>
                  </a:tcPr>
                </a:tc>
                <a:extLst>
                  <a:ext uri="{0D108BD9-81ED-4DB2-BD59-A6C34878D82A}">
                    <a16:rowId xmlns:a16="http://schemas.microsoft.com/office/drawing/2014/main" val="532249520"/>
                  </a:ext>
                </a:extLst>
              </a:tr>
              <a:tr h="651739">
                <a:tc>
                  <a:txBody>
                    <a:bodyPr/>
                    <a:lstStyle/>
                    <a:p>
                      <a:pPr>
                        <a:buNone/>
                      </a:pPr>
                      <a:r>
                        <a:rPr lang="en-IN" sz="2000" b="1"/>
                        <a:t>Requires Skilled Team</a:t>
                      </a:r>
                      <a:endParaRPr lang="en-IN" sz="2000"/>
                    </a:p>
                  </a:txBody>
                  <a:tcPr anchor="ctr">
                    <a:lnL>
                      <a:noFill/>
                    </a:lnL>
                    <a:lnR>
                      <a:noFill/>
                    </a:lnR>
                    <a:lnT>
                      <a:noFill/>
                    </a:lnT>
                    <a:lnB>
                      <a:noFill/>
                    </a:lnB>
                    <a:noFill/>
                  </a:tcPr>
                </a:tc>
                <a:tc>
                  <a:txBody>
                    <a:bodyPr/>
                    <a:lstStyle/>
                    <a:p>
                      <a:pPr>
                        <a:buNone/>
                      </a:pPr>
                      <a:r>
                        <a:rPr lang="en-IN" sz="2000" dirty="0"/>
                        <a:t>Needs experienced developers and managers.</a:t>
                      </a:r>
                    </a:p>
                  </a:txBody>
                  <a:tcPr anchor="ctr">
                    <a:lnL>
                      <a:noFill/>
                    </a:lnL>
                    <a:lnR>
                      <a:noFill/>
                    </a:lnR>
                    <a:lnT>
                      <a:noFill/>
                    </a:lnT>
                    <a:lnB>
                      <a:noFill/>
                    </a:lnB>
                    <a:noFill/>
                  </a:tcPr>
                </a:tc>
                <a:extLst>
                  <a:ext uri="{0D108BD9-81ED-4DB2-BD59-A6C34878D82A}">
                    <a16:rowId xmlns:a16="http://schemas.microsoft.com/office/drawing/2014/main" val="1927827077"/>
                  </a:ext>
                </a:extLst>
              </a:tr>
              <a:tr h="651739">
                <a:tc>
                  <a:txBody>
                    <a:bodyPr/>
                    <a:lstStyle/>
                    <a:p>
                      <a:pPr>
                        <a:buNone/>
                      </a:pPr>
                      <a:r>
                        <a:rPr lang="en-IN" sz="2000" b="1"/>
                        <a:t>Scope Creep</a:t>
                      </a:r>
                      <a:endParaRPr lang="en-IN" sz="2000"/>
                    </a:p>
                  </a:txBody>
                  <a:tcPr anchor="ctr">
                    <a:lnL>
                      <a:noFill/>
                    </a:lnL>
                    <a:lnR>
                      <a:noFill/>
                    </a:lnR>
                    <a:lnT>
                      <a:noFill/>
                    </a:lnT>
                    <a:lnB>
                      <a:noFill/>
                    </a:lnB>
                    <a:noFill/>
                  </a:tcPr>
                </a:tc>
                <a:tc>
                  <a:txBody>
                    <a:bodyPr/>
                    <a:lstStyle/>
                    <a:p>
                      <a:pPr>
                        <a:buNone/>
                      </a:pPr>
                      <a:r>
                        <a:rPr lang="en-IN" sz="2000"/>
                        <a:t>Frequent changes may expand the project scope.</a:t>
                      </a:r>
                    </a:p>
                  </a:txBody>
                  <a:tcPr anchor="ctr">
                    <a:lnL>
                      <a:noFill/>
                    </a:lnL>
                    <a:lnR>
                      <a:noFill/>
                    </a:lnR>
                    <a:lnT>
                      <a:noFill/>
                    </a:lnT>
                    <a:lnB>
                      <a:noFill/>
                    </a:lnB>
                    <a:noFill/>
                  </a:tcPr>
                </a:tc>
                <a:extLst>
                  <a:ext uri="{0D108BD9-81ED-4DB2-BD59-A6C34878D82A}">
                    <a16:rowId xmlns:a16="http://schemas.microsoft.com/office/drawing/2014/main" val="608146796"/>
                  </a:ext>
                </a:extLst>
              </a:tr>
              <a:tr h="651739">
                <a:tc>
                  <a:txBody>
                    <a:bodyPr/>
                    <a:lstStyle/>
                    <a:p>
                      <a:pPr>
                        <a:buNone/>
                      </a:pPr>
                      <a:r>
                        <a:rPr lang="en-IN" sz="2000" b="1"/>
                        <a:t>Complex Management</a:t>
                      </a:r>
                      <a:endParaRPr lang="en-IN" sz="2000"/>
                    </a:p>
                  </a:txBody>
                  <a:tcPr anchor="ctr">
                    <a:lnL>
                      <a:noFill/>
                    </a:lnL>
                    <a:lnR>
                      <a:noFill/>
                    </a:lnR>
                    <a:lnT>
                      <a:noFill/>
                    </a:lnT>
                    <a:lnB>
                      <a:noFill/>
                    </a:lnB>
                    <a:noFill/>
                  </a:tcPr>
                </a:tc>
                <a:tc>
                  <a:txBody>
                    <a:bodyPr/>
                    <a:lstStyle/>
                    <a:p>
                      <a:pPr>
                        <a:buNone/>
                      </a:pPr>
                      <a:r>
                        <a:rPr lang="en-IN" sz="2000"/>
                        <a:t>Managing multiple iterations is more difficult.</a:t>
                      </a:r>
                    </a:p>
                  </a:txBody>
                  <a:tcPr anchor="ctr">
                    <a:lnL>
                      <a:noFill/>
                    </a:lnL>
                    <a:lnR>
                      <a:noFill/>
                    </a:lnR>
                    <a:lnT>
                      <a:noFill/>
                    </a:lnT>
                    <a:lnB>
                      <a:noFill/>
                    </a:lnB>
                    <a:noFill/>
                  </a:tcPr>
                </a:tc>
                <a:extLst>
                  <a:ext uri="{0D108BD9-81ED-4DB2-BD59-A6C34878D82A}">
                    <a16:rowId xmlns:a16="http://schemas.microsoft.com/office/drawing/2014/main" val="3205445182"/>
                  </a:ext>
                </a:extLst>
              </a:tr>
              <a:tr h="651739">
                <a:tc>
                  <a:txBody>
                    <a:bodyPr/>
                    <a:lstStyle/>
                    <a:p>
                      <a:pPr>
                        <a:buNone/>
                      </a:pPr>
                      <a:r>
                        <a:rPr lang="en-IN" sz="2000" b="1" dirty="0"/>
                        <a:t>More Documentation</a:t>
                      </a:r>
                      <a:endParaRPr lang="en-IN" sz="2000" dirty="0"/>
                    </a:p>
                  </a:txBody>
                  <a:tcPr anchor="ctr">
                    <a:lnL>
                      <a:noFill/>
                    </a:lnL>
                    <a:lnR>
                      <a:noFill/>
                    </a:lnR>
                    <a:lnT>
                      <a:noFill/>
                    </a:lnT>
                    <a:lnB>
                      <a:noFill/>
                    </a:lnB>
                    <a:noFill/>
                  </a:tcPr>
                </a:tc>
                <a:tc>
                  <a:txBody>
                    <a:bodyPr/>
                    <a:lstStyle/>
                    <a:p>
                      <a:pPr>
                        <a:buNone/>
                      </a:pPr>
                      <a:r>
                        <a:rPr lang="en-IN" sz="2000" dirty="0"/>
                        <a:t>Documentation is needed after each iteration.</a:t>
                      </a:r>
                    </a:p>
                  </a:txBody>
                  <a:tcPr anchor="ctr">
                    <a:lnL>
                      <a:noFill/>
                    </a:lnL>
                    <a:lnR>
                      <a:noFill/>
                    </a:lnR>
                    <a:lnT>
                      <a:noFill/>
                    </a:lnT>
                    <a:lnB>
                      <a:noFill/>
                    </a:lnB>
                    <a:noFill/>
                  </a:tcPr>
                </a:tc>
                <a:extLst>
                  <a:ext uri="{0D108BD9-81ED-4DB2-BD59-A6C34878D82A}">
                    <a16:rowId xmlns:a16="http://schemas.microsoft.com/office/drawing/2014/main" val="1837489938"/>
                  </a:ext>
                </a:extLst>
              </a:tr>
            </a:tbl>
          </a:graphicData>
        </a:graphic>
      </p:graphicFrame>
    </p:spTree>
    <p:extLst>
      <p:ext uri="{BB962C8B-B14F-4D97-AF65-F5344CB8AC3E}">
        <p14:creationId xmlns:p14="http://schemas.microsoft.com/office/powerpoint/2010/main" val="14864153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F424C-B869-CE53-F2A1-866C9C021FEC}"/>
              </a:ext>
            </a:extLst>
          </p:cNvPr>
          <p:cNvSpPr>
            <a:spLocks noGrp="1"/>
          </p:cNvSpPr>
          <p:nvPr>
            <p:ph type="title"/>
          </p:nvPr>
        </p:nvSpPr>
        <p:spPr/>
        <p:txBody>
          <a:bodyPr/>
          <a:lstStyle/>
          <a:p>
            <a:r>
              <a:rPr lang="en-IN" dirty="0"/>
              <a:t>V-Model (Verification and Validation Model) in SDLC</a:t>
            </a:r>
          </a:p>
        </p:txBody>
      </p:sp>
      <p:sp>
        <p:nvSpPr>
          <p:cNvPr id="3" name="Content Placeholder 2">
            <a:extLst>
              <a:ext uri="{FF2B5EF4-FFF2-40B4-BE49-F238E27FC236}">
                <a16:creationId xmlns:a16="http://schemas.microsoft.com/office/drawing/2014/main" id="{3041A971-020A-0C69-CD73-3B8811472A5B}"/>
              </a:ext>
            </a:extLst>
          </p:cNvPr>
          <p:cNvSpPr>
            <a:spLocks noGrp="1"/>
          </p:cNvSpPr>
          <p:nvPr>
            <p:ph idx="1"/>
          </p:nvPr>
        </p:nvSpPr>
        <p:spPr/>
        <p:txBody>
          <a:bodyPr/>
          <a:lstStyle/>
          <a:p>
            <a:pPr>
              <a:lnSpc>
                <a:spcPct val="100000"/>
              </a:lnSpc>
            </a:pPr>
            <a:r>
              <a:rPr lang="en-IN" dirty="0"/>
              <a:t>The </a:t>
            </a:r>
            <a:r>
              <a:rPr lang="en-IN" b="1" dirty="0"/>
              <a:t>V-Model (Verification and Validation Model)</a:t>
            </a:r>
            <a:r>
              <a:rPr lang="en-IN" dirty="0"/>
              <a:t> is an </a:t>
            </a:r>
            <a:r>
              <a:rPr lang="en-IN" b="1" dirty="0"/>
              <a:t>extension of the Waterfall Model</a:t>
            </a:r>
            <a:r>
              <a:rPr lang="en-IN" dirty="0"/>
              <a:t>. It follows a </a:t>
            </a:r>
            <a:r>
              <a:rPr lang="en-IN" b="1" dirty="0"/>
              <a:t>sequential development process</a:t>
            </a:r>
            <a:r>
              <a:rPr lang="en-IN" dirty="0"/>
              <a:t>, but unlike the Waterfall Model, </a:t>
            </a:r>
            <a:r>
              <a:rPr lang="en-IN" b="1" dirty="0"/>
              <a:t>each development phase has a corresponding testing phase</a:t>
            </a:r>
            <a:r>
              <a:rPr lang="en-IN" dirty="0"/>
              <a:t>.</a:t>
            </a:r>
          </a:p>
          <a:p>
            <a:pPr>
              <a:lnSpc>
                <a:spcPct val="100000"/>
              </a:lnSpc>
            </a:pPr>
            <a:r>
              <a:rPr lang="en-IN" dirty="0"/>
              <a:t> The development activities are on the </a:t>
            </a:r>
            <a:r>
              <a:rPr lang="en-IN" b="1" dirty="0"/>
              <a:t>left side</a:t>
            </a:r>
            <a:r>
              <a:rPr lang="en-IN" dirty="0"/>
              <a:t> of the V, and the testing activities are on the </a:t>
            </a:r>
            <a:r>
              <a:rPr lang="en-IN" b="1" dirty="0"/>
              <a:t>right side</a:t>
            </a:r>
            <a:r>
              <a:rPr lang="en-IN" dirty="0"/>
              <a:t>, forming a </a:t>
            </a:r>
            <a:r>
              <a:rPr lang="en-IN" b="1" dirty="0"/>
              <a:t>V-shaped structure</a:t>
            </a:r>
            <a:r>
              <a:rPr lang="en-IN" dirty="0"/>
              <a:t>.</a:t>
            </a:r>
          </a:p>
        </p:txBody>
      </p:sp>
    </p:spTree>
    <p:extLst>
      <p:ext uri="{BB962C8B-B14F-4D97-AF65-F5344CB8AC3E}">
        <p14:creationId xmlns:p14="http://schemas.microsoft.com/office/powerpoint/2010/main" val="20432258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6FA65FB-4D20-77E4-0B8B-4426E815D8FD}"/>
              </a:ext>
            </a:extLst>
          </p:cNvPr>
          <p:cNvPicPr>
            <a:picLocks noGrp="1" noChangeAspect="1"/>
          </p:cNvPicPr>
          <p:nvPr>
            <p:ph idx="1"/>
          </p:nvPr>
        </p:nvPicPr>
        <p:blipFill>
          <a:blip r:embed="rId2"/>
          <a:stretch>
            <a:fillRect/>
          </a:stretch>
        </p:blipFill>
        <p:spPr>
          <a:xfrm>
            <a:off x="1890218" y="993661"/>
            <a:ext cx="8585736" cy="4870677"/>
          </a:xfrm>
          <a:prstGeom prst="rect">
            <a:avLst/>
          </a:prstGeom>
        </p:spPr>
      </p:pic>
    </p:spTree>
    <p:extLst>
      <p:ext uri="{BB962C8B-B14F-4D97-AF65-F5344CB8AC3E}">
        <p14:creationId xmlns:p14="http://schemas.microsoft.com/office/powerpoint/2010/main" val="24681532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F6102E-B386-F8F2-1ADE-E59CB587F5CA}"/>
              </a:ext>
            </a:extLst>
          </p:cNvPr>
          <p:cNvSpPr>
            <a:spLocks noGrp="1"/>
          </p:cNvSpPr>
          <p:nvPr>
            <p:ph idx="1"/>
          </p:nvPr>
        </p:nvSpPr>
        <p:spPr>
          <a:xfrm>
            <a:off x="718457" y="606424"/>
            <a:ext cx="10515600" cy="5805261"/>
          </a:xfrm>
        </p:spPr>
        <p:txBody>
          <a:bodyPr>
            <a:normAutofit lnSpcReduction="10000"/>
          </a:bodyPr>
          <a:lstStyle/>
          <a:p>
            <a:pPr marL="0" indent="0">
              <a:lnSpc>
                <a:spcPct val="100000"/>
              </a:lnSpc>
              <a:buNone/>
            </a:pPr>
            <a:r>
              <a:rPr lang="en-IN" b="1" dirty="0"/>
              <a:t>Key Principles of the V-Model</a:t>
            </a:r>
          </a:p>
          <a:p>
            <a:pPr marL="0" indent="0">
              <a:lnSpc>
                <a:spcPct val="100000"/>
              </a:lnSpc>
              <a:buNone/>
            </a:pPr>
            <a:r>
              <a:rPr lang="en-IN" b="1" dirty="0"/>
              <a:t>1. Parallel Development and Testing</a:t>
            </a:r>
          </a:p>
          <a:p>
            <a:pPr>
              <a:lnSpc>
                <a:spcPct val="100000"/>
              </a:lnSpc>
            </a:pPr>
            <a:r>
              <a:rPr lang="en-IN" dirty="0"/>
              <a:t>Unlike the Waterfall Model, the </a:t>
            </a:r>
            <a:r>
              <a:rPr lang="en-IN" b="1" dirty="0"/>
              <a:t>V-Model performs development and testing in parallel</a:t>
            </a:r>
            <a:r>
              <a:rPr lang="en-IN" dirty="0"/>
              <a:t>. Every development phase has a corresponding testing phase, which helps detect defects early and improves software quality.</a:t>
            </a:r>
          </a:p>
          <a:p>
            <a:pPr marL="0" indent="0">
              <a:lnSpc>
                <a:spcPct val="100000"/>
              </a:lnSpc>
              <a:buNone/>
            </a:pPr>
            <a:endParaRPr lang="en-IN" dirty="0"/>
          </a:p>
          <a:p>
            <a:pPr marL="0" indent="0">
              <a:lnSpc>
                <a:spcPct val="100000"/>
              </a:lnSpc>
              <a:buNone/>
            </a:pPr>
            <a:r>
              <a:rPr lang="en-IN" b="1" dirty="0"/>
              <a:t>Example:</a:t>
            </a:r>
            <a:endParaRPr lang="en-IN" dirty="0"/>
          </a:p>
          <a:p>
            <a:pPr>
              <a:lnSpc>
                <a:spcPct val="100000"/>
              </a:lnSpc>
            </a:pPr>
            <a:r>
              <a:rPr lang="en-IN" dirty="0"/>
              <a:t>Requirement Analysis ↔ Acceptance Testing </a:t>
            </a:r>
          </a:p>
          <a:p>
            <a:pPr>
              <a:lnSpc>
                <a:spcPct val="100000"/>
              </a:lnSpc>
            </a:pPr>
            <a:r>
              <a:rPr lang="en-IN" dirty="0"/>
              <a:t>System Design ↔ System Testing </a:t>
            </a:r>
          </a:p>
          <a:p>
            <a:pPr>
              <a:lnSpc>
                <a:spcPct val="100000"/>
              </a:lnSpc>
            </a:pPr>
            <a:r>
              <a:rPr lang="en-IN" dirty="0"/>
              <a:t>High-Level Design ↔ Integration Testing </a:t>
            </a:r>
          </a:p>
          <a:p>
            <a:pPr>
              <a:lnSpc>
                <a:spcPct val="100000"/>
              </a:lnSpc>
            </a:pPr>
            <a:r>
              <a:rPr lang="en-IN" dirty="0"/>
              <a:t>Low-Level Design ↔ Unit Testing </a:t>
            </a:r>
          </a:p>
          <a:p>
            <a:pPr marL="0" indent="0">
              <a:lnSpc>
                <a:spcPct val="100000"/>
              </a:lnSpc>
              <a:buNone/>
            </a:pPr>
            <a:endParaRPr lang="en-IN" dirty="0"/>
          </a:p>
        </p:txBody>
      </p:sp>
    </p:spTree>
    <p:extLst>
      <p:ext uri="{BB962C8B-B14F-4D97-AF65-F5344CB8AC3E}">
        <p14:creationId xmlns:p14="http://schemas.microsoft.com/office/powerpoint/2010/main" val="11979963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0CDFE9-0445-76EF-9DE4-77389D929E62}"/>
              </a:ext>
            </a:extLst>
          </p:cNvPr>
          <p:cNvSpPr>
            <a:spLocks noGrp="1"/>
          </p:cNvSpPr>
          <p:nvPr>
            <p:ph idx="1"/>
          </p:nvPr>
        </p:nvSpPr>
        <p:spPr>
          <a:xfrm>
            <a:off x="838200" y="783771"/>
            <a:ext cx="10515600" cy="5393192"/>
          </a:xfrm>
        </p:spPr>
        <p:txBody>
          <a:bodyPr>
            <a:normAutofit/>
          </a:bodyPr>
          <a:lstStyle/>
          <a:p>
            <a:pPr marL="0" indent="0">
              <a:buNone/>
            </a:pPr>
            <a:r>
              <a:rPr lang="en-IN" b="1" dirty="0"/>
              <a:t>2. Verification and Validation</a:t>
            </a:r>
          </a:p>
          <a:p>
            <a:r>
              <a:rPr lang="en-IN" dirty="0"/>
              <a:t>The V-Model gives equal importance to </a:t>
            </a:r>
            <a:r>
              <a:rPr lang="en-IN" b="1" dirty="0"/>
              <a:t>Verification</a:t>
            </a:r>
            <a:r>
              <a:rPr lang="en-IN" dirty="0"/>
              <a:t> and </a:t>
            </a:r>
            <a:r>
              <a:rPr lang="en-IN" b="1" dirty="0"/>
              <a:t>Validation</a:t>
            </a:r>
            <a:r>
              <a:rPr lang="en-IN" dirty="0"/>
              <a:t>.</a:t>
            </a:r>
          </a:p>
          <a:p>
            <a:r>
              <a:rPr lang="en-IN" b="1" dirty="0"/>
              <a:t>Verification</a:t>
            </a:r>
            <a:r>
              <a:rPr lang="en-IN" dirty="0"/>
              <a:t> checks whether the software is being developed </a:t>
            </a:r>
            <a:r>
              <a:rPr lang="en-IN" b="1" dirty="0"/>
              <a:t>correctly</a:t>
            </a:r>
            <a:r>
              <a:rPr lang="en-IN" dirty="0"/>
              <a:t> according to the requirements and design. </a:t>
            </a:r>
          </a:p>
          <a:p>
            <a:pPr lvl="1"/>
            <a:r>
              <a:rPr lang="en-IN" b="1" dirty="0"/>
              <a:t>Activities:</a:t>
            </a:r>
            <a:r>
              <a:rPr lang="en-IN" dirty="0"/>
              <a:t> Requirement review, design review, code review. </a:t>
            </a:r>
          </a:p>
          <a:p>
            <a:pPr marL="457200" lvl="1" indent="0">
              <a:buNone/>
            </a:pPr>
            <a:endParaRPr lang="en-IN" dirty="0"/>
          </a:p>
          <a:p>
            <a:r>
              <a:rPr lang="en-IN" b="1" dirty="0"/>
              <a:t>Validation</a:t>
            </a:r>
            <a:r>
              <a:rPr lang="en-IN" dirty="0"/>
              <a:t> checks whether the final software </a:t>
            </a:r>
            <a:r>
              <a:rPr lang="en-IN" b="1" dirty="0"/>
              <a:t>meets the customer's needs</a:t>
            </a:r>
            <a:r>
              <a:rPr lang="en-IN" dirty="0"/>
              <a:t>. </a:t>
            </a:r>
          </a:p>
          <a:p>
            <a:pPr marL="457200" lvl="1" indent="0">
              <a:buNone/>
            </a:pPr>
            <a:endParaRPr lang="en-IN" dirty="0"/>
          </a:p>
          <a:p>
            <a:pPr lvl="1"/>
            <a:r>
              <a:rPr lang="en-IN" b="1" dirty="0"/>
              <a:t>Activities:</a:t>
            </a:r>
            <a:r>
              <a:rPr lang="en-IN" dirty="0"/>
              <a:t> Unit Testing, Integration Testing, System Testing, Acceptance Testing.</a:t>
            </a:r>
          </a:p>
          <a:p>
            <a:endParaRPr lang="en-IN" dirty="0"/>
          </a:p>
        </p:txBody>
      </p:sp>
    </p:spTree>
    <p:extLst>
      <p:ext uri="{BB962C8B-B14F-4D97-AF65-F5344CB8AC3E}">
        <p14:creationId xmlns:p14="http://schemas.microsoft.com/office/powerpoint/2010/main" val="18143356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982B63-02CC-87EC-1C14-4B920B7AAF32}"/>
              </a:ext>
            </a:extLst>
          </p:cNvPr>
          <p:cNvSpPr>
            <a:spLocks noGrp="1"/>
          </p:cNvSpPr>
          <p:nvPr>
            <p:ph idx="1"/>
          </p:nvPr>
        </p:nvSpPr>
        <p:spPr>
          <a:xfrm>
            <a:off x="838200" y="769709"/>
            <a:ext cx="10515600" cy="5348061"/>
          </a:xfrm>
        </p:spPr>
        <p:txBody>
          <a:bodyPr>
            <a:normAutofit/>
          </a:bodyPr>
          <a:lstStyle/>
          <a:p>
            <a:pPr marL="0" indent="0">
              <a:buNone/>
            </a:pPr>
            <a:r>
              <a:rPr lang="en-IN" b="1" dirty="0"/>
              <a:t>3. Traceability</a:t>
            </a:r>
          </a:p>
          <a:p>
            <a:r>
              <a:rPr lang="en-IN" dirty="0"/>
              <a:t>The V-Model provides </a:t>
            </a:r>
            <a:r>
              <a:rPr lang="en-IN" b="1" dirty="0"/>
              <a:t>traceability</a:t>
            </a:r>
            <a:r>
              <a:rPr lang="en-IN" dirty="0"/>
              <a:t> by creating a direct link between every development phase and its corresponding testing phase. This ensures that all requirements are properly designed, implemented, and tested.</a:t>
            </a:r>
          </a:p>
          <a:p>
            <a:endParaRPr lang="en-IN" dirty="0"/>
          </a:p>
          <a:p>
            <a:pPr marL="0" indent="0">
              <a:buNone/>
            </a:pPr>
            <a:r>
              <a:rPr lang="en-IN" b="1" dirty="0"/>
              <a:t>Benefits:</a:t>
            </a:r>
            <a:endParaRPr lang="en-IN" dirty="0"/>
          </a:p>
          <a:p>
            <a:r>
              <a:rPr lang="en-IN" dirty="0"/>
              <a:t>Better documentation. </a:t>
            </a:r>
          </a:p>
          <a:p>
            <a:r>
              <a:rPr lang="en-IN" dirty="0"/>
              <a:t>Easy tracking of requirements. </a:t>
            </a:r>
          </a:p>
          <a:p>
            <a:r>
              <a:rPr lang="en-IN" dirty="0"/>
              <a:t>Ensures complete test coverage. </a:t>
            </a:r>
          </a:p>
          <a:p>
            <a:r>
              <a:rPr lang="en-IN" dirty="0"/>
              <a:t>Helps identify missing or untested requirements.</a:t>
            </a:r>
          </a:p>
          <a:p>
            <a:endParaRPr lang="en-IN" dirty="0"/>
          </a:p>
        </p:txBody>
      </p:sp>
    </p:spTree>
    <p:extLst>
      <p:ext uri="{BB962C8B-B14F-4D97-AF65-F5344CB8AC3E}">
        <p14:creationId xmlns:p14="http://schemas.microsoft.com/office/powerpoint/2010/main" val="21380172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DACA61-337E-C20B-8D82-94A44860F07A}"/>
              </a:ext>
            </a:extLst>
          </p:cNvPr>
          <p:cNvSpPr>
            <a:spLocks noGrp="1"/>
          </p:cNvSpPr>
          <p:nvPr>
            <p:ph idx="1"/>
          </p:nvPr>
        </p:nvSpPr>
        <p:spPr>
          <a:xfrm>
            <a:off x="838200" y="824138"/>
            <a:ext cx="10515600" cy="5043261"/>
          </a:xfrm>
        </p:spPr>
        <p:txBody>
          <a:bodyPr>
            <a:normAutofit lnSpcReduction="10000"/>
          </a:bodyPr>
          <a:lstStyle/>
          <a:p>
            <a:pPr marL="0" indent="0">
              <a:buNone/>
            </a:pPr>
            <a:r>
              <a:rPr lang="en-IN" b="1" dirty="0"/>
              <a:t>4. Early Defect Detection</a:t>
            </a:r>
          </a:p>
          <a:p>
            <a:r>
              <a:rPr lang="en-IN" dirty="0"/>
              <a:t>Since testing activities are planned from the beginning and performed alongside development, defects are identified and corrected </a:t>
            </a:r>
            <a:r>
              <a:rPr lang="en-IN" b="1" dirty="0"/>
              <a:t>early</a:t>
            </a:r>
            <a:r>
              <a:rPr lang="en-IN" dirty="0"/>
              <a:t>. This reduces the cost and effort required to fix errors later.</a:t>
            </a:r>
          </a:p>
          <a:p>
            <a:endParaRPr lang="en-IN" dirty="0"/>
          </a:p>
          <a:p>
            <a:pPr marL="0" indent="0">
              <a:buNone/>
            </a:pPr>
            <a:r>
              <a:rPr lang="en-IN" b="1" dirty="0"/>
              <a:t>Benefits:</a:t>
            </a:r>
            <a:endParaRPr lang="en-IN" dirty="0"/>
          </a:p>
          <a:p>
            <a:r>
              <a:rPr lang="en-IN" dirty="0"/>
              <a:t>Improves software quality. </a:t>
            </a:r>
          </a:p>
          <a:p>
            <a:r>
              <a:rPr lang="en-IN" dirty="0"/>
              <a:t>Reduces development cost. </a:t>
            </a:r>
          </a:p>
          <a:p>
            <a:r>
              <a:rPr lang="en-IN" dirty="0"/>
              <a:t>Saves time. </a:t>
            </a:r>
          </a:p>
          <a:p>
            <a:r>
              <a:rPr lang="en-IN" dirty="0"/>
              <a:t>Produces a more reliable software product. </a:t>
            </a:r>
          </a:p>
          <a:p>
            <a:endParaRPr lang="en-IN" dirty="0"/>
          </a:p>
        </p:txBody>
      </p:sp>
    </p:spTree>
    <p:extLst>
      <p:ext uri="{BB962C8B-B14F-4D97-AF65-F5344CB8AC3E}">
        <p14:creationId xmlns:p14="http://schemas.microsoft.com/office/powerpoint/2010/main" val="24175618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CC613F-DF08-6E63-B906-26F877EF536E}"/>
              </a:ext>
            </a:extLst>
          </p:cNvPr>
          <p:cNvSpPr>
            <a:spLocks noGrp="1"/>
          </p:cNvSpPr>
          <p:nvPr>
            <p:ph idx="1"/>
          </p:nvPr>
        </p:nvSpPr>
        <p:spPr>
          <a:xfrm>
            <a:off x="838200" y="794657"/>
            <a:ext cx="10515600" cy="5382306"/>
          </a:xfrm>
        </p:spPr>
        <p:txBody>
          <a:bodyPr/>
          <a:lstStyle/>
          <a:p>
            <a:pPr marL="0" indent="0">
              <a:buNone/>
            </a:pPr>
            <a:r>
              <a:rPr lang="en-IN" dirty="0"/>
              <a:t>Advantages of the V-Model</a:t>
            </a:r>
          </a:p>
          <a:p>
            <a:pPr marL="0" indent="0">
              <a:buNone/>
            </a:pPr>
            <a:endParaRPr lang="en-IN" dirty="0"/>
          </a:p>
          <a:p>
            <a:pPr marL="0" indent="0">
              <a:buNone/>
            </a:pPr>
            <a:r>
              <a:rPr lang="en-IN" b="1" dirty="0"/>
              <a:t>1. Clear Design and Planning</a:t>
            </a:r>
          </a:p>
          <a:p>
            <a:r>
              <a:rPr lang="en-IN" dirty="0"/>
              <a:t>The V-Model follows a </a:t>
            </a:r>
            <a:r>
              <a:rPr lang="en-IN" b="1" dirty="0"/>
              <a:t>well-structured framework</a:t>
            </a:r>
            <a:r>
              <a:rPr lang="en-IN" dirty="0"/>
              <a:t> with clearly defined phases. Each stage has specific tasks and deliverables, making project planning and management easier.</a:t>
            </a:r>
          </a:p>
          <a:p>
            <a:endParaRPr lang="en-IN" dirty="0"/>
          </a:p>
          <a:p>
            <a:pPr marL="0" indent="0">
              <a:buNone/>
            </a:pPr>
            <a:r>
              <a:rPr lang="en-IN" b="1" dirty="0"/>
              <a:t>2. Early Issue Identification</a:t>
            </a:r>
          </a:p>
          <a:p>
            <a:r>
              <a:rPr lang="en-IN" dirty="0"/>
              <a:t>Testing activities begin </a:t>
            </a:r>
            <a:r>
              <a:rPr lang="en-IN" b="1" dirty="0"/>
              <a:t>from the early stages of development</a:t>
            </a:r>
            <a:r>
              <a:rPr lang="en-IN" dirty="0"/>
              <a:t>. This helps identify and fix defects before they become major problems, reducing development time and cost.</a:t>
            </a:r>
          </a:p>
          <a:p>
            <a:endParaRPr lang="en-IN" dirty="0"/>
          </a:p>
        </p:txBody>
      </p:sp>
    </p:spTree>
    <p:extLst>
      <p:ext uri="{BB962C8B-B14F-4D97-AF65-F5344CB8AC3E}">
        <p14:creationId xmlns:p14="http://schemas.microsoft.com/office/powerpoint/2010/main" val="9813846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173F86-9FDA-F433-1FB0-DA187756EE6F}"/>
              </a:ext>
            </a:extLst>
          </p:cNvPr>
          <p:cNvSpPr>
            <a:spLocks noGrp="1"/>
          </p:cNvSpPr>
          <p:nvPr>
            <p:ph idx="1"/>
          </p:nvPr>
        </p:nvSpPr>
        <p:spPr>
          <a:xfrm>
            <a:off x="838200" y="729343"/>
            <a:ext cx="10515600" cy="5447620"/>
          </a:xfrm>
        </p:spPr>
        <p:txBody>
          <a:bodyPr/>
          <a:lstStyle/>
          <a:p>
            <a:pPr marL="0" indent="0">
              <a:buNone/>
            </a:pPr>
            <a:r>
              <a:rPr lang="en-IN" b="1" dirty="0"/>
              <a:t>3. Traceability and Documentation</a:t>
            </a:r>
          </a:p>
          <a:p>
            <a:r>
              <a:rPr lang="en-IN" dirty="0"/>
              <a:t>The V-Model maintains a </a:t>
            </a:r>
            <a:r>
              <a:rPr lang="en-IN" b="1" dirty="0"/>
              <a:t>direct relationship between development phases and testing phases</a:t>
            </a:r>
            <a:r>
              <a:rPr lang="en-IN" dirty="0"/>
              <a:t>. This ensures complete documentation and makes it easier to track project progress and verify that all requirements are tested.</a:t>
            </a:r>
          </a:p>
          <a:p>
            <a:pPr marL="0" indent="0">
              <a:buNone/>
            </a:pPr>
            <a:endParaRPr lang="en-IN" dirty="0"/>
          </a:p>
          <a:p>
            <a:pPr marL="0" indent="0">
              <a:buNone/>
            </a:pPr>
            <a:r>
              <a:rPr lang="en-IN" b="1" dirty="0"/>
              <a:t>4. Predictability and Control</a:t>
            </a:r>
          </a:p>
          <a:p>
            <a:r>
              <a:rPr lang="en-IN" dirty="0"/>
              <a:t>The systematic and sequential nature of the V-Model makes the project </a:t>
            </a:r>
            <a:r>
              <a:rPr lang="en-IN" b="1" dirty="0"/>
              <a:t>more predictable and easier to control</a:t>
            </a:r>
            <a:r>
              <a:rPr lang="en-IN" dirty="0"/>
              <a:t>. Stakeholders have a clear understanding of project milestones, timelines, and deliverables.</a:t>
            </a:r>
          </a:p>
          <a:p>
            <a:endParaRPr lang="en-IN" dirty="0"/>
          </a:p>
        </p:txBody>
      </p:sp>
    </p:spTree>
    <p:extLst>
      <p:ext uri="{BB962C8B-B14F-4D97-AF65-F5344CB8AC3E}">
        <p14:creationId xmlns:p14="http://schemas.microsoft.com/office/powerpoint/2010/main" val="7796003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76E62-529D-A60C-F3AC-520485662909}"/>
              </a:ext>
            </a:extLst>
          </p:cNvPr>
          <p:cNvSpPr>
            <a:spLocks noGrp="1"/>
          </p:cNvSpPr>
          <p:nvPr>
            <p:ph type="title"/>
          </p:nvPr>
        </p:nvSpPr>
        <p:spPr/>
        <p:txBody>
          <a:bodyPr/>
          <a:lstStyle/>
          <a:p>
            <a:r>
              <a:rPr lang="en-IN" dirty="0"/>
              <a:t>4. Spiral SDLC Model</a:t>
            </a:r>
          </a:p>
        </p:txBody>
      </p:sp>
      <p:sp>
        <p:nvSpPr>
          <p:cNvPr id="3" name="Content Placeholder 2">
            <a:extLst>
              <a:ext uri="{FF2B5EF4-FFF2-40B4-BE49-F238E27FC236}">
                <a16:creationId xmlns:a16="http://schemas.microsoft.com/office/drawing/2014/main" id="{B1D818AA-B832-5440-F057-D444FADF352A}"/>
              </a:ext>
            </a:extLst>
          </p:cNvPr>
          <p:cNvSpPr>
            <a:spLocks noGrp="1"/>
          </p:cNvSpPr>
          <p:nvPr>
            <p:ph idx="1"/>
          </p:nvPr>
        </p:nvSpPr>
        <p:spPr/>
        <p:txBody>
          <a:bodyPr/>
          <a:lstStyle/>
          <a:p>
            <a:pPr>
              <a:lnSpc>
                <a:spcPct val="150000"/>
              </a:lnSpc>
            </a:pPr>
            <a:r>
              <a:rPr lang="en-IN" dirty="0"/>
              <a:t>The </a:t>
            </a:r>
            <a:r>
              <a:rPr lang="en-IN" b="1" dirty="0"/>
              <a:t>Spiral SDLC Model</a:t>
            </a:r>
            <a:r>
              <a:rPr lang="en-IN" dirty="0"/>
              <a:t> is a software development model that </a:t>
            </a:r>
            <a:r>
              <a:rPr lang="en-IN" b="1" dirty="0"/>
              <a:t>combines the iterative approach of the Iterative Model with the systematic phases of the Waterfall Model</a:t>
            </a:r>
            <a:r>
              <a:rPr lang="en-IN" dirty="0"/>
              <a:t>. </a:t>
            </a:r>
          </a:p>
          <a:p>
            <a:pPr>
              <a:lnSpc>
                <a:spcPct val="150000"/>
              </a:lnSpc>
            </a:pPr>
            <a:r>
              <a:rPr lang="en-IN" dirty="0"/>
              <a:t>Development progresses through a series of </a:t>
            </a:r>
            <a:r>
              <a:rPr lang="en-IN" b="1" dirty="0"/>
              <a:t>spiral loops</a:t>
            </a:r>
            <a:r>
              <a:rPr lang="en-IN" dirty="0"/>
              <a:t>, where each loop represents one phase or iteration of the project.</a:t>
            </a:r>
          </a:p>
          <a:p>
            <a:pPr>
              <a:lnSpc>
                <a:spcPct val="150000"/>
              </a:lnSpc>
            </a:pPr>
            <a:endParaRPr lang="en-IN" dirty="0"/>
          </a:p>
        </p:txBody>
      </p:sp>
    </p:spTree>
    <p:extLst>
      <p:ext uri="{BB962C8B-B14F-4D97-AF65-F5344CB8AC3E}">
        <p14:creationId xmlns:p14="http://schemas.microsoft.com/office/powerpoint/2010/main" val="42890265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31C501-335C-66A6-5B15-15725B86FC6F}"/>
              </a:ext>
            </a:extLst>
          </p:cNvPr>
          <p:cNvSpPr>
            <a:spLocks noGrp="1"/>
          </p:cNvSpPr>
          <p:nvPr>
            <p:ph idx="1"/>
          </p:nvPr>
        </p:nvSpPr>
        <p:spPr/>
        <p:txBody>
          <a:bodyPr/>
          <a:lstStyle/>
          <a:p>
            <a:pPr>
              <a:lnSpc>
                <a:spcPct val="150000"/>
              </a:lnSpc>
            </a:pPr>
            <a:r>
              <a:rPr lang="en-IN" dirty="0"/>
              <a:t>The Spiral Model is </a:t>
            </a:r>
            <a:r>
              <a:rPr lang="en-IN" b="1" dirty="0"/>
              <a:t>risk-driven</a:t>
            </a:r>
            <a:r>
              <a:rPr lang="en-IN" dirty="0"/>
              <a:t>, meaning that </a:t>
            </a:r>
            <a:r>
              <a:rPr lang="en-IN" b="1" dirty="0"/>
              <a:t>risks are identified, </a:t>
            </a:r>
            <a:r>
              <a:rPr lang="en-IN" b="1" dirty="0" err="1"/>
              <a:t>analyzed</a:t>
            </a:r>
            <a:r>
              <a:rPr lang="en-IN" b="1" dirty="0"/>
              <a:t>, and addressed during every iteration</a:t>
            </a:r>
            <a:r>
              <a:rPr lang="en-IN" dirty="0"/>
              <a:t>. This makes it highly suitable for </a:t>
            </a:r>
            <a:r>
              <a:rPr lang="en-IN" b="1" dirty="0"/>
              <a:t>large, complex, and high-risk projects</a:t>
            </a:r>
            <a:r>
              <a:rPr lang="en-IN" dirty="0"/>
              <a:t>.</a:t>
            </a:r>
          </a:p>
          <a:p>
            <a:pPr>
              <a:lnSpc>
                <a:spcPct val="150000"/>
              </a:lnSpc>
            </a:pPr>
            <a:endParaRPr lang="en-IN" dirty="0"/>
          </a:p>
        </p:txBody>
      </p:sp>
    </p:spTree>
    <p:extLst>
      <p:ext uri="{BB962C8B-B14F-4D97-AF65-F5344CB8AC3E}">
        <p14:creationId xmlns:p14="http://schemas.microsoft.com/office/powerpoint/2010/main" val="32520321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45417F1-7B6E-B071-8B37-CD38787FB916}"/>
              </a:ext>
            </a:extLst>
          </p:cNvPr>
          <p:cNvPicPr>
            <a:picLocks noGrp="1" noChangeAspect="1"/>
          </p:cNvPicPr>
          <p:nvPr>
            <p:ph idx="1"/>
          </p:nvPr>
        </p:nvPicPr>
        <p:blipFill>
          <a:blip r:embed="rId2"/>
          <a:stretch>
            <a:fillRect/>
          </a:stretch>
        </p:blipFill>
        <p:spPr>
          <a:xfrm>
            <a:off x="1469572" y="914400"/>
            <a:ext cx="9111342" cy="5007867"/>
          </a:xfrm>
          <a:prstGeom prst="rect">
            <a:avLst/>
          </a:prstGeom>
        </p:spPr>
      </p:pic>
    </p:spTree>
    <p:extLst>
      <p:ext uri="{BB962C8B-B14F-4D97-AF65-F5344CB8AC3E}">
        <p14:creationId xmlns:p14="http://schemas.microsoft.com/office/powerpoint/2010/main" val="11293745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7D25E1-6035-31C6-A7CE-C0A7715BBD3A}"/>
              </a:ext>
            </a:extLst>
          </p:cNvPr>
          <p:cNvSpPr>
            <a:spLocks noGrp="1"/>
          </p:cNvSpPr>
          <p:nvPr>
            <p:ph idx="1"/>
          </p:nvPr>
        </p:nvSpPr>
        <p:spPr>
          <a:xfrm>
            <a:off x="838200" y="544286"/>
            <a:ext cx="10515600" cy="5758543"/>
          </a:xfrm>
        </p:spPr>
        <p:txBody>
          <a:bodyPr>
            <a:normAutofit/>
          </a:bodyPr>
          <a:lstStyle/>
          <a:p>
            <a:pPr marL="0" indent="0">
              <a:buNone/>
            </a:pPr>
            <a:r>
              <a:rPr lang="en-IN" b="1" dirty="0"/>
              <a:t>Phases of the Spiral Model</a:t>
            </a:r>
          </a:p>
          <a:p>
            <a:r>
              <a:rPr lang="en-IN" dirty="0"/>
              <a:t>Each loop of the spiral consists of </a:t>
            </a:r>
            <a:r>
              <a:rPr lang="en-IN" b="1" dirty="0"/>
              <a:t>four phases</a:t>
            </a:r>
            <a:r>
              <a:rPr lang="en-IN" dirty="0"/>
              <a:t>:</a:t>
            </a:r>
          </a:p>
          <a:p>
            <a:pPr marL="0" indent="0">
              <a:buNone/>
            </a:pPr>
            <a:r>
              <a:rPr lang="en-IN" b="1" dirty="0"/>
              <a:t>1. Planning</a:t>
            </a:r>
          </a:p>
          <a:p>
            <a:r>
              <a:rPr lang="en-IN" dirty="0"/>
              <a:t>Gather customer requirements. </a:t>
            </a:r>
          </a:p>
          <a:p>
            <a:r>
              <a:rPr lang="en-IN" dirty="0"/>
              <a:t>Define project objectives and constraints. </a:t>
            </a:r>
          </a:p>
          <a:p>
            <a:r>
              <a:rPr lang="en-IN" dirty="0"/>
              <a:t>Plan the activities for the current iteration. </a:t>
            </a:r>
          </a:p>
          <a:p>
            <a:pPr marL="0" indent="0">
              <a:buNone/>
            </a:pPr>
            <a:endParaRPr lang="en-IN" dirty="0"/>
          </a:p>
          <a:p>
            <a:pPr marL="0" indent="0">
              <a:buNone/>
            </a:pPr>
            <a:r>
              <a:rPr lang="en-IN" b="1" dirty="0"/>
              <a:t>2. Risk Analysis</a:t>
            </a:r>
          </a:p>
          <a:p>
            <a:r>
              <a:rPr lang="en-IN" dirty="0"/>
              <a:t>Identify possible risks. </a:t>
            </a:r>
          </a:p>
          <a:p>
            <a:r>
              <a:rPr lang="en-IN" dirty="0" err="1"/>
              <a:t>Analyze</a:t>
            </a:r>
            <a:r>
              <a:rPr lang="en-IN" dirty="0"/>
              <a:t> technical, financial, and schedule risks. </a:t>
            </a:r>
          </a:p>
          <a:p>
            <a:r>
              <a:rPr lang="en-IN" dirty="0"/>
              <a:t>Develop strategies to reduce or eliminate risks.</a:t>
            </a:r>
          </a:p>
          <a:p>
            <a:endParaRPr lang="en-IN" dirty="0"/>
          </a:p>
        </p:txBody>
      </p:sp>
    </p:spTree>
    <p:extLst>
      <p:ext uri="{BB962C8B-B14F-4D97-AF65-F5344CB8AC3E}">
        <p14:creationId xmlns:p14="http://schemas.microsoft.com/office/powerpoint/2010/main" val="25987934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37AC5A-3A2D-71D8-8519-C9C73707E026}"/>
              </a:ext>
            </a:extLst>
          </p:cNvPr>
          <p:cNvSpPr>
            <a:spLocks noGrp="1"/>
          </p:cNvSpPr>
          <p:nvPr>
            <p:ph idx="1"/>
          </p:nvPr>
        </p:nvSpPr>
        <p:spPr>
          <a:xfrm>
            <a:off x="838200" y="631371"/>
            <a:ext cx="10515600" cy="5545592"/>
          </a:xfrm>
        </p:spPr>
        <p:txBody>
          <a:bodyPr/>
          <a:lstStyle/>
          <a:p>
            <a:pPr marL="0" indent="0">
              <a:buNone/>
            </a:pPr>
            <a:r>
              <a:rPr lang="en-IN" b="1" dirty="0"/>
              <a:t>3. Engineering (Development)</a:t>
            </a:r>
          </a:p>
          <a:p>
            <a:r>
              <a:rPr lang="en-IN" dirty="0"/>
              <a:t>Design, code, and test the software. </a:t>
            </a:r>
          </a:p>
          <a:p>
            <a:r>
              <a:rPr lang="en-IN" dirty="0"/>
              <a:t>Develop a working version of the product. </a:t>
            </a:r>
          </a:p>
          <a:p>
            <a:endParaRPr lang="en-IN" dirty="0"/>
          </a:p>
          <a:p>
            <a:pPr marL="0" indent="0">
              <a:buNone/>
            </a:pPr>
            <a:r>
              <a:rPr lang="en-IN" b="1" dirty="0"/>
              <a:t>4. Evaluation</a:t>
            </a:r>
          </a:p>
          <a:p>
            <a:r>
              <a:rPr lang="en-IN" dirty="0"/>
              <a:t>the developed software to the customer. </a:t>
            </a:r>
          </a:p>
          <a:p>
            <a:r>
              <a:rPr lang="en-IN" dirty="0"/>
              <a:t>Collect feedback. </a:t>
            </a:r>
          </a:p>
          <a:p>
            <a:r>
              <a:rPr lang="en-IN" dirty="0"/>
              <a:t>Decide whether another iteration is needed. </a:t>
            </a:r>
          </a:p>
          <a:p>
            <a:r>
              <a:rPr lang="en-IN" dirty="0"/>
              <a:t>The cycle continues until the complete software is developed.</a:t>
            </a:r>
          </a:p>
          <a:p>
            <a:endParaRPr lang="en-IN" dirty="0"/>
          </a:p>
        </p:txBody>
      </p:sp>
    </p:spTree>
    <p:extLst>
      <p:ext uri="{BB962C8B-B14F-4D97-AF65-F5344CB8AC3E}">
        <p14:creationId xmlns:p14="http://schemas.microsoft.com/office/powerpoint/2010/main" val="38472879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0F0052-E6E7-BEF1-3F90-249999798C7C}"/>
              </a:ext>
            </a:extLst>
          </p:cNvPr>
          <p:cNvSpPr>
            <a:spLocks noGrp="1"/>
          </p:cNvSpPr>
          <p:nvPr>
            <p:ph idx="1"/>
          </p:nvPr>
        </p:nvSpPr>
        <p:spPr>
          <a:xfrm>
            <a:off x="838200" y="769711"/>
            <a:ext cx="10515600" cy="4351338"/>
          </a:xfrm>
        </p:spPr>
        <p:txBody>
          <a:bodyPr/>
          <a:lstStyle/>
          <a:p>
            <a:pPr marL="0" indent="0">
              <a:buNone/>
            </a:pPr>
            <a:r>
              <a:rPr lang="en-IN" b="1" dirty="0"/>
              <a:t>Advantages</a:t>
            </a:r>
          </a:p>
          <a:p>
            <a:pPr marL="0" indent="0">
              <a:buNone/>
            </a:pPr>
            <a:endParaRPr lang="en-IN" b="1" dirty="0"/>
          </a:p>
          <a:p>
            <a:r>
              <a:rPr lang="en-IN" dirty="0"/>
              <a:t>Excellent risk management. </a:t>
            </a:r>
          </a:p>
          <a:p>
            <a:r>
              <a:rPr lang="en-IN" dirty="0"/>
              <a:t>Flexible to changing requirements. </a:t>
            </a:r>
          </a:p>
          <a:p>
            <a:r>
              <a:rPr lang="en-IN" dirty="0"/>
              <a:t>Continuous customer feedback. </a:t>
            </a:r>
          </a:p>
          <a:p>
            <a:r>
              <a:rPr lang="en-IN" dirty="0"/>
              <a:t>Suitable for large and complex projects. </a:t>
            </a:r>
          </a:p>
          <a:p>
            <a:r>
              <a:rPr lang="en-IN" dirty="0"/>
              <a:t>Early detection and resolution of risks. </a:t>
            </a:r>
          </a:p>
          <a:p>
            <a:r>
              <a:rPr lang="en-IN" dirty="0"/>
              <a:t>Delivers improved software after every iteration.</a:t>
            </a:r>
          </a:p>
          <a:p>
            <a:endParaRPr lang="en-IN" dirty="0"/>
          </a:p>
        </p:txBody>
      </p:sp>
    </p:spTree>
    <p:extLst>
      <p:ext uri="{BB962C8B-B14F-4D97-AF65-F5344CB8AC3E}">
        <p14:creationId xmlns:p14="http://schemas.microsoft.com/office/powerpoint/2010/main" val="12689590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480FF4-E91A-8C65-9073-E8AF9CDC7DDF}"/>
              </a:ext>
            </a:extLst>
          </p:cNvPr>
          <p:cNvSpPr>
            <a:spLocks noGrp="1"/>
          </p:cNvSpPr>
          <p:nvPr>
            <p:ph idx="1"/>
          </p:nvPr>
        </p:nvSpPr>
        <p:spPr>
          <a:xfrm>
            <a:off x="838200" y="1020083"/>
            <a:ext cx="10515600" cy="4351338"/>
          </a:xfrm>
        </p:spPr>
        <p:txBody>
          <a:bodyPr/>
          <a:lstStyle/>
          <a:p>
            <a:pPr marL="0" indent="0">
              <a:buNone/>
            </a:pPr>
            <a:r>
              <a:rPr lang="en-IN" b="1" dirty="0"/>
              <a:t>Disadvantages</a:t>
            </a:r>
          </a:p>
          <a:p>
            <a:pPr marL="0" indent="0">
              <a:buNone/>
            </a:pPr>
            <a:endParaRPr lang="en-IN" b="1" dirty="0"/>
          </a:p>
          <a:p>
            <a:r>
              <a:rPr lang="en-IN" dirty="0"/>
              <a:t>Expensive due to repeated risk analysis. </a:t>
            </a:r>
          </a:p>
          <a:p>
            <a:r>
              <a:rPr lang="en-IN" dirty="0"/>
              <a:t>Requires experienced project managers. </a:t>
            </a:r>
          </a:p>
          <a:p>
            <a:r>
              <a:rPr lang="en-IN" dirty="0"/>
              <a:t>Complex to implement and manage. </a:t>
            </a:r>
          </a:p>
          <a:p>
            <a:r>
              <a:rPr lang="en-IN" dirty="0"/>
              <a:t>Not suitable for small or low-budget projects. </a:t>
            </a:r>
          </a:p>
          <a:p>
            <a:r>
              <a:rPr lang="en-IN" dirty="0"/>
              <a:t>Development time may increase because of multiple iterations. </a:t>
            </a:r>
          </a:p>
          <a:p>
            <a:endParaRPr lang="en-IN" dirty="0"/>
          </a:p>
        </p:txBody>
      </p:sp>
    </p:spTree>
    <p:extLst>
      <p:ext uri="{BB962C8B-B14F-4D97-AF65-F5344CB8AC3E}">
        <p14:creationId xmlns:p14="http://schemas.microsoft.com/office/powerpoint/2010/main" val="37025169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3921F-250E-CED2-8208-85CF06EA19FA}"/>
              </a:ext>
            </a:extLst>
          </p:cNvPr>
          <p:cNvSpPr>
            <a:spLocks noGrp="1"/>
          </p:cNvSpPr>
          <p:nvPr>
            <p:ph type="title"/>
          </p:nvPr>
        </p:nvSpPr>
        <p:spPr/>
        <p:txBody>
          <a:bodyPr/>
          <a:lstStyle/>
          <a:p>
            <a:r>
              <a:rPr lang="en-IN" b="1" dirty="0"/>
              <a:t>5. Incremental Process Model</a:t>
            </a:r>
            <a:endParaRPr lang="en-IN" dirty="0"/>
          </a:p>
        </p:txBody>
      </p:sp>
      <p:sp>
        <p:nvSpPr>
          <p:cNvPr id="3" name="Content Placeholder 2">
            <a:extLst>
              <a:ext uri="{FF2B5EF4-FFF2-40B4-BE49-F238E27FC236}">
                <a16:creationId xmlns:a16="http://schemas.microsoft.com/office/drawing/2014/main" id="{FDE98B9C-9DB1-A70E-036A-78E0C4DBF751}"/>
              </a:ext>
            </a:extLst>
          </p:cNvPr>
          <p:cNvSpPr>
            <a:spLocks noGrp="1"/>
          </p:cNvSpPr>
          <p:nvPr>
            <p:ph idx="1"/>
          </p:nvPr>
        </p:nvSpPr>
        <p:spPr/>
        <p:txBody>
          <a:bodyPr/>
          <a:lstStyle/>
          <a:p>
            <a:pPr>
              <a:lnSpc>
                <a:spcPct val="150000"/>
              </a:lnSpc>
            </a:pPr>
            <a:r>
              <a:rPr lang="en-IN" dirty="0"/>
              <a:t>The </a:t>
            </a:r>
            <a:r>
              <a:rPr lang="en-IN" b="1" dirty="0"/>
              <a:t>Incremental Process Model</a:t>
            </a:r>
            <a:r>
              <a:rPr lang="en-IN" dirty="0"/>
              <a:t> is a software development approach in which the software is developed and delivered in </a:t>
            </a:r>
            <a:r>
              <a:rPr lang="en-IN" b="1" dirty="0"/>
              <a:t>small parts called increments</a:t>
            </a:r>
            <a:r>
              <a:rPr lang="en-IN" dirty="0"/>
              <a:t>. </a:t>
            </a:r>
          </a:p>
          <a:p>
            <a:pPr>
              <a:lnSpc>
                <a:spcPct val="150000"/>
              </a:lnSpc>
            </a:pPr>
            <a:r>
              <a:rPr lang="en-IN" dirty="0"/>
              <a:t>Each increment adds new functionality to the previous version until the complete system is finished.</a:t>
            </a:r>
          </a:p>
          <a:p>
            <a:pPr>
              <a:lnSpc>
                <a:spcPct val="150000"/>
              </a:lnSpc>
            </a:pPr>
            <a:endParaRPr lang="en-IN" dirty="0"/>
          </a:p>
          <a:p>
            <a:pPr>
              <a:lnSpc>
                <a:spcPct val="150000"/>
              </a:lnSpc>
            </a:pPr>
            <a:endParaRPr lang="en-IN" dirty="0"/>
          </a:p>
        </p:txBody>
      </p:sp>
    </p:spTree>
    <p:extLst>
      <p:ext uri="{BB962C8B-B14F-4D97-AF65-F5344CB8AC3E}">
        <p14:creationId xmlns:p14="http://schemas.microsoft.com/office/powerpoint/2010/main" val="10642436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5F5B26-D7BB-0280-03D8-7F9A967C6A96}"/>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01434456-C3B1-50BD-AC4A-F6BA54D68623}"/>
              </a:ext>
            </a:extLst>
          </p:cNvPr>
          <p:cNvPicPr>
            <a:picLocks noChangeAspect="1"/>
          </p:cNvPicPr>
          <p:nvPr/>
        </p:nvPicPr>
        <p:blipFill>
          <a:blip r:embed="rId2"/>
          <a:stretch>
            <a:fillRect/>
          </a:stretch>
        </p:blipFill>
        <p:spPr>
          <a:xfrm>
            <a:off x="908957" y="1153885"/>
            <a:ext cx="10374085" cy="4881563"/>
          </a:xfrm>
          <a:prstGeom prst="rect">
            <a:avLst/>
          </a:prstGeom>
        </p:spPr>
      </p:pic>
    </p:spTree>
    <p:extLst>
      <p:ext uri="{BB962C8B-B14F-4D97-AF65-F5344CB8AC3E}">
        <p14:creationId xmlns:p14="http://schemas.microsoft.com/office/powerpoint/2010/main" val="12325248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A76229-A7D8-1301-BAB7-C4D78348AB28}"/>
              </a:ext>
            </a:extLst>
          </p:cNvPr>
          <p:cNvSpPr>
            <a:spLocks noGrp="1"/>
          </p:cNvSpPr>
          <p:nvPr>
            <p:ph idx="1"/>
          </p:nvPr>
        </p:nvSpPr>
        <p:spPr>
          <a:xfrm>
            <a:off x="838200" y="881743"/>
            <a:ext cx="10515600" cy="5295220"/>
          </a:xfrm>
        </p:spPr>
        <p:txBody>
          <a:bodyPr/>
          <a:lstStyle/>
          <a:p>
            <a:pPr fontAlgn="base"/>
            <a:r>
              <a:rPr lang="en-IN" b="1" dirty="0"/>
              <a:t>Requirement Analysis:</a:t>
            </a:r>
            <a:r>
              <a:rPr lang="en-IN" dirty="0"/>
              <a:t> Requirements for the current increment are gathered and clearly defined.</a:t>
            </a:r>
          </a:p>
          <a:p>
            <a:pPr fontAlgn="base"/>
            <a:endParaRPr lang="en-IN" dirty="0"/>
          </a:p>
          <a:p>
            <a:pPr fontAlgn="base"/>
            <a:r>
              <a:rPr lang="en-IN" b="1" dirty="0"/>
              <a:t>Design &amp; Development:</a:t>
            </a:r>
            <a:r>
              <a:rPr lang="en-IN" dirty="0"/>
              <a:t> The system design is prepared, and new features are developed.</a:t>
            </a:r>
          </a:p>
          <a:p>
            <a:pPr fontAlgn="base"/>
            <a:endParaRPr lang="en-IN" dirty="0"/>
          </a:p>
          <a:p>
            <a:pPr fontAlgn="base"/>
            <a:r>
              <a:rPr lang="en-IN" b="1" dirty="0"/>
              <a:t>Testing:</a:t>
            </a:r>
            <a:r>
              <a:rPr lang="en-IN" dirty="0"/>
              <a:t> Each increment is tested to ensure new and existing features work correctly.</a:t>
            </a:r>
          </a:p>
          <a:p>
            <a:pPr fontAlgn="base"/>
            <a:endParaRPr lang="en-IN" dirty="0"/>
          </a:p>
          <a:p>
            <a:pPr fontAlgn="base"/>
            <a:r>
              <a:rPr lang="en-IN" b="1" dirty="0"/>
              <a:t>Implementation: </a:t>
            </a:r>
            <a:r>
              <a:rPr lang="en-IN" dirty="0"/>
              <a:t>The tested increment is delivered and integrated with previous versions.</a:t>
            </a:r>
          </a:p>
          <a:p>
            <a:endParaRPr lang="en-IN" dirty="0"/>
          </a:p>
        </p:txBody>
      </p:sp>
    </p:spTree>
    <p:extLst>
      <p:ext uri="{BB962C8B-B14F-4D97-AF65-F5344CB8AC3E}">
        <p14:creationId xmlns:p14="http://schemas.microsoft.com/office/powerpoint/2010/main" val="21073999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417E22-024D-66BE-2AA0-9E9988AA0ABF}"/>
              </a:ext>
            </a:extLst>
          </p:cNvPr>
          <p:cNvSpPr>
            <a:spLocks noGrp="1"/>
          </p:cNvSpPr>
          <p:nvPr>
            <p:ph idx="1"/>
          </p:nvPr>
        </p:nvSpPr>
        <p:spPr>
          <a:xfrm>
            <a:off x="838200" y="751113"/>
            <a:ext cx="10515600" cy="5519057"/>
          </a:xfrm>
        </p:spPr>
        <p:txBody>
          <a:bodyPr>
            <a:normAutofit fontScale="92500" lnSpcReduction="10000"/>
          </a:bodyPr>
          <a:lstStyle/>
          <a:p>
            <a:pPr>
              <a:lnSpc>
                <a:spcPct val="100000"/>
              </a:lnSpc>
            </a:pPr>
            <a:r>
              <a:rPr lang="en-IN" b="1" dirty="0"/>
              <a:t>Types of Incremental Model</a:t>
            </a:r>
          </a:p>
          <a:p>
            <a:pPr>
              <a:lnSpc>
                <a:spcPct val="100000"/>
              </a:lnSpc>
            </a:pPr>
            <a:r>
              <a:rPr lang="en-IN" dirty="0"/>
              <a:t>The </a:t>
            </a:r>
            <a:r>
              <a:rPr lang="en-IN" b="1" dirty="0"/>
              <a:t>Incremental Model</a:t>
            </a:r>
            <a:r>
              <a:rPr lang="en-IN" dirty="0"/>
              <a:t> has </a:t>
            </a:r>
            <a:r>
              <a:rPr lang="en-IN" b="1" dirty="0"/>
              <a:t>two main types</a:t>
            </a:r>
            <a:r>
              <a:rPr lang="en-IN" dirty="0"/>
              <a:t>, each offering a different approach to developing software in small parts (increments).</a:t>
            </a:r>
          </a:p>
          <a:p>
            <a:pPr>
              <a:lnSpc>
                <a:spcPct val="100000"/>
              </a:lnSpc>
            </a:pPr>
            <a:endParaRPr lang="en-IN" dirty="0"/>
          </a:p>
          <a:p>
            <a:pPr marL="0" indent="0">
              <a:lnSpc>
                <a:spcPct val="100000"/>
              </a:lnSpc>
              <a:buNone/>
            </a:pPr>
            <a:r>
              <a:rPr lang="en-IN" b="1" dirty="0"/>
              <a:t>1. Staged Delivery Model</a:t>
            </a:r>
          </a:p>
          <a:p>
            <a:pPr>
              <a:lnSpc>
                <a:spcPct val="100000"/>
              </a:lnSpc>
            </a:pPr>
            <a:r>
              <a:rPr lang="en-IN" dirty="0"/>
              <a:t>The </a:t>
            </a:r>
            <a:r>
              <a:rPr lang="en-IN" b="1" dirty="0"/>
              <a:t>Staged Delivery Model</a:t>
            </a:r>
            <a:r>
              <a:rPr lang="en-IN" dirty="0"/>
              <a:t> is an incremental software development approach in which the software is built and delivered in </a:t>
            </a:r>
            <a:r>
              <a:rPr lang="en-IN" b="1" dirty="0"/>
              <a:t>planned stages</a:t>
            </a:r>
            <a:r>
              <a:rPr lang="en-IN" dirty="0"/>
              <a:t>.</a:t>
            </a:r>
          </a:p>
          <a:p>
            <a:pPr>
              <a:lnSpc>
                <a:spcPct val="100000"/>
              </a:lnSpc>
            </a:pPr>
            <a:r>
              <a:rPr lang="en-IN" dirty="0"/>
              <a:t> Each stage provides a </a:t>
            </a:r>
            <a:r>
              <a:rPr lang="en-IN" b="1" dirty="0"/>
              <a:t>working and functional part</a:t>
            </a:r>
            <a:r>
              <a:rPr lang="en-IN" dirty="0"/>
              <a:t> of the system. With every new release, more features are added until the complete software is finished. </a:t>
            </a:r>
          </a:p>
          <a:p>
            <a:pPr>
              <a:lnSpc>
                <a:spcPct val="100000"/>
              </a:lnSpc>
            </a:pPr>
            <a:r>
              <a:rPr lang="en-IN" dirty="0"/>
              <a:t>This approach allows users to see progress regularly, provide feedback, and identify issues early.</a:t>
            </a:r>
          </a:p>
        </p:txBody>
      </p:sp>
    </p:spTree>
    <p:extLst>
      <p:ext uri="{BB962C8B-B14F-4D97-AF65-F5344CB8AC3E}">
        <p14:creationId xmlns:p14="http://schemas.microsoft.com/office/powerpoint/2010/main" val="20421714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9E1F82E-F3EA-65D8-DF32-20BF560D5682}"/>
              </a:ext>
            </a:extLst>
          </p:cNvPr>
          <p:cNvPicPr>
            <a:picLocks noGrp="1" noChangeAspect="1"/>
          </p:cNvPicPr>
          <p:nvPr>
            <p:ph idx="1"/>
          </p:nvPr>
        </p:nvPicPr>
        <p:blipFill>
          <a:blip r:embed="rId2"/>
          <a:stretch>
            <a:fillRect/>
          </a:stretch>
        </p:blipFill>
        <p:spPr>
          <a:xfrm>
            <a:off x="1426028" y="1165008"/>
            <a:ext cx="9339943" cy="4527984"/>
          </a:xfrm>
          <a:prstGeom prst="rect">
            <a:avLst/>
          </a:prstGeom>
        </p:spPr>
      </p:pic>
    </p:spTree>
    <p:extLst>
      <p:ext uri="{BB962C8B-B14F-4D97-AF65-F5344CB8AC3E}">
        <p14:creationId xmlns:p14="http://schemas.microsoft.com/office/powerpoint/2010/main" val="7234709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935135-6A65-F87A-2A2D-4DAA7652BC75}"/>
              </a:ext>
            </a:extLst>
          </p:cNvPr>
          <p:cNvSpPr>
            <a:spLocks noGrp="1"/>
          </p:cNvSpPr>
          <p:nvPr>
            <p:ph idx="1"/>
          </p:nvPr>
        </p:nvSpPr>
        <p:spPr>
          <a:xfrm>
            <a:off x="838200" y="649967"/>
            <a:ext cx="10515600" cy="5631089"/>
          </a:xfrm>
        </p:spPr>
        <p:txBody>
          <a:bodyPr/>
          <a:lstStyle/>
          <a:p>
            <a:r>
              <a:rPr lang="en-IN" b="1" dirty="0"/>
              <a:t>Parallel Development Model</a:t>
            </a:r>
          </a:p>
          <a:p>
            <a:endParaRPr lang="en-IN" b="1" dirty="0"/>
          </a:p>
          <a:p>
            <a:r>
              <a:rPr lang="en-IN" dirty="0"/>
              <a:t>The </a:t>
            </a:r>
            <a:r>
              <a:rPr lang="en-IN" b="1" dirty="0"/>
              <a:t>Parallel Development Model</a:t>
            </a:r>
            <a:r>
              <a:rPr lang="en-IN" dirty="0"/>
              <a:t> is an incremental software development approach in which the system is </a:t>
            </a:r>
            <a:r>
              <a:rPr lang="en-IN" b="1" dirty="0"/>
              <a:t>divided into multiple modules</a:t>
            </a:r>
            <a:r>
              <a:rPr lang="en-IN" dirty="0"/>
              <a:t>. </a:t>
            </a:r>
          </a:p>
          <a:p>
            <a:r>
              <a:rPr lang="en-IN" dirty="0"/>
              <a:t>After the overall system design is completed, different modules are </a:t>
            </a:r>
            <a:r>
              <a:rPr lang="en-IN" b="1" dirty="0"/>
              <a:t>developed simultaneously (in parallel)</a:t>
            </a:r>
            <a:r>
              <a:rPr lang="en-IN" dirty="0"/>
              <a:t> by different development teams.</a:t>
            </a:r>
          </a:p>
          <a:p>
            <a:r>
              <a:rPr lang="en-IN" dirty="0"/>
              <a:t> Since multiple teams work at the same time, the overall development time is reduced, making the process faster and more efficient. Once all modules are completed, they are integrated to form the final software system</a:t>
            </a:r>
          </a:p>
          <a:p>
            <a:endParaRPr lang="en-IN" dirty="0"/>
          </a:p>
        </p:txBody>
      </p:sp>
    </p:spTree>
    <p:extLst>
      <p:ext uri="{BB962C8B-B14F-4D97-AF65-F5344CB8AC3E}">
        <p14:creationId xmlns:p14="http://schemas.microsoft.com/office/powerpoint/2010/main" val="26997569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BFDF45F-4A43-E0B7-460E-3BEB81D30FA0}"/>
              </a:ext>
            </a:extLst>
          </p:cNvPr>
          <p:cNvPicPr>
            <a:picLocks noGrp="1" noChangeAspect="1"/>
          </p:cNvPicPr>
          <p:nvPr>
            <p:ph idx="1"/>
          </p:nvPr>
        </p:nvPicPr>
        <p:blipFill>
          <a:blip r:embed="rId2"/>
          <a:stretch>
            <a:fillRect/>
          </a:stretch>
        </p:blipFill>
        <p:spPr>
          <a:xfrm>
            <a:off x="925286" y="783771"/>
            <a:ext cx="9982200" cy="5323115"/>
          </a:xfrm>
          <a:prstGeom prst="rect">
            <a:avLst/>
          </a:prstGeom>
        </p:spPr>
      </p:pic>
    </p:spTree>
    <p:extLst>
      <p:ext uri="{BB962C8B-B14F-4D97-AF65-F5344CB8AC3E}">
        <p14:creationId xmlns:p14="http://schemas.microsoft.com/office/powerpoint/2010/main" val="40002703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580390-A039-0732-F7FF-B58F75AAB156}"/>
              </a:ext>
            </a:extLst>
          </p:cNvPr>
          <p:cNvSpPr>
            <a:spLocks noGrp="1"/>
          </p:cNvSpPr>
          <p:nvPr>
            <p:ph idx="1"/>
          </p:nvPr>
        </p:nvSpPr>
        <p:spPr>
          <a:xfrm>
            <a:off x="838200" y="1589314"/>
            <a:ext cx="10515600" cy="4587649"/>
          </a:xfrm>
        </p:spPr>
        <p:txBody>
          <a:bodyPr/>
          <a:lstStyle/>
          <a:p>
            <a:pPr fontAlgn="base"/>
            <a:r>
              <a:rPr lang="en-IN" b="1" dirty="0"/>
              <a:t>Advantages</a:t>
            </a:r>
          </a:p>
          <a:p>
            <a:pPr fontAlgn="base"/>
            <a:r>
              <a:rPr lang="en-IN" dirty="0"/>
              <a:t>Early Software Delivery, improves customer satisfaction</a:t>
            </a:r>
          </a:p>
          <a:p>
            <a:pPr fontAlgn="base"/>
            <a:r>
              <a:rPr lang="en-IN" dirty="0"/>
              <a:t>Easy to Manage Changes between increments</a:t>
            </a:r>
          </a:p>
          <a:p>
            <a:pPr fontAlgn="base"/>
            <a:r>
              <a:rPr lang="en-IN" dirty="0"/>
              <a:t>Better Risk Management through early testing</a:t>
            </a:r>
          </a:p>
          <a:p>
            <a:pPr fontAlgn="base"/>
            <a:r>
              <a:rPr lang="en-IN" dirty="0"/>
              <a:t>Cost Control by spreading budget over stages</a:t>
            </a:r>
          </a:p>
          <a:p>
            <a:pPr fontAlgn="base"/>
            <a:r>
              <a:rPr lang="en-IN" dirty="0"/>
              <a:t>Simpler Debugging due to modular development</a:t>
            </a:r>
          </a:p>
          <a:p>
            <a:pPr fontAlgn="base"/>
            <a:r>
              <a:rPr lang="en-IN" dirty="0"/>
              <a:t>High Software Quality through continuous testing</a:t>
            </a:r>
          </a:p>
          <a:p>
            <a:endParaRPr lang="en-IN" dirty="0"/>
          </a:p>
        </p:txBody>
      </p:sp>
    </p:spTree>
    <p:extLst>
      <p:ext uri="{BB962C8B-B14F-4D97-AF65-F5344CB8AC3E}">
        <p14:creationId xmlns:p14="http://schemas.microsoft.com/office/powerpoint/2010/main" val="26535019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29617D-F146-3673-F63D-6CEECB71765F}"/>
              </a:ext>
            </a:extLst>
          </p:cNvPr>
          <p:cNvSpPr>
            <a:spLocks noGrp="1"/>
          </p:cNvSpPr>
          <p:nvPr>
            <p:ph idx="1"/>
          </p:nvPr>
        </p:nvSpPr>
        <p:spPr>
          <a:xfrm>
            <a:off x="838200" y="903514"/>
            <a:ext cx="10515600" cy="5273449"/>
          </a:xfrm>
        </p:spPr>
        <p:txBody>
          <a:bodyPr/>
          <a:lstStyle/>
          <a:p>
            <a:pPr marL="0" indent="0" fontAlgn="base">
              <a:buNone/>
            </a:pPr>
            <a:r>
              <a:rPr lang="en-IN" b="1" dirty="0"/>
              <a:t>Disadvantages</a:t>
            </a:r>
          </a:p>
          <a:p>
            <a:pPr fontAlgn="base"/>
            <a:r>
              <a:rPr lang="en-IN" dirty="0"/>
              <a:t>Requires Skilled Team and proper planning</a:t>
            </a:r>
          </a:p>
          <a:p>
            <a:pPr fontAlgn="base"/>
            <a:r>
              <a:rPr lang="en-IN" dirty="0"/>
              <a:t>Cost May Increase due to repeated testing and integration</a:t>
            </a:r>
          </a:p>
          <a:p>
            <a:pPr fontAlgn="base"/>
            <a:r>
              <a:rPr lang="en-IN" dirty="0"/>
              <a:t>Design Issues if future requirements are unclear</a:t>
            </a:r>
          </a:p>
          <a:p>
            <a:pPr fontAlgn="base"/>
            <a:r>
              <a:rPr lang="en-IN" dirty="0"/>
              <a:t>Integration Challenges between increments</a:t>
            </a:r>
          </a:p>
          <a:p>
            <a:pPr fontAlgn="base"/>
            <a:r>
              <a:rPr lang="en-IN" dirty="0"/>
              <a:t>Repeated Bug Fixing across multiple increments</a:t>
            </a:r>
          </a:p>
          <a:p>
            <a:endParaRPr lang="en-IN" dirty="0"/>
          </a:p>
        </p:txBody>
      </p:sp>
    </p:spTree>
    <p:extLst>
      <p:ext uri="{BB962C8B-B14F-4D97-AF65-F5344CB8AC3E}">
        <p14:creationId xmlns:p14="http://schemas.microsoft.com/office/powerpoint/2010/main" val="3969339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55406-02D0-C948-5859-5B4B153D817C}"/>
              </a:ext>
            </a:extLst>
          </p:cNvPr>
          <p:cNvSpPr>
            <a:spLocks noGrp="1"/>
          </p:cNvSpPr>
          <p:nvPr>
            <p:ph type="title"/>
          </p:nvPr>
        </p:nvSpPr>
        <p:spPr/>
        <p:txBody>
          <a:bodyPr/>
          <a:lstStyle/>
          <a:p>
            <a:r>
              <a:rPr lang="en-IN" dirty="0"/>
              <a:t>6. Rapid Application Development (RAD) model </a:t>
            </a:r>
          </a:p>
        </p:txBody>
      </p:sp>
      <p:sp>
        <p:nvSpPr>
          <p:cNvPr id="3" name="Content Placeholder 2">
            <a:extLst>
              <a:ext uri="{FF2B5EF4-FFF2-40B4-BE49-F238E27FC236}">
                <a16:creationId xmlns:a16="http://schemas.microsoft.com/office/drawing/2014/main" id="{FAC20F13-E162-2239-4FBF-A5D8C6B8AA04}"/>
              </a:ext>
            </a:extLst>
          </p:cNvPr>
          <p:cNvSpPr>
            <a:spLocks noGrp="1"/>
          </p:cNvSpPr>
          <p:nvPr>
            <p:ph idx="1"/>
          </p:nvPr>
        </p:nvSpPr>
        <p:spPr>
          <a:xfrm>
            <a:off x="838200" y="1825625"/>
            <a:ext cx="10515600" cy="4836432"/>
          </a:xfrm>
        </p:spPr>
        <p:txBody>
          <a:bodyPr/>
          <a:lstStyle/>
          <a:p>
            <a:pPr>
              <a:lnSpc>
                <a:spcPct val="100000"/>
              </a:lnSpc>
            </a:pPr>
            <a:r>
              <a:rPr lang="en-IN" dirty="0"/>
              <a:t>The </a:t>
            </a:r>
            <a:r>
              <a:rPr lang="en-IN" b="1" dirty="0"/>
              <a:t>Rapid Application Development (RAD) Model</a:t>
            </a:r>
            <a:r>
              <a:rPr lang="en-IN" dirty="0"/>
              <a:t> is an </a:t>
            </a:r>
            <a:r>
              <a:rPr lang="en-IN" b="1" dirty="0"/>
              <a:t>iterative and incremental software development model</a:t>
            </a:r>
            <a:r>
              <a:rPr lang="en-IN" dirty="0"/>
              <a:t> that focuses on </a:t>
            </a:r>
            <a:r>
              <a:rPr lang="en-IN" b="1" dirty="0"/>
              <a:t>rapid prototyping, quick development, and continuous user feedback</a:t>
            </a:r>
            <a:r>
              <a:rPr lang="en-IN" dirty="0"/>
              <a:t> instead of extensive planning. </a:t>
            </a:r>
          </a:p>
          <a:p>
            <a:pPr>
              <a:lnSpc>
                <a:spcPct val="100000"/>
              </a:lnSpc>
            </a:pPr>
            <a:r>
              <a:rPr lang="en-IN" dirty="0"/>
              <a:t>It divides the project into small modules that are developed in parallel within </a:t>
            </a:r>
            <a:r>
              <a:rPr lang="en-IN" b="1" dirty="0"/>
              <a:t>short development cycles (60–90 days)</a:t>
            </a:r>
            <a:r>
              <a:rPr lang="en-IN" dirty="0"/>
              <a:t>. </a:t>
            </a:r>
          </a:p>
          <a:p>
            <a:pPr>
              <a:lnSpc>
                <a:spcPct val="100000"/>
              </a:lnSpc>
            </a:pPr>
            <a:r>
              <a:rPr lang="en-IN" dirty="0"/>
              <a:t>Users review each prototype and provide feedback, allowing improvements throughout the development process.</a:t>
            </a:r>
          </a:p>
        </p:txBody>
      </p:sp>
    </p:spTree>
    <p:extLst>
      <p:ext uri="{BB962C8B-B14F-4D97-AF65-F5344CB8AC3E}">
        <p14:creationId xmlns:p14="http://schemas.microsoft.com/office/powerpoint/2010/main" val="72749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671E9B4-4D24-A6CF-F04E-4B8C9F4AA1D1}"/>
              </a:ext>
            </a:extLst>
          </p:cNvPr>
          <p:cNvPicPr>
            <a:picLocks noGrp="1" noChangeAspect="1"/>
          </p:cNvPicPr>
          <p:nvPr>
            <p:ph idx="1"/>
          </p:nvPr>
        </p:nvPicPr>
        <p:blipFill>
          <a:blip r:embed="rId2"/>
          <a:stretch>
            <a:fillRect/>
          </a:stretch>
        </p:blipFill>
        <p:spPr>
          <a:xfrm>
            <a:off x="1153886" y="664029"/>
            <a:ext cx="10210800" cy="5105399"/>
          </a:xfrm>
          <a:prstGeom prst="rect">
            <a:avLst/>
          </a:prstGeom>
        </p:spPr>
      </p:pic>
    </p:spTree>
    <p:extLst>
      <p:ext uri="{BB962C8B-B14F-4D97-AF65-F5344CB8AC3E}">
        <p14:creationId xmlns:p14="http://schemas.microsoft.com/office/powerpoint/2010/main" val="8999837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1613F6-DBD7-6DE2-37E1-90E7BA0E0071}"/>
              </a:ext>
            </a:extLst>
          </p:cNvPr>
          <p:cNvSpPr>
            <a:spLocks noGrp="1"/>
          </p:cNvSpPr>
          <p:nvPr>
            <p:ph idx="1"/>
          </p:nvPr>
        </p:nvSpPr>
        <p:spPr>
          <a:xfrm>
            <a:off x="838200" y="674914"/>
            <a:ext cx="10515600" cy="5502049"/>
          </a:xfrm>
        </p:spPr>
        <p:txBody>
          <a:bodyPr>
            <a:normAutofit lnSpcReduction="10000"/>
          </a:bodyPr>
          <a:lstStyle/>
          <a:p>
            <a:pPr marL="0" indent="0" fontAlgn="base">
              <a:buNone/>
            </a:pPr>
            <a:r>
              <a:rPr lang="en-IN" b="1" dirty="0"/>
              <a:t>Advantages</a:t>
            </a:r>
          </a:p>
          <a:p>
            <a:pPr fontAlgn="base"/>
            <a:r>
              <a:rPr lang="en-IN" b="1" dirty="0"/>
              <a:t>Fast development:</a:t>
            </a:r>
            <a:r>
              <a:rPr lang="en-IN" dirty="0"/>
              <a:t> Reusable components reduce development time.</a:t>
            </a:r>
          </a:p>
          <a:p>
            <a:pPr fontAlgn="base"/>
            <a:r>
              <a:rPr lang="en-IN" b="1" dirty="0"/>
              <a:t>Early customer feedback:</a:t>
            </a:r>
            <a:r>
              <a:rPr lang="en-IN" dirty="0"/>
              <a:t> Users see prototypes early and give feedback.</a:t>
            </a:r>
          </a:p>
          <a:p>
            <a:pPr fontAlgn="base"/>
            <a:r>
              <a:rPr lang="en-IN" b="1" dirty="0"/>
              <a:t>Lower development effort:</a:t>
            </a:r>
            <a:r>
              <a:rPr lang="en-IN" dirty="0"/>
              <a:t> Fewer developers are needed due to automation.</a:t>
            </a:r>
          </a:p>
          <a:p>
            <a:pPr fontAlgn="base"/>
            <a:r>
              <a:rPr lang="en-IN" b="1" dirty="0"/>
              <a:t>Better quality:</a:t>
            </a:r>
            <a:r>
              <a:rPr lang="en-IN" dirty="0"/>
              <a:t> Powerful tools help build quality software quickly.</a:t>
            </a:r>
          </a:p>
          <a:p>
            <a:pPr fontAlgn="base"/>
            <a:r>
              <a:rPr lang="en-IN" b="1" dirty="0"/>
              <a:t>Easy progress tracking:</a:t>
            </a:r>
            <a:r>
              <a:rPr lang="en-IN" dirty="0"/>
              <a:t> Development progress is visible in each phase.</a:t>
            </a:r>
          </a:p>
          <a:p>
            <a:pPr fontAlgn="base"/>
            <a:r>
              <a:rPr lang="en-IN" b="1" dirty="0"/>
              <a:t>Flexible to changes:</a:t>
            </a:r>
            <a:r>
              <a:rPr lang="en-IN" dirty="0"/>
              <a:t> Changing requirements are easy to handle due to short cycles.</a:t>
            </a:r>
          </a:p>
          <a:p>
            <a:pPr fontAlgn="base"/>
            <a:r>
              <a:rPr lang="en-IN" b="1" dirty="0"/>
              <a:t>High productivity:</a:t>
            </a:r>
            <a:r>
              <a:rPr lang="en-IN" dirty="0"/>
              <a:t> Small teams can deliver results faster.</a:t>
            </a:r>
          </a:p>
          <a:p>
            <a:endParaRPr lang="en-IN" dirty="0"/>
          </a:p>
        </p:txBody>
      </p:sp>
    </p:spTree>
    <p:extLst>
      <p:ext uri="{BB962C8B-B14F-4D97-AF65-F5344CB8AC3E}">
        <p14:creationId xmlns:p14="http://schemas.microsoft.com/office/powerpoint/2010/main" val="14670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A64143-03F6-0959-44A0-D84FE8B8ADCD}"/>
              </a:ext>
            </a:extLst>
          </p:cNvPr>
          <p:cNvSpPr>
            <a:spLocks noGrp="1"/>
          </p:cNvSpPr>
          <p:nvPr>
            <p:ph idx="1"/>
          </p:nvPr>
        </p:nvSpPr>
        <p:spPr>
          <a:xfrm>
            <a:off x="838200" y="511629"/>
            <a:ext cx="10515600" cy="5421085"/>
          </a:xfrm>
        </p:spPr>
        <p:txBody>
          <a:bodyPr>
            <a:normAutofit fontScale="77500" lnSpcReduction="20000"/>
          </a:bodyPr>
          <a:lstStyle/>
          <a:p>
            <a:pPr marL="0" indent="0" fontAlgn="base">
              <a:lnSpc>
                <a:spcPct val="170000"/>
              </a:lnSpc>
              <a:buNone/>
            </a:pPr>
            <a:r>
              <a:rPr lang="en-IN" b="1" dirty="0"/>
              <a:t>Disadvantages</a:t>
            </a:r>
          </a:p>
          <a:p>
            <a:pPr fontAlgn="base">
              <a:lnSpc>
                <a:spcPct val="170000"/>
              </a:lnSpc>
            </a:pPr>
            <a:r>
              <a:rPr lang="en-IN" b="1" dirty="0"/>
              <a:t>Needs skilled professionals:</a:t>
            </a:r>
            <a:r>
              <a:rPr lang="en-IN" dirty="0"/>
              <a:t> Developers must be experienced with advanced tools.</a:t>
            </a:r>
          </a:p>
          <a:p>
            <a:pPr fontAlgn="base">
              <a:lnSpc>
                <a:spcPct val="170000"/>
              </a:lnSpc>
            </a:pPr>
            <a:r>
              <a:rPr lang="en-IN" b="1" dirty="0"/>
              <a:t>Depends on reusable components:</a:t>
            </a:r>
            <a:r>
              <a:rPr lang="en-IN" dirty="0"/>
              <a:t> Lack of reusable parts can cause failure.</a:t>
            </a:r>
          </a:p>
          <a:p>
            <a:pPr fontAlgn="base">
              <a:lnSpc>
                <a:spcPct val="170000"/>
              </a:lnSpc>
            </a:pPr>
            <a:r>
              <a:rPr lang="en-IN" b="1" dirty="0"/>
              <a:t>High coordination needed:</a:t>
            </a:r>
            <a:r>
              <a:rPr lang="en-IN" dirty="0"/>
              <a:t> Team leader must closely manage developers and customers.</a:t>
            </a:r>
          </a:p>
          <a:p>
            <a:pPr fontAlgn="base">
              <a:lnSpc>
                <a:spcPct val="170000"/>
              </a:lnSpc>
            </a:pPr>
            <a:r>
              <a:rPr lang="en-IN" b="1" dirty="0"/>
              <a:t>Not suitable for all systems:</a:t>
            </a:r>
            <a:r>
              <a:rPr lang="en-IN" dirty="0"/>
              <a:t> Systems that cannot be modularized cannot use RAD.</a:t>
            </a:r>
          </a:p>
          <a:p>
            <a:pPr marL="0" indent="0" fontAlgn="base">
              <a:lnSpc>
                <a:spcPct val="170000"/>
              </a:lnSpc>
              <a:buNone/>
            </a:pPr>
            <a:endParaRPr lang="en-IN" dirty="0"/>
          </a:p>
          <a:p>
            <a:pPr>
              <a:lnSpc>
                <a:spcPct val="170000"/>
              </a:lnSpc>
            </a:pPr>
            <a:endParaRPr lang="en-IN" dirty="0"/>
          </a:p>
        </p:txBody>
      </p:sp>
    </p:spTree>
    <p:extLst>
      <p:ext uri="{BB962C8B-B14F-4D97-AF65-F5344CB8AC3E}">
        <p14:creationId xmlns:p14="http://schemas.microsoft.com/office/powerpoint/2010/main" val="33532092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27F3C2-432E-9D52-8CBB-1FB4BD2792F0}"/>
              </a:ext>
            </a:extLst>
          </p:cNvPr>
          <p:cNvSpPr>
            <a:spLocks noGrp="1"/>
          </p:cNvSpPr>
          <p:nvPr>
            <p:ph idx="1"/>
          </p:nvPr>
        </p:nvSpPr>
        <p:spPr>
          <a:xfrm>
            <a:off x="838200" y="1139825"/>
            <a:ext cx="10515600" cy="4351338"/>
          </a:xfrm>
        </p:spPr>
        <p:txBody>
          <a:bodyPr>
            <a:normAutofit fontScale="92500"/>
          </a:bodyPr>
          <a:lstStyle/>
          <a:p>
            <a:pPr fontAlgn="base">
              <a:lnSpc>
                <a:spcPct val="170000"/>
              </a:lnSpc>
            </a:pPr>
            <a:r>
              <a:rPr lang="en-IN" b="1" dirty="0"/>
              <a:t>Continuous customer involvement required:</a:t>
            </a:r>
            <a:r>
              <a:rPr lang="en-IN" dirty="0"/>
              <a:t> Lack of user commitment can fail the project.</a:t>
            </a:r>
          </a:p>
          <a:p>
            <a:pPr fontAlgn="base">
              <a:lnSpc>
                <a:spcPct val="170000"/>
              </a:lnSpc>
            </a:pPr>
            <a:r>
              <a:rPr lang="en-IN" b="1" dirty="0"/>
              <a:t>Costly for small projects:</a:t>
            </a:r>
            <a:r>
              <a:rPr lang="en-IN" dirty="0"/>
              <a:t> Tool and automation costs may exceed the budget.</a:t>
            </a:r>
          </a:p>
          <a:p>
            <a:pPr fontAlgn="base">
              <a:lnSpc>
                <a:spcPct val="170000"/>
              </a:lnSpc>
            </a:pPr>
            <a:r>
              <a:rPr lang="en-IN" b="1" dirty="0"/>
              <a:t>Not suitable for every application:</a:t>
            </a:r>
            <a:r>
              <a:rPr lang="en-IN" dirty="0"/>
              <a:t> Some projects do not fit RAD structure</a:t>
            </a:r>
          </a:p>
        </p:txBody>
      </p:sp>
    </p:spTree>
    <p:extLst>
      <p:ext uri="{BB962C8B-B14F-4D97-AF65-F5344CB8AC3E}">
        <p14:creationId xmlns:p14="http://schemas.microsoft.com/office/powerpoint/2010/main" val="22691010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755B8-46BF-BA30-FA18-FB0E4249EFE0}"/>
              </a:ext>
            </a:extLst>
          </p:cNvPr>
          <p:cNvSpPr>
            <a:spLocks noGrp="1"/>
          </p:cNvSpPr>
          <p:nvPr>
            <p:ph type="title"/>
          </p:nvPr>
        </p:nvSpPr>
        <p:spPr/>
        <p:txBody>
          <a:bodyPr/>
          <a:lstStyle/>
          <a:p>
            <a:r>
              <a:rPr lang="en-IN" b="1" dirty="0"/>
              <a:t>7. Agile Software Development</a:t>
            </a:r>
            <a:br>
              <a:rPr lang="en-IN" b="1" dirty="0"/>
            </a:br>
            <a:endParaRPr lang="en-IN" dirty="0"/>
          </a:p>
        </p:txBody>
      </p:sp>
      <p:sp>
        <p:nvSpPr>
          <p:cNvPr id="3" name="Content Placeholder 2">
            <a:extLst>
              <a:ext uri="{FF2B5EF4-FFF2-40B4-BE49-F238E27FC236}">
                <a16:creationId xmlns:a16="http://schemas.microsoft.com/office/drawing/2014/main" id="{6E7CEAC7-F0B2-00C7-D703-588B2DCD23D6}"/>
              </a:ext>
            </a:extLst>
          </p:cNvPr>
          <p:cNvSpPr>
            <a:spLocks noGrp="1"/>
          </p:cNvSpPr>
          <p:nvPr>
            <p:ph idx="1"/>
          </p:nvPr>
        </p:nvSpPr>
        <p:spPr>
          <a:xfrm>
            <a:off x="838200" y="1556657"/>
            <a:ext cx="10515600" cy="4620306"/>
          </a:xfrm>
        </p:spPr>
        <p:txBody>
          <a:bodyPr>
            <a:normAutofit lnSpcReduction="10000"/>
          </a:bodyPr>
          <a:lstStyle/>
          <a:p>
            <a:pPr>
              <a:lnSpc>
                <a:spcPct val="100000"/>
              </a:lnSpc>
            </a:pPr>
            <a:r>
              <a:rPr lang="en-IN" dirty="0"/>
              <a:t>The </a:t>
            </a:r>
            <a:r>
              <a:rPr lang="en-IN" b="1" dirty="0"/>
              <a:t>Agile Software Development Model</a:t>
            </a:r>
            <a:r>
              <a:rPr lang="en-IN" dirty="0"/>
              <a:t> is a software development methodology that emphasizes </a:t>
            </a:r>
            <a:r>
              <a:rPr lang="en-IN" b="1" dirty="0"/>
              <a:t>flexibility, collaboration, and customer satisfaction</a:t>
            </a:r>
            <a:r>
              <a:rPr lang="en-IN" dirty="0"/>
              <a:t>. </a:t>
            </a:r>
          </a:p>
          <a:p>
            <a:pPr>
              <a:lnSpc>
                <a:spcPct val="100000"/>
              </a:lnSpc>
            </a:pPr>
            <a:r>
              <a:rPr lang="en-IN" dirty="0"/>
              <a:t>It follows an </a:t>
            </a:r>
            <a:r>
              <a:rPr lang="en-IN" b="1" dirty="0"/>
              <a:t>iterative and incremental approach</a:t>
            </a:r>
            <a:r>
              <a:rPr lang="en-IN" dirty="0"/>
              <a:t>, where software is developed in small parts called </a:t>
            </a:r>
            <a:r>
              <a:rPr lang="en-IN" b="1" dirty="0"/>
              <a:t>iterations (or sprints)</a:t>
            </a:r>
            <a:r>
              <a:rPr lang="en-IN" dirty="0"/>
              <a:t>. </a:t>
            </a:r>
          </a:p>
          <a:p>
            <a:pPr>
              <a:lnSpc>
                <a:spcPct val="100000"/>
              </a:lnSpc>
            </a:pPr>
            <a:r>
              <a:rPr lang="en-IN" dirty="0"/>
              <a:t>Each iteration delivers a </a:t>
            </a:r>
            <a:r>
              <a:rPr lang="en-IN" b="1" dirty="0"/>
              <a:t>working product quickly</a:t>
            </a:r>
            <a:r>
              <a:rPr lang="en-IN" dirty="0"/>
              <a:t>, allowing customers to provide continuous feedback. </a:t>
            </a:r>
          </a:p>
          <a:p>
            <a:pPr>
              <a:lnSpc>
                <a:spcPct val="100000"/>
              </a:lnSpc>
            </a:pPr>
            <a:r>
              <a:rPr lang="en-IN" dirty="0"/>
              <a:t>The development team and customer work closely together to ensure the software meets changing requirements and user expectations.</a:t>
            </a:r>
          </a:p>
        </p:txBody>
      </p:sp>
    </p:spTree>
    <p:extLst>
      <p:ext uri="{BB962C8B-B14F-4D97-AF65-F5344CB8AC3E}">
        <p14:creationId xmlns:p14="http://schemas.microsoft.com/office/powerpoint/2010/main" val="21153041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42CB7BC-FBF4-63EC-3E0E-60D9DC16C9DA}"/>
              </a:ext>
            </a:extLst>
          </p:cNvPr>
          <p:cNvPicPr>
            <a:picLocks noGrp="1" noChangeAspect="1"/>
          </p:cNvPicPr>
          <p:nvPr>
            <p:ph idx="1"/>
          </p:nvPr>
        </p:nvPicPr>
        <p:blipFill>
          <a:blip r:embed="rId2"/>
          <a:stretch>
            <a:fillRect/>
          </a:stretch>
        </p:blipFill>
        <p:spPr>
          <a:xfrm>
            <a:off x="1415143" y="881743"/>
            <a:ext cx="8784771" cy="4815088"/>
          </a:xfrm>
          <a:prstGeom prst="rect">
            <a:avLst/>
          </a:prstGeom>
        </p:spPr>
      </p:pic>
    </p:spTree>
    <p:extLst>
      <p:ext uri="{BB962C8B-B14F-4D97-AF65-F5344CB8AC3E}">
        <p14:creationId xmlns:p14="http://schemas.microsoft.com/office/powerpoint/2010/main" val="131652441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D6247A-9A62-CBF3-E83E-8FB709DC0DE1}"/>
              </a:ext>
            </a:extLst>
          </p:cNvPr>
          <p:cNvSpPr>
            <a:spLocks noGrp="1"/>
          </p:cNvSpPr>
          <p:nvPr>
            <p:ph idx="1"/>
          </p:nvPr>
        </p:nvSpPr>
        <p:spPr>
          <a:xfrm>
            <a:off x="838200" y="642257"/>
            <a:ext cx="10515600" cy="5534706"/>
          </a:xfrm>
        </p:spPr>
        <p:txBody>
          <a:bodyPr/>
          <a:lstStyle/>
          <a:p>
            <a:pPr marL="0" indent="0">
              <a:buNone/>
            </a:pPr>
            <a:r>
              <a:rPr lang="en-IN" dirty="0"/>
              <a:t>Characteristics of Agile Software Development</a:t>
            </a:r>
          </a:p>
          <a:p>
            <a:pPr marL="0" indent="0">
              <a:buNone/>
            </a:pPr>
            <a:endParaRPr lang="en-IN" dirty="0"/>
          </a:p>
          <a:p>
            <a:pPr marL="0" indent="0">
              <a:buNone/>
            </a:pPr>
            <a:r>
              <a:rPr lang="en-IN" b="1" dirty="0"/>
              <a:t>1. Agile as a Mindset</a:t>
            </a:r>
          </a:p>
          <a:p>
            <a:r>
              <a:rPr lang="en-IN" dirty="0"/>
              <a:t>Agile is not just a development method; it is a way of thinking and working. </a:t>
            </a:r>
          </a:p>
          <a:p>
            <a:r>
              <a:rPr lang="en-IN" dirty="0"/>
              <a:t>It focuses on adaptability, teamwork, continuous improvement, and customer satisfaction.</a:t>
            </a:r>
          </a:p>
          <a:p>
            <a:endParaRPr lang="en-IN" dirty="0"/>
          </a:p>
          <a:p>
            <a:r>
              <a:rPr lang="en-IN" b="1" dirty="0"/>
              <a:t>Example:</a:t>
            </a:r>
            <a:r>
              <a:rPr lang="en-IN" dirty="0"/>
              <a:t> If a customer requests a new feature, the team is ready to adapt instead of following a fixed plan.</a:t>
            </a:r>
          </a:p>
          <a:p>
            <a:pPr marL="0" indent="0">
              <a:buNone/>
            </a:pPr>
            <a:endParaRPr lang="en-IN" dirty="0"/>
          </a:p>
        </p:txBody>
      </p:sp>
    </p:spTree>
    <p:extLst>
      <p:ext uri="{BB962C8B-B14F-4D97-AF65-F5344CB8AC3E}">
        <p14:creationId xmlns:p14="http://schemas.microsoft.com/office/powerpoint/2010/main" val="41123986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A3EAB8-B1C7-172E-CD7F-21D63CC30912}"/>
              </a:ext>
            </a:extLst>
          </p:cNvPr>
          <p:cNvSpPr>
            <a:spLocks noGrp="1"/>
          </p:cNvSpPr>
          <p:nvPr>
            <p:ph idx="1"/>
          </p:nvPr>
        </p:nvSpPr>
        <p:spPr>
          <a:xfrm>
            <a:off x="838200" y="587829"/>
            <a:ext cx="10515600" cy="5589134"/>
          </a:xfrm>
        </p:spPr>
        <p:txBody>
          <a:bodyPr/>
          <a:lstStyle/>
          <a:p>
            <a:pPr marL="0" indent="0">
              <a:buNone/>
            </a:pPr>
            <a:r>
              <a:rPr lang="en-IN" b="1" dirty="0"/>
              <a:t>2. Quick Response to Change</a:t>
            </a:r>
          </a:p>
          <a:p>
            <a:pPr marL="0" indent="0">
              <a:buNone/>
            </a:pPr>
            <a:endParaRPr lang="en-IN" b="1" dirty="0"/>
          </a:p>
          <a:p>
            <a:r>
              <a:rPr lang="en-IN" dirty="0"/>
              <a:t>Agile welcomes changing requirements, even during development. </a:t>
            </a:r>
          </a:p>
          <a:p>
            <a:r>
              <a:rPr lang="en-IN" dirty="0"/>
              <a:t>Teams can quickly modify the software based on customer feedback or new business needs. </a:t>
            </a:r>
          </a:p>
          <a:p>
            <a:r>
              <a:rPr lang="en-IN" dirty="0"/>
              <a:t>This makes Agile suitable for projects where requirements change frequently.</a:t>
            </a:r>
          </a:p>
          <a:p>
            <a:endParaRPr lang="en-IN" dirty="0"/>
          </a:p>
          <a:p>
            <a:r>
              <a:rPr lang="en-IN" b="1" dirty="0"/>
              <a:t>Example:</a:t>
            </a:r>
            <a:r>
              <a:rPr lang="en-IN" dirty="0"/>
              <a:t> An online shopping app adds a new payment method after customer feedback without waiting for the entire project to finish.</a:t>
            </a:r>
          </a:p>
          <a:p>
            <a:endParaRPr lang="en-IN" dirty="0"/>
          </a:p>
        </p:txBody>
      </p:sp>
    </p:spTree>
    <p:extLst>
      <p:ext uri="{BB962C8B-B14F-4D97-AF65-F5344CB8AC3E}">
        <p14:creationId xmlns:p14="http://schemas.microsoft.com/office/powerpoint/2010/main" val="31166749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77A4F1-78FD-5D45-9D51-BF787DFBBF83}"/>
              </a:ext>
            </a:extLst>
          </p:cNvPr>
          <p:cNvSpPr>
            <a:spLocks noGrp="1"/>
          </p:cNvSpPr>
          <p:nvPr>
            <p:ph idx="1"/>
          </p:nvPr>
        </p:nvSpPr>
        <p:spPr>
          <a:xfrm>
            <a:off x="838200" y="816429"/>
            <a:ext cx="10515600" cy="5360534"/>
          </a:xfrm>
        </p:spPr>
        <p:txBody>
          <a:bodyPr/>
          <a:lstStyle/>
          <a:p>
            <a:pPr marL="0" indent="0">
              <a:buNone/>
            </a:pPr>
            <a:r>
              <a:rPr lang="en-IN" b="1" dirty="0"/>
              <a:t>3. Regular Demonstrations</a:t>
            </a:r>
          </a:p>
          <a:p>
            <a:pPr marL="0" indent="0">
              <a:buNone/>
            </a:pPr>
            <a:endParaRPr lang="en-IN" b="1" dirty="0"/>
          </a:p>
          <a:p>
            <a:r>
              <a:rPr lang="en-IN" dirty="0"/>
              <a:t>At the end of every </a:t>
            </a:r>
            <a:r>
              <a:rPr lang="en-IN" b="1" dirty="0"/>
              <a:t>Sprint (2–4 weeks)</a:t>
            </a:r>
            <a:r>
              <a:rPr lang="en-IN" dirty="0"/>
              <a:t>, the team demonstrates the working software to the customer. </a:t>
            </a:r>
          </a:p>
          <a:p>
            <a:r>
              <a:rPr lang="en-IN" dirty="0"/>
              <a:t>Customers review the progress and provide feedback. </a:t>
            </a:r>
          </a:p>
          <a:p>
            <a:r>
              <a:rPr lang="en-IN" dirty="0"/>
              <a:t>This ensures that the project is moving in the right direction and meets customer expectations.</a:t>
            </a:r>
          </a:p>
          <a:p>
            <a:r>
              <a:rPr lang="en-IN" b="1" dirty="0"/>
              <a:t>Benefit:</a:t>
            </a:r>
            <a:r>
              <a:rPr lang="en-IN" dirty="0"/>
              <a:t> Problems are identified early, reducing the cost of fixing them later.</a:t>
            </a:r>
          </a:p>
          <a:p>
            <a:endParaRPr lang="en-IN" dirty="0"/>
          </a:p>
        </p:txBody>
      </p:sp>
    </p:spTree>
    <p:extLst>
      <p:ext uri="{BB962C8B-B14F-4D97-AF65-F5344CB8AC3E}">
        <p14:creationId xmlns:p14="http://schemas.microsoft.com/office/powerpoint/2010/main" val="8741655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65906C-BCDF-1503-EF1A-8382B842F079}"/>
              </a:ext>
            </a:extLst>
          </p:cNvPr>
          <p:cNvSpPr>
            <a:spLocks noGrp="1"/>
          </p:cNvSpPr>
          <p:nvPr>
            <p:ph idx="1"/>
          </p:nvPr>
        </p:nvSpPr>
        <p:spPr>
          <a:xfrm>
            <a:off x="838200" y="870857"/>
            <a:ext cx="10515600" cy="5306106"/>
          </a:xfrm>
        </p:spPr>
        <p:txBody>
          <a:bodyPr>
            <a:normAutofit lnSpcReduction="10000"/>
          </a:bodyPr>
          <a:lstStyle/>
          <a:p>
            <a:pPr marL="0" indent="0">
              <a:buNone/>
            </a:pPr>
            <a:r>
              <a:rPr lang="en-IN" b="1" dirty="0"/>
              <a:t>4. Cross-Functional Teams</a:t>
            </a:r>
          </a:p>
          <a:p>
            <a:pPr marL="0" indent="0">
              <a:buNone/>
            </a:pPr>
            <a:endParaRPr lang="en-IN" b="1" dirty="0"/>
          </a:p>
          <a:p>
            <a:r>
              <a:rPr lang="en-IN" dirty="0"/>
              <a:t>Agile teams consist of members with different skills, such as </a:t>
            </a:r>
            <a:r>
              <a:rPr lang="en-IN" b="1" dirty="0"/>
              <a:t>developers, testers, designers, business analysts, and product owners</a:t>
            </a:r>
            <a:r>
              <a:rPr lang="en-IN" dirty="0"/>
              <a:t>. </a:t>
            </a:r>
          </a:p>
          <a:p>
            <a:r>
              <a:rPr lang="en-IN" dirty="0"/>
              <a:t>Team members work together, share knowledge, and communicate regularly. </a:t>
            </a:r>
          </a:p>
          <a:p>
            <a:r>
              <a:rPr lang="en-IN" dirty="0"/>
              <a:t>The team is </a:t>
            </a:r>
            <a:r>
              <a:rPr lang="en-IN" b="1" dirty="0"/>
              <a:t>self-organizing</a:t>
            </a:r>
            <a:r>
              <a:rPr lang="en-IN" dirty="0"/>
              <a:t>, meaning members decide how to complete the work without constant supervision. </a:t>
            </a:r>
          </a:p>
          <a:p>
            <a:r>
              <a:rPr lang="en-IN" b="1" dirty="0"/>
              <a:t>Example:</a:t>
            </a:r>
            <a:r>
              <a:rPr lang="en-IN" dirty="0"/>
              <a:t> While developers write code, testers test new features, and designers improve the user interface—all working together during the same sprint.</a:t>
            </a:r>
          </a:p>
          <a:p>
            <a:endParaRPr lang="en-IN" dirty="0"/>
          </a:p>
        </p:txBody>
      </p:sp>
    </p:spTree>
    <p:extLst>
      <p:ext uri="{BB962C8B-B14F-4D97-AF65-F5344CB8AC3E}">
        <p14:creationId xmlns:p14="http://schemas.microsoft.com/office/powerpoint/2010/main" val="335019209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C0135D3-5684-E571-3D6F-2CE5A6F47A70}"/>
              </a:ext>
            </a:extLst>
          </p:cNvPr>
          <p:cNvPicPr>
            <a:picLocks noGrp="1" noChangeAspect="1"/>
          </p:cNvPicPr>
          <p:nvPr>
            <p:ph idx="1"/>
          </p:nvPr>
        </p:nvPicPr>
        <p:blipFill>
          <a:blip r:embed="rId2"/>
          <a:stretch>
            <a:fillRect/>
          </a:stretch>
        </p:blipFill>
        <p:spPr>
          <a:xfrm>
            <a:off x="849086" y="631372"/>
            <a:ext cx="10798627" cy="5355772"/>
          </a:xfrm>
          <a:prstGeom prst="rect">
            <a:avLst/>
          </a:prstGeom>
        </p:spPr>
      </p:pic>
    </p:spTree>
    <p:extLst>
      <p:ext uri="{BB962C8B-B14F-4D97-AF65-F5344CB8AC3E}">
        <p14:creationId xmlns:p14="http://schemas.microsoft.com/office/powerpoint/2010/main" val="31357856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E94DE-3EE7-8ADA-9792-B03EDA2CC20D}"/>
              </a:ext>
            </a:extLst>
          </p:cNvPr>
          <p:cNvSpPr>
            <a:spLocks noGrp="1"/>
          </p:cNvSpPr>
          <p:nvPr>
            <p:ph type="title"/>
          </p:nvPr>
        </p:nvSpPr>
        <p:spPr/>
        <p:txBody>
          <a:bodyPr/>
          <a:lstStyle/>
          <a:p>
            <a:r>
              <a:rPr lang="en-IN" b="1" dirty="0"/>
              <a:t>Advantages:</a:t>
            </a:r>
            <a:br>
              <a:rPr lang="en-IN" b="1" dirty="0"/>
            </a:br>
            <a:endParaRPr lang="en-IN" dirty="0"/>
          </a:p>
        </p:txBody>
      </p:sp>
      <p:sp>
        <p:nvSpPr>
          <p:cNvPr id="3" name="Content Placeholder 2">
            <a:extLst>
              <a:ext uri="{FF2B5EF4-FFF2-40B4-BE49-F238E27FC236}">
                <a16:creationId xmlns:a16="http://schemas.microsoft.com/office/drawing/2014/main" id="{4AA24444-A1AB-C5F0-BAEC-3F18DB8B3889}"/>
              </a:ext>
            </a:extLst>
          </p:cNvPr>
          <p:cNvSpPr>
            <a:spLocks noGrp="1"/>
          </p:cNvSpPr>
          <p:nvPr>
            <p:ph idx="1"/>
          </p:nvPr>
        </p:nvSpPr>
        <p:spPr/>
        <p:txBody>
          <a:bodyPr/>
          <a:lstStyle/>
          <a:p>
            <a:pPr marL="0" indent="0">
              <a:buNone/>
            </a:pPr>
            <a:r>
              <a:rPr lang="en-IN" dirty="0"/>
              <a:t>1. Improved Collaboration and Communication</a:t>
            </a:r>
          </a:p>
          <a:p>
            <a:pPr marL="0" indent="0">
              <a:buNone/>
            </a:pPr>
            <a:r>
              <a:rPr lang="en-IN" dirty="0"/>
              <a:t>2. Flexibility and Adaptability</a:t>
            </a:r>
          </a:p>
          <a:p>
            <a:pPr marL="0" indent="0">
              <a:buNone/>
            </a:pPr>
            <a:r>
              <a:rPr lang="en-IN" dirty="0"/>
              <a:t>3. Better Quality and Reliability</a:t>
            </a:r>
          </a:p>
          <a:p>
            <a:pPr marL="0" indent="0">
              <a:buNone/>
            </a:pPr>
            <a:r>
              <a:rPr lang="en-IN" dirty="0"/>
              <a:t>4. Higher Customer Satisfaction</a:t>
            </a:r>
          </a:p>
        </p:txBody>
      </p:sp>
    </p:spTree>
    <p:extLst>
      <p:ext uri="{BB962C8B-B14F-4D97-AF65-F5344CB8AC3E}">
        <p14:creationId xmlns:p14="http://schemas.microsoft.com/office/powerpoint/2010/main" val="204804635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89202-4798-295D-5A41-A3FF305211B8}"/>
              </a:ext>
            </a:extLst>
          </p:cNvPr>
          <p:cNvSpPr>
            <a:spLocks noGrp="1"/>
          </p:cNvSpPr>
          <p:nvPr>
            <p:ph type="title"/>
          </p:nvPr>
        </p:nvSpPr>
        <p:spPr/>
        <p:txBody>
          <a:bodyPr/>
          <a:lstStyle/>
          <a:p>
            <a:r>
              <a:rPr lang="en-IN" dirty="0"/>
              <a:t>Disadvantages</a:t>
            </a:r>
          </a:p>
        </p:txBody>
      </p:sp>
      <p:sp>
        <p:nvSpPr>
          <p:cNvPr id="3" name="Content Placeholder 2">
            <a:extLst>
              <a:ext uri="{FF2B5EF4-FFF2-40B4-BE49-F238E27FC236}">
                <a16:creationId xmlns:a16="http://schemas.microsoft.com/office/drawing/2014/main" id="{0F3CD627-1C9D-42BB-E7BC-CF0852A6DBA9}"/>
              </a:ext>
            </a:extLst>
          </p:cNvPr>
          <p:cNvSpPr>
            <a:spLocks noGrp="1"/>
          </p:cNvSpPr>
          <p:nvPr>
            <p:ph idx="1"/>
          </p:nvPr>
        </p:nvSpPr>
        <p:spPr/>
        <p:txBody>
          <a:bodyPr/>
          <a:lstStyle/>
          <a:p>
            <a:pPr marL="0" indent="0">
              <a:buNone/>
            </a:pPr>
            <a:r>
              <a:rPr lang="en-IN" dirty="0"/>
              <a:t>1. Lack of Predictability</a:t>
            </a:r>
          </a:p>
          <a:p>
            <a:pPr marL="0" indent="0">
              <a:buNone/>
            </a:pPr>
            <a:r>
              <a:rPr lang="en-IN" dirty="0"/>
              <a:t>2. Limited Scope Control (Scope Creep)</a:t>
            </a:r>
          </a:p>
          <a:p>
            <a:pPr marL="0" indent="0">
              <a:buNone/>
            </a:pPr>
            <a:r>
              <a:rPr lang="en-IN" dirty="0"/>
              <a:t>3. Less Focus on Testing</a:t>
            </a:r>
          </a:p>
          <a:p>
            <a:pPr marL="0" indent="0">
              <a:buNone/>
            </a:pPr>
            <a:r>
              <a:rPr lang="en-IN" dirty="0"/>
              <a:t>4. Risk of Team Burnout</a:t>
            </a:r>
          </a:p>
          <a:p>
            <a:pPr marL="0" indent="0">
              <a:buNone/>
            </a:pPr>
            <a:r>
              <a:rPr lang="en-IN" dirty="0"/>
              <a:t>5. Lack of Structure</a:t>
            </a:r>
          </a:p>
        </p:txBody>
      </p:sp>
    </p:spTree>
    <p:extLst>
      <p:ext uri="{BB962C8B-B14F-4D97-AF65-F5344CB8AC3E}">
        <p14:creationId xmlns:p14="http://schemas.microsoft.com/office/powerpoint/2010/main" val="38958431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366</TotalTime>
  <Words>2698</Words>
  <Application>Microsoft Office PowerPoint</Application>
  <PresentationFormat>Widescreen</PresentationFormat>
  <Paragraphs>299</Paragraphs>
  <Slides>58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58</vt:i4>
      </vt:variant>
    </vt:vector>
  </HeadingPairs>
  <TitlesOfParts>
    <vt:vector size="62" baseType="lpstr">
      <vt:lpstr>Aptos</vt:lpstr>
      <vt:lpstr>Aptos Display</vt:lpstr>
      <vt:lpstr>Arial</vt:lpstr>
      <vt:lpstr>Office Theme</vt:lpstr>
      <vt:lpstr>  Software Development Models - SDLC Models </vt:lpstr>
      <vt:lpstr>PowerPoint Presentation</vt:lpstr>
      <vt:lpstr>PowerPoint Presentation</vt:lpstr>
      <vt:lpstr>1. Waterfall model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 Iterative SDLC Models </vt:lpstr>
      <vt:lpstr>PowerPoint Presentation</vt:lpstr>
      <vt:lpstr>PowerPoint Presentation</vt:lpstr>
      <vt:lpstr>PowerPoint Presentation</vt:lpstr>
      <vt:lpstr>PowerPoint Presentation</vt:lpstr>
      <vt:lpstr>Advantages of the Iterative SDLC Model</vt:lpstr>
      <vt:lpstr>PowerPoint Presentation</vt:lpstr>
      <vt:lpstr>V-Model (Verification and Validation Model) in SDLC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4. Spiral SDLC Model</vt:lpstr>
      <vt:lpstr>PowerPoint Presentation</vt:lpstr>
      <vt:lpstr>PowerPoint Presentation</vt:lpstr>
      <vt:lpstr>PowerPoint Presentation</vt:lpstr>
      <vt:lpstr>PowerPoint Presentation</vt:lpstr>
      <vt:lpstr>PowerPoint Presentation</vt:lpstr>
      <vt:lpstr>PowerPoint Presentation</vt:lpstr>
      <vt:lpstr>5. Incremental Process Model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6. Rapid Application Development (RAD) model </vt:lpstr>
      <vt:lpstr>PowerPoint Presentation</vt:lpstr>
      <vt:lpstr>PowerPoint Presentation</vt:lpstr>
      <vt:lpstr>PowerPoint Presentation</vt:lpstr>
      <vt:lpstr>PowerPoint Presentation</vt:lpstr>
      <vt:lpstr>7. Agile Software Development </vt:lpstr>
      <vt:lpstr>PowerPoint Presentation</vt:lpstr>
      <vt:lpstr>PowerPoint Presentation</vt:lpstr>
      <vt:lpstr>PowerPoint Presentation</vt:lpstr>
      <vt:lpstr>PowerPoint Presentation</vt:lpstr>
      <vt:lpstr>PowerPoint Presentation</vt:lpstr>
      <vt:lpstr>PowerPoint Presentation</vt:lpstr>
      <vt:lpstr>Advantages: </vt:lpstr>
      <vt:lpstr>Disadvantages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rani korde</dc:creator>
  <cp:lastModifiedBy>rani korde</cp:lastModifiedBy>
  <cp:revision>46</cp:revision>
  <dcterms:created xsi:type="dcterms:W3CDTF">2026-07-22T05:52:31Z</dcterms:created>
  <dcterms:modified xsi:type="dcterms:W3CDTF">2026-07-28T08:29:51Z</dcterms:modified>
</cp:coreProperties>
</file>