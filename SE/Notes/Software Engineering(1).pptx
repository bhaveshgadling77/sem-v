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6" r:id="rId10"/>
    <p:sldId id="267" r:id="rId11"/>
    <p:sldId id="264" r:id="rId12"/>
    <p:sldId id="265" r:id="rId13"/>
    <p:sldId id="268" r:id="rId14"/>
    <p:sldId id="269" r:id="rId15"/>
    <p:sldId id="282" r:id="rId16"/>
    <p:sldId id="271" r:id="rId17"/>
    <p:sldId id="284" r:id="rId18"/>
    <p:sldId id="283" r:id="rId19"/>
    <p:sldId id="285" r:id="rId20"/>
    <p:sldId id="270" r:id="rId21"/>
    <p:sldId id="286" r:id="rId22"/>
    <p:sldId id="272" r:id="rId23"/>
    <p:sldId id="288" r:id="rId24"/>
    <p:sldId id="273" r:id="rId25"/>
    <p:sldId id="289" r:id="rId26"/>
    <p:sldId id="290" r:id="rId27"/>
    <p:sldId id="291" r:id="rId28"/>
    <p:sldId id="274" r:id="rId29"/>
    <p:sldId id="293" r:id="rId30"/>
    <p:sldId id="292" r:id="rId31"/>
    <p:sldId id="294" r:id="rId32"/>
    <p:sldId id="275" r:id="rId33"/>
    <p:sldId id="276" r:id="rId34"/>
    <p:sldId id="277" r:id="rId35"/>
    <p:sldId id="278" r:id="rId36"/>
    <p:sldId id="279" r:id="rId37"/>
    <p:sldId id="280" r:id="rId38"/>
    <p:sldId id="281" r:id="rId39"/>
    <p:sldId id="295" r:id="rId40"/>
    <p:sldId id="297" r:id="rId41"/>
    <p:sldId id="298" r:id="rId42"/>
    <p:sldId id="299" r:id="rId43"/>
    <p:sldId id="300" r:id="rId44"/>
    <p:sldId id="323" r:id="rId45"/>
    <p:sldId id="301" r:id="rId46"/>
    <p:sldId id="302" r:id="rId47"/>
    <p:sldId id="303" r:id="rId48"/>
    <p:sldId id="304" r:id="rId49"/>
    <p:sldId id="296" r:id="rId50"/>
    <p:sldId id="305" r:id="rId51"/>
    <p:sldId id="306" r:id="rId52"/>
    <p:sldId id="307" r:id="rId53"/>
    <p:sldId id="308" r:id="rId54"/>
    <p:sldId id="309" r:id="rId55"/>
    <p:sldId id="311" r:id="rId56"/>
    <p:sldId id="315" r:id="rId57"/>
    <p:sldId id="312" r:id="rId58"/>
    <p:sldId id="314" r:id="rId59"/>
    <p:sldId id="316" r:id="rId60"/>
    <p:sldId id="317" r:id="rId61"/>
    <p:sldId id="313" r:id="rId62"/>
    <p:sldId id="318" r:id="rId63"/>
    <p:sldId id="319" r:id="rId64"/>
    <p:sldId id="320" r:id="rId65"/>
    <p:sldId id="321" r:id="rId66"/>
    <p:sldId id="322" r:id="rId67"/>
    <p:sldId id="324" r:id="rId68"/>
    <p:sldId id="325" r:id="rId69"/>
    <p:sldId id="326" r:id="rId70"/>
    <p:sldId id="327" r:id="rId71"/>
    <p:sldId id="328" r:id="rId72"/>
    <p:sldId id="329"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59" d="100"/>
          <a:sy n="59" d="100"/>
        </p:scale>
        <p:origin x="8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575A0C-57BE-4076-8DAC-55AA41B3E05D}" type="datetimeFigureOut">
              <a:rPr lang="en-IN" smtClean="0"/>
              <a:t>20-07-2026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57E0FC-D416-4247-8A1A-6D2270FC6D53}" type="slidenum">
              <a:rPr lang="en-IN" smtClean="0"/>
              <a:t>‹#›</a:t>
            </a:fld>
            <a:endParaRPr lang="en-IN"/>
          </a:p>
        </p:txBody>
      </p:sp>
    </p:spTree>
    <p:extLst>
      <p:ext uri="{BB962C8B-B14F-4D97-AF65-F5344CB8AC3E}">
        <p14:creationId xmlns:p14="http://schemas.microsoft.com/office/powerpoint/2010/main" val="3137262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57E0FC-D416-4247-8A1A-6D2270FC6D53}" type="slidenum">
              <a:rPr lang="en-IN" smtClean="0"/>
              <a:t>3</a:t>
            </a:fld>
            <a:endParaRPr lang="en-IN"/>
          </a:p>
        </p:txBody>
      </p:sp>
    </p:spTree>
    <p:extLst>
      <p:ext uri="{BB962C8B-B14F-4D97-AF65-F5344CB8AC3E}">
        <p14:creationId xmlns:p14="http://schemas.microsoft.com/office/powerpoint/2010/main" val="811172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57E0FC-D416-4247-8A1A-6D2270FC6D53}" type="slidenum">
              <a:rPr lang="en-IN" smtClean="0"/>
              <a:t>60</a:t>
            </a:fld>
            <a:endParaRPr lang="en-IN"/>
          </a:p>
        </p:txBody>
      </p:sp>
    </p:spTree>
    <p:extLst>
      <p:ext uri="{BB962C8B-B14F-4D97-AF65-F5344CB8AC3E}">
        <p14:creationId xmlns:p14="http://schemas.microsoft.com/office/powerpoint/2010/main" val="2289168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B5C80-13C3-4D77-37F9-4AE5825100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335904A-575C-4331-8341-4E49158AAB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813F8E0-FD85-7AF8-DB6D-B9BB8D4A808C}"/>
              </a:ext>
            </a:extLst>
          </p:cNvPr>
          <p:cNvSpPr>
            <a:spLocks noGrp="1"/>
          </p:cNvSpPr>
          <p:nvPr>
            <p:ph type="dt" sz="half" idx="10"/>
          </p:nvPr>
        </p:nvSpPr>
        <p:spPr/>
        <p:txBody>
          <a:bodyPr/>
          <a:lstStyle/>
          <a:p>
            <a:fld id="{2BF03322-03FD-44A4-BF8B-B63D6F78D95B}" type="datetimeFigureOut">
              <a:rPr lang="en-IN" smtClean="0"/>
              <a:t>20-07-2026</a:t>
            </a:fld>
            <a:endParaRPr lang="en-IN"/>
          </a:p>
        </p:txBody>
      </p:sp>
      <p:sp>
        <p:nvSpPr>
          <p:cNvPr id="5" name="Footer Placeholder 4">
            <a:extLst>
              <a:ext uri="{FF2B5EF4-FFF2-40B4-BE49-F238E27FC236}">
                <a16:creationId xmlns:a16="http://schemas.microsoft.com/office/drawing/2014/main" id="{5701F7E5-287E-A1C3-5D2F-2DCFC1D4A1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A93499-2730-6BD5-91A4-31113A357212}"/>
              </a:ext>
            </a:extLst>
          </p:cNvPr>
          <p:cNvSpPr>
            <a:spLocks noGrp="1"/>
          </p:cNvSpPr>
          <p:nvPr>
            <p:ph type="sldNum" sz="quarter" idx="12"/>
          </p:nvPr>
        </p:nvSpPr>
        <p:spPr/>
        <p:txBody>
          <a:bodyPr/>
          <a:lstStyle/>
          <a:p>
            <a:fld id="{B7E44F5D-FD3C-4B5A-930F-68F83B8C24A6}" type="slidenum">
              <a:rPr lang="en-IN" smtClean="0"/>
              <a:t>‹#›</a:t>
            </a:fld>
            <a:endParaRPr lang="en-IN"/>
          </a:p>
        </p:txBody>
      </p:sp>
    </p:spTree>
    <p:extLst>
      <p:ext uri="{BB962C8B-B14F-4D97-AF65-F5344CB8AC3E}">
        <p14:creationId xmlns:p14="http://schemas.microsoft.com/office/powerpoint/2010/main" val="1595433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2619E-32CF-0D4B-BAEF-3694C9F8B1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9B0E3FF-EA25-278A-1B85-7A30B75326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1E8F0F-0621-4F1C-A597-861A1CF7302E}"/>
              </a:ext>
            </a:extLst>
          </p:cNvPr>
          <p:cNvSpPr>
            <a:spLocks noGrp="1"/>
          </p:cNvSpPr>
          <p:nvPr>
            <p:ph type="dt" sz="half" idx="10"/>
          </p:nvPr>
        </p:nvSpPr>
        <p:spPr/>
        <p:txBody>
          <a:bodyPr/>
          <a:lstStyle/>
          <a:p>
            <a:fld id="{2BF03322-03FD-44A4-BF8B-B63D6F78D95B}" type="datetimeFigureOut">
              <a:rPr lang="en-IN" smtClean="0"/>
              <a:t>20-07-2026</a:t>
            </a:fld>
            <a:endParaRPr lang="en-IN"/>
          </a:p>
        </p:txBody>
      </p:sp>
      <p:sp>
        <p:nvSpPr>
          <p:cNvPr id="5" name="Footer Placeholder 4">
            <a:extLst>
              <a:ext uri="{FF2B5EF4-FFF2-40B4-BE49-F238E27FC236}">
                <a16:creationId xmlns:a16="http://schemas.microsoft.com/office/drawing/2014/main" id="{4361AC12-796A-0487-56BD-D0BCCFD867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2A2512-D14C-371F-6029-93C5124728DD}"/>
              </a:ext>
            </a:extLst>
          </p:cNvPr>
          <p:cNvSpPr>
            <a:spLocks noGrp="1"/>
          </p:cNvSpPr>
          <p:nvPr>
            <p:ph type="sldNum" sz="quarter" idx="12"/>
          </p:nvPr>
        </p:nvSpPr>
        <p:spPr/>
        <p:txBody>
          <a:bodyPr/>
          <a:lstStyle/>
          <a:p>
            <a:fld id="{B7E44F5D-FD3C-4B5A-930F-68F83B8C24A6}" type="slidenum">
              <a:rPr lang="en-IN" smtClean="0"/>
              <a:t>‹#›</a:t>
            </a:fld>
            <a:endParaRPr lang="en-IN"/>
          </a:p>
        </p:txBody>
      </p:sp>
    </p:spTree>
    <p:extLst>
      <p:ext uri="{BB962C8B-B14F-4D97-AF65-F5344CB8AC3E}">
        <p14:creationId xmlns:p14="http://schemas.microsoft.com/office/powerpoint/2010/main" val="354109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978B5-4227-45D5-98EB-A35BCCB036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903A8CB-BDC5-0C31-B75B-78772143E8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F24073-79BC-62B8-5C51-EDB88C603175}"/>
              </a:ext>
            </a:extLst>
          </p:cNvPr>
          <p:cNvSpPr>
            <a:spLocks noGrp="1"/>
          </p:cNvSpPr>
          <p:nvPr>
            <p:ph type="dt" sz="half" idx="10"/>
          </p:nvPr>
        </p:nvSpPr>
        <p:spPr/>
        <p:txBody>
          <a:bodyPr/>
          <a:lstStyle/>
          <a:p>
            <a:fld id="{2BF03322-03FD-44A4-BF8B-B63D6F78D95B}" type="datetimeFigureOut">
              <a:rPr lang="en-IN" smtClean="0"/>
              <a:t>20-07-2026</a:t>
            </a:fld>
            <a:endParaRPr lang="en-IN"/>
          </a:p>
        </p:txBody>
      </p:sp>
      <p:sp>
        <p:nvSpPr>
          <p:cNvPr id="5" name="Footer Placeholder 4">
            <a:extLst>
              <a:ext uri="{FF2B5EF4-FFF2-40B4-BE49-F238E27FC236}">
                <a16:creationId xmlns:a16="http://schemas.microsoft.com/office/drawing/2014/main" id="{415C39AA-27EC-3ABC-61E2-F275B10675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57AF05-9CAF-ACE0-42A2-087D57171242}"/>
              </a:ext>
            </a:extLst>
          </p:cNvPr>
          <p:cNvSpPr>
            <a:spLocks noGrp="1"/>
          </p:cNvSpPr>
          <p:nvPr>
            <p:ph type="sldNum" sz="quarter" idx="12"/>
          </p:nvPr>
        </p:nvSpPr>
        <p:spPr/>
        <p:txBody>
          <a:bodyPr/>
          <a:lstStyle/>
          <a:p>
            <a:fld id="{B7E44F5D-FD3C-4B5A-930F-68F83B8C24A6}" type="slidenum">
              <a:rPr lang="en-IN" smtClean="0"/>
              <a:t>‹#›</a:t>
            </a:fld>
            <a:endParaRPr lang="en-IN"/>
          </a:p>
        </p:txBody>
      </p:sp>
    </p:spTree>
    <p:extLst>
      <p:ext uri="{BB962C8B-B14F-4D97-AF65-F5344CB8AC3E}">
        <p14:creationId xmlns:p14="http://schemas.microsoft.com/office/powerpoint/2010/main" val="3924602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53E4F-1A6C-498D-3FDA-9E65C113E9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5D986B-C9DB-3AF3-CAB3-878658D658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669A442-83A5-7CDC-56BF-C85F78B8C1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BCF7222-08FC-AE3E-223D-834A40FE7C73}"/>
              </a:ext>
            </a:extLst>
          </p:cNvPr>
          <p:cNvSpPr>
            <a:spLocks noGrp="1"/>
          </p:cNvSpPr>
          <p:nvPr>
            <p:ph type="dt" sz="half" idx="10"/>
          </p:nvPr>
        </p:nvSpPr>
        <p:spPr/>
        <p:txBody>
          <a:bodyPr/>
          <a:lstStyle/>
          <a:p>
            <a:fld id="{2BF03322-03FD-44A4-BF8B-B63D6F78D95B}" type="datetimeFigureOut">
              <a:rPr lang="en-IN" smtClean="0"/>
              <a:t>20-07-2026</a:t>
            </a:fld>
            <a:endParaRPr lang="en-IN"/>
          </a:p>
        </p:txBody>
      </p:sp>
      <p:sp>
        <p:nvSpPr>
          <p:cNvPr id="6" name="Footer Placeholder 5">
            <a:extLst>
              <a:ext uri="{FF2B5EF4-FFF2-40B4-BE49-F238E27FC236}">
                <a16:creationId xmlns:a16="http://schemas.microsoft.com/office/drawing/2014/main" id="{9249E4FD-3017-14AB-BB5C-43C91646547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29E699-E27B-B94F-3802-309B044B5C28}"/>
              </a:ext>
            </a:extLst>
          </p:cNvPr>
          <p:cNvSpPr>
            <a:spLocks noGrp="1"/>
          </p:cNvSpPr>
          <p:nvPr>
            <p:ph type="sldNum" sz="quarter" idx="12"/>
          </p:nvPr>
        </p:nvSpPr>
        <p:spPr/>
        <p:txBody>
          <a:bodyPr/>
          <a:lstStyle/>
          <a:p>
            <a:fld id="{B7E44F5D-FD3C-4B5A-930F-68F83B8C24A6}" type="slidenum">
              <a:rPr lang="en-IN" smtClean="0"/>
              <a:t>‹#›</a:t>
            </a:fld>
            <a:endParaRPr lang="en-IN"/>
          </a:p>
        </p:txBody>
      </p:sp>
    </p:spTree>
    <p:extLst>
      <p:ext uri="{BB962C8B-B14F-4D97-AF65-F5344CB8AC3E}">
        <p14:creationId xmlns:p14="http://schemas.microsoft.com/office/powerpoint/2010/main" val="1161599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70AE6-3CEC-E2CE-866E-001F47CFCB8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B67A1D5-B427-3430-0097-77B4F6EC78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AE87C0-6A5C-87A8-432E-2A7E6CA6C1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1791A2-CE16-3FBC-4B47-82DC21B2C6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8167C9-F87C-EBC0-DFB6-51F126A202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C04738E-B82E-5B58-C32C-00D373BE1FF2}"/>
              </a:ext>
            </a:extLst>
          </p:cNvPr>
          <p:cNvSpPr>
            <a:spLocks noGrp="1"/>
          </p:cNvSpPr>
          <p:nvPr>
            <p:ph type="dt" sz="half" idx="10"/>
          </p:nvPr>
        </p:nvSpPr>
        <p:spPr/>
        <p:txBody>
          <a:bodyPr/>
          <a:lstStyle/>
          <a:p>
            <a:fld id="{2BF03322-03FD-44A4-BF8B-B63D6F78D95B}" type="datetimeFigureOut">
              <a:rPr lang="en-IN" smtClean="0"/>
              <a:t>20-07-2026</a:t>
            </a:fld>
            <a:endParaRPr lang="en-IN"/>
          </a:p>
        </p:txBody>
      </p:sp>
      <p:sp>
        <p:nvSpPr>
          <p:cNvPr id="8" name="Footer Placeholder 7">
            <a:extLst>
              <a:ext uri="{FF2B5EF4-FFF2-40B4-BE49-F238E27FC236}">
                <a16:creationId xmlns:a16="http://schemas.microsoft.com/office/drawing/2014/main" id="{4B4B12F2-FF1E-0E56-B388-A47A175785B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6A510A5-92BB-A0A0-13C5-AC58A5D1FEB8}"/>
              </a:ext>
            </a:extLst>
          </p:cNvPr>
          <p:cNvSpPr>
            <a:spLocks noGrp="1"/>
          </p:cNvSpPr>
          <p:nvPr>
            <p:ph type="sldNum" sz="quarter" idx="12"/>
          </p:nvPr>
        </p:nvSpPr>
        <p:spPr/>
        <p:txBody>
          <a:bodyPr/>
          <a:lstStyle/>
          <a:p>
            <a:fld id="{B7E44F5D-FD3C-4B5A-930F-68F83B8C24A6}" type="slidenum">
              <a:rPr lang="en-IN" smtClean="0"/>
              <a:t>‹#›</a:t>
            </a:fld>
            <a:endParaRPr lang="en-IN"/>
          </a:p>
        </p:txBody>
      </p:sp>
    </p:spTree>
    <p:extLst>
      <p:ext uri="{BB962C8B-B14F-4D97-AF65-F5344CB8AC3E}">
        <p14:creationId xmlns:p14="http://schemas.microsoft.com/office/powerpoint/2010/main" val="1493726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B2DA3-6E5A-31A7-098F-FEB07FF4B3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875E50-B219-470F-6317-3C14622A2983}"/>
              </a:ext>
            </a:extLst>
          </p:cNvPr>
          <p:cNvSpPr>
            <a:spLocks noGrp="1"/>
          </p:cNvSpPr>
          <p:nvPr>
            <p:ph type="dt" sz="half" idx="10"/>
          </p:nvPr>
        </p:nvSpPr>
        <p:spPr/>
        <p:txBody>
          <a:bodyPr/>
          <a:lstStyle/>
          <a:p>
            <a:fld id="{2BF03322-03FD-44A4-BF8B-B63D6F78D95B}" type="datetimeFigureOut">
              <a:rPr lang="en-IN" smtClean="0"/>
              <a:t>20-07-2026</a:t>
            </a:fld>
            <a:endParaRPr lang="en-IN"/>
          </a:p>
        </p:txBody>
      </p:sp>
      <p:sp>
        <p:nvSpPr>
          <p:cNvPr id="4" name="Footer Placeholder 3">
            <a:extLst>
              <a:ext uri="{FF2B5EF4-FFF2-40B4-BE49-F238E27FC236}">
                <a16:creationId xmlns:a16="http://schemas.microsoft.com/office/drawing/2014/main" id="{62602329-E85A-A913-C0D0-16131AB708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D6610FC-C019-14D3-92EB-785C1B3BA6DF}"/>
              </a:ext>
            </a:extLst>
          </p:cNvPr>
          <p:cNvSpPr>
            <a:spLocks noGrp="1"/>
          </p:cNvSpPr>
          <p:nvPr>
            <p:ph type="sldNum" sz="quarter" idx="12"/>
          </p:nvPr>
        </p:nvSpPr>
        <p:spPr/>
        <p:txBody>
          <a:bodyPr/>
          <a:lstStyle/>
          <a:p>
            <a:fld id="{B7E44F5D-FD3C-4B5A-930F-68F83B8C24A6}" type="slidenum">
              <a:rPr lang="en-IN" smtClean="0"/>
              <a:t>‹#›</a:t>
            </a:fld>
            <a:endParaRPr lang="en-IN"/>
          </a:p>
        </p:txBody>
      </p:sp>
    </p:spTree>
    <p:extLst>
      <p:ext uri="{BB962C8B-B14F-4D97-AF65-F5344CB8AC3E}">
        <p14:creationId xmlns:p14="http://schemas.microsoft.com/office/powerpoint/2010/main" val="92881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E24505-DDE4-AF75-81AE-64664F700F33}"/>
              </a:ext>
            </a:extLst>
          </p:cNvPr>
          <p:cNvSpPr>
            <a:spLocks noGrp="1"/>
          </p:cNvSpPr>
          <p:nvPr>
            <p:ph type="dt" sz="half" idx="10"/>
          </p:nvPr>
        </p:nvSpPr>
        <p:spPr/>
        <p:txBody>
          <a:bodyPr/>
          <a:lstStyle/>
          <a:p>
            <a:fld id="{2BF03322-03FD-44A4-BF8B-B63D6F78D95B}" type="datetimeFigureOut">
              <a:rPr lang="en-IN" smtClean="0"/>
              <a:t>20-07-2026</a:t>
            </a:fld>
            <a:endParaRPr lang="en-IN"/>
          </a:p>
        </p:txBody>
      </p:sp>
      <p:sp>
        <p:nvSpPr>
          <p:cNvPr id="3" name="Footer Placeholder 2">
            <a:extLst>
              <a:ext uri="{FF2B5EF4-FFF2-40B4-BE49-F238E27FC236}">
                <a16:creationId xmlns:a16="http://schemas.microsoft.com/office/drawing/2014/main" id="{AECB50D0-BC2A-320A-4529-1D7A214C1E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9CC0C01-7DC1-7CDD-D5E9-27CC724A344F}"/>
              </a:ext>
            </a:extLst>
          </p:cNvPr>
          <p:cNvSpPr>
            <a:spLocks noGrp="1"/>
          </p:cNvSpPr>
          <p:nvPr>
            <p:ph type="sldNum" sz="quarter" idx="12"/>
          </p:nvPr>
        </p:nvSpPr>
        <p:spPr/>
        <p:txBody>
          <a:bodyPr/>
          <a:lstStyle/>
          <a:p>
            <a:fld id="{B7E44F5D-FD3C-4B5A-930F-68F83B8C24A6}" type="slidenum">
              <a:rPr lang="en-IN" smtClean="0"/>
              <a:t>‹#›</a:t>
            </a:fld>
            <a:endParaRPr lang="en-IN"/>
          </a:p>
        </p:txBody>
      </p:sp>
    </p:spTree>
    <p:extLst>
      <p:ext uri="{BB962C8B-B14F-4D97-AF65-F5344CB8AC3E}">
        <p14:creationId xmlns:p14="http://schemas.microsoft.com/office/powerpoint/2010/main" val="3998750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B8669-9F62-6311-74C9-9A85DD1202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7390A82-1051-209F-8782-A986E26E48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A282C98-9F3F-D5BD-D037-97FDBC7F18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6423B8-DCAD-207A-8956-0D8AAF921629}"/>
              </a:ext>
            </a:extLst>
          </p:cNvPr>
          <p:cNvSpPr>
            <a:spLocks noGrp="1"/>
          </p:cNvSpPr>
          <p:nvPr>
            <p:ph type="dt" sz="half" idx="10"/>
          </p:nvPr>
        </p:nvSpPr>
        <p:spPr/>
        <p:txBody>
          <a:bodyPr/>
          <a:lstStyle/>
          <a:p>
            <a:fld id="{2BF03322-03FD-44A4-BF8B-B63D6F78D95B}" type="datetimeFigureOut">
              <a:rPr lang="en-IN" smtClean="0"/>
              <a:t>20-07-2026</a:t>
            </a:fld>
            <a:endParaRPr lang="en-IN"/>
          </a:p>
        </p:txBody>
      </p:sp>
      <p:sp>
        <p:nvSpPr>
          <p:cNvPr id="6" name="Footer Placeholder 5">
            <a:extLst>
              <a:ext uri="{FF2B5EF4-FFF2-40B4-BE49-F238E27FC236}">
                <a16:creationId xmlns:a16="http://schemas.microsoft.com/office/drawing/2014/main" id="{EB92BA13-708C-C76E-DA39-9C3FD46482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76C565-7FD7-AFDA-C58F-90FA820C7725}"/>
              </a:ext>
            </a:extLst>
          </p:cNvPr>
          <p:cNvSpPr>
            <a:spLocks noGrp="1"/>
          </p:cNvSpPr>
          <p:nvPr>
            <p:ph type="sldNum" sz="quarter" idx="12"/>
          </p:nvPr>
        </p:nvSpPr>
        <p:spPr/>
        <p:txBody>
          <a:bodyPr/>
          <a:lstStyle/>
          <a:p>
            <a:fld id="{B7E44F5D-FD3C-4B5A-930F-68F83B8C24A6}" type="slidenum">
              <a:rPr lang="en-IN" smtClean="0"/>
              <a:t>‹#›</a:t>
            </a:fld>
            <a:endParaRPr lang="en-IN"/>
          </a:p>
        </p:txBody>
      </p:sp>
    </p:spTree>
    <p:extLst>
      <p:ext uri="{BB962C8B-B14F-4D97-AF65-F5344CB8AC3E}">
        <p14:creationId xmlns:p14="http://schemas.microsoft.com/office/powerpoint/2010/main" val="519694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5E11D-6017-2192-269E-13C5BE9890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58B058-9575-DDA9-AB49-98A553FEF4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E331BAF-3CF0-6E2F-46EA-E4519F8DC0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20B9A7-B572-51E1-B886-B7D07DF54357}"/>
              </a:ext>
            </a:extLst>
          </p:cNvPr>
          <p:cNvSpPr>
            <a:spLocks noGrp="1"/>
          </p:cNvSpPr>
          <p:nvPr>
            <p:ph type="dt" sz="half" idx="10"/>
          </p:nvPr>
        </p:nvSpPr>
        <p:spPr/>
        <p:txBody>
          <a:bodyPr/>
          <a:lstStyle/>
          <a:p>
            <a:fld id="{2BF03322-03FD-44A4-BF8B-B63D6F78D95B}" type="datetimeFigureOut">
              <a:rPr lang="en-IN" smtClean="0"/>
              <a:t>20-07-2026</a:t>
            </a:fld>
            <a:endParaRPr lang="en-IN"/>
          </a:p>
        </p:txBody>
      </p:sp>
      <p:sp>
        <p:nvSpPr>
          <p:cNvPr id="6" name="Footer Placeholder 5">
            <a:extLst>
              <a:ext uri="{FF2B5EF4-FFF2-40B4-BE49-F238E27FC236}">
                <a16:creationId xmlns:a16="http://schemas.microsoft.com/office/drawing/2014/main" id="{7AFFF377-6B57-AD59-DEFF-DA7560C222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E9F947-64EE-896E-7408-4F7D6551BF95}"/>
              </a:ext>
            </a:extLst>
          </p:cNvPr>
          <p:cNvSpPr>
            <a:spLocks noGrp="1"/>
          </p:cNvSpPr>
          <p:nvPr>
            <p:ph type="sldNum" sz="quarter" idx="12"/>
          </p:nvPr>
        </p:nvSpPr>
        <p:spPr/>
        <p:txBody>
          <a:bodyPr/>
          <a:lstStyle/>
          <a:p>
            <a:fld id="{B7E44F5D-FD3C-4B5A-930F-68F83B8C24A6}" type="slidenum">
              <a:rPr lang="en-IN" smtClean="0"/>
              <a:t>‹#›</a:t>
            </a:fld>
            <a:endParaRPr lang="en-IN"/>
          </a:p>
        </p:txBody>
      </p:sp>
    </p:spTree>
    <p:extLst>
      <p:ext uri="{BB962C8B-B14F-4D97-AF65-F5344CB8AC3E}">
        <p14:creationId xmlns:p14="http://schemas.microsoft.com/office/powerpoint/2010/main" val="915211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44779-0AF2-9D2E-E25A-6280C57C5FB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16A21B-9D7D-DC6F-7DFA-395BC70630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A4E17B-53C5-893A-6AD8-DB1D215DB735}"/>
              </a:ext>
            </a:extLst>
          </p:cNvPr>
          <p:cNvSpPr>
            <a:spLocks noGrp="1"/>
          </p:cNvSpPr>
          <p:nvPr>
            <p:ph type="dt" sz="half" idx="10"/>
          </p:nvPr>
        </p:nvSpPr>
        <p:spPr/>
        <p:txBody>
          <a:bodyPr/>
          <a:lstStyle/>
          <a:p>
            <a:fld id="{2BF03322-03FD-44A4-BF8B-B63D6F78D95B}" type="datetimeFigureOut">
              <a:rPr lang="en-IN" smtClean="0"/>
              <a:t>20-07-2026</a:t>
            </a:fld>
            <a:endParaRPr lang="en-IN"/>
          </a:p>
        </p:txBody>
      </p:sp>
      <p:sp>
        <p:nvSpPr>
          <p:cNvPr id="5" name="Footer Placeholder 4">
            <a:extLst>
              <a:ext uri="{FF2B5EF4-FFF2-40B4-BE49-F238E27FC236}">
                <a16:creationId xmlns:a16="http://schemas.microsoft.com/office/drawing/2014/main" id="{48BE2D22-F19D-7C97-34C4-9C7CAA2719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EAC62B-11C1-D18C-889F-F93ABB15299F}"/>
              </a:ext>
            </a:extLst>
          </p:cNvPr>
          <p:cNvSpPr>
            <a:spLocks noGrp="1"/>
          </p:cNvSpPr>
          <p:nvPr>
            <p:ph type="sldNum" sz="quarter" idx="12"/>
          </p:nvPr>
        </p:nvSpPr>
        <p:spPr/>
        <p:txBody>
          <a:bodyPr/>
          <a:lstStyle/>
          <a:p>
            <a:fld id="{B7E44F5D-FD3C-4B5A-930F-68F83B8C24A6}" type="slidenum">
              <a:rPr lang="en-IN" smtClean="0"/>
              <a:t>‹#›</a:t>
            </a:fld>
            <a:endParaRPr lang="en-IN"/>
          </a:p>
        </p:txBody>
      </p:sp>
    </p:spTree>
    <p:extLst>
      <p:ext uri="{BB962C8B-B14F-4D97-AF65-F5344CB8AC3E}">
        <p14:creationId xmlns:p14="http://schemas.microsoft.com/office/powerpoint/2010/main" val="3001934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8BBC69-83BB-2DFA-D29E-E7EB6DD0B1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40C17E-5D1B-EE12-4184-7CEACEFEAB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FDA4C8-A173-630C-CA69-C68AB4FBC584}"/>
              </a:ext>
            </a:extLst>
          </p:cNvPr>
          <p:cNvSpPr>
            <a:spLocks noGrp="1"/>
          </p:cNvSpPr>
          <p:nvPr>
            <p:ph type="dt" sz="half" idx="10"/>
          </p:nvPr>
        </p:nvSpPr>
        <p:spPr/>
        <p:txBody>
          <a:bodyPr/>
          <a:lstStyle/>
          <a:p>
            <a:fld id="{2BF03322-03FD-44A4-BF8B-B63D6F78D95B}" type="datetimeFigureOut">
              <a:rPr lang="en-IN" smtClean="0"/>
              <a:t>20-07-2026</a:t>
            </a:fld>
            <a:endParaRPr lang="en-IN"/>
          </a:p>
        </p:txBody>
      </p:sp>
      <p:sp>
        <p:nvSpPr>
          <p:cNvPr id="5" name="Footer Placeholder 4">
            <a:extLst>
              <a:ext uri="{FF2B5EF4-FFF2-40B4-BE49-F238E27FC236}">
                <a16:creationId xmlns:a16="http://schemas.microsoft.com/office/drawing/2014/main" id="{1A9BEF17-AA79-4D91-BF92-E7F1A6017A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FA8C94-86DE-B6C5-36B7-047CA6485721}"/>
              </a:ext>
            </a:extLst>
          </p:cNvPr>
          <p:cNvSpPr>
            <a:spLocks noGrp="1"/>
          </p:cNvSpPr>
          <p:nvPr>
            <p:ph type="sldNum" sz="quarter" idx="12"/>
          </p:nvPr>
        </p:nvSpPr>
        <p:spPr/>
        <p:txBody>
          <a:bodyPr/>
          <a:lstStyle/>
          <a:p>
            <a:fld id="{B7E44F5D-FD3C-4B5A-930F-68F83B8C24A6}" type="slidenum">
              <a:rPr lang="en-IN" smtClean="0"/>
              <a:t>‹#›</a:t>
            </a:fld>
            <a:endParaRPr lang="en-IN"/>
          </a:p>
        </p:txBody>
      </p:sp>
    </p:spTree>
    <p:extLst>
      <p:ext uri="{BB962C8B-B14F-4D97-AF65-F5344CB8AC3E}">
        <p14:creationId xmlns:p14="http://schemas.microsoft.com/office/powerpoint/2010/main" val="3312616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2AC89C-8248-D919-7A9A-8273452934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DE669E-4AC9-C7C3-048A-11C63BD53C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01A49B-8D14-4C72-7EAE-A914A9BE7D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F03322-03FD-44A4-BF8B-B63D6F78D95B}" type="datetimeFigureOut">
              <a:rPr lang="en-IN" smtClean="0"/>
              <a:t>20-07-2026</a:t>
            </a:fld>
            <a:endParaRPr lang="en-IN"/>
          </a:p>
        </p:txBody>
      </p:sp>
      <p:sp>
        <p:nvSpPr>
          <p:cNvPr id="5" name="Footer Placeholder 4">
            <a:extLst>
              <a:ext uri="{FF2B5EF4-FFF2-40B4-BE49-F238E27FC236}">
                <a16:creationId xmlns:a16="http://schemas.microsoft.com/office/drawing/2014/main" id="{4A1EA32D-AA0F-B343-9AAB-FBF8951910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642DF30-7D61-2690-A047-1BD3ABDB06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E44F5D-FD3C-4B5A-930F-68F83B8C24A6}" type="slidenum">
              <a:rPr lang="en-IN" smtClean="0"/>
              <a:t>‹#›</a:t>
            </a:fld>
            <a:endParaRPr lang="en-IN"/>
          </a:p>
        </p:txBody>
      </p:sp>
    </p:spTree>
    <p:extLst>
      <p:ext uri="{BB962C8B-B14F-4D97-AF65-F5344CB8AC3E}">
        <p14:creationId xmlns:p14="http://schemas.microsoft.com/office/powerpoint/2010/main" val="754252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geeksforgeeks.org/blogs/challenges-of-software-developer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software-engineering/software-engineering-software-project-management-spm/" TargetMode="External"/><Relationship Id="rId2" Type="http://schemas.openxmlformats.org/officeDocument/2006/relationships/hyperlink" Target="https://www.geeksforgeeks.org/software-engineering/software-engineering-software-quality/"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geeksforgeeks.org/software-engineering/software-engineering-introduction-to-software-engineerin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www.geeksforgeeks.org/software-engineering/software-engineering-agile-development-models/" TargetMode="External"/><Relationship Id="rId7" Type="http://schemas.openxmlformats.org/officeDocument/2006/relationships/hyperlink" Target="https://www.geeksforgeeks.org/software-engineering/software-engineering-rapid-application-development-model-rad/" TargetMode="External"/><Relationship Id="rId2" Type="http://schemas.openxmlformats.org/officeDocument/2006/relationships/hyperlink" Target="https://www.geeksforgeeks.org/software-engineering/waterfall-model/" TargetMode="External"/><Relationship Id="rId1" Type="http://schemas.openxmlformats.org/officeDocument/2006/relationships/slideLayout" Target="../slideLayouts/slideLayout2.xml"/><Relationship Id="rId6" Type="http://schemas.openxmlformats.org/officeDocument/2006/relationships/hyperlink" Target="https://www.geeksforgeeks.org/software-engineering/software-engineering-incremental-process-model/" TargetMode="External"/><Relationship Id="rId5" Type="http://schemas.openxmlformats.org/officeDocument/2006/relationships/hyperlink" Target="https://www.geeksforgeeks.org/software-engineering/software-engineering-spiral-model/" TargetMode="External"/><Relationship Id="rId4" Type="http://schemas.openxmlformats.org/officeDocument/2006/relationships/hyperlink" Target="https://www.geeksforgeeks.org/software-engineering/software-engineering-sdlc-v-mode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37E32-E942-0FB3-D3AF-6A5ADC592351}"/>
              </a:ext>
            </a:extLst>
          </p:cNvPr>
          <p:cNvSpPr>
            <a:spLocks noGrp="1"/>
          </p:cNvSpPr>
          <p:nvPr>
            <p:ph type="ctrTitle"/>
          </p:nvPr>
        </p:nvSpPr>
        <p:spPr/>
        <p:txBody>
          <a:bodyPr/>
          <a:lstStyle/>
          <a:p>
            <a:r>
              <a:rPr lang="en-IN" dirty="0"/>
              <a:t>Software Engineering</a:t>
            </a:r>
          </a:p>
        </p:txBody>
      </p:sp>
      <p:sp>
        <p:nvSpPr>
          <p:cNvPr id="3" name="Subtitle 2">
            <a:extLst>
              <a:ext uri="{FF2B5EF4-FFF2-40B4-BE49-F238E27FC236}">
                <a16:creationId xmlns:a16="http://schemas.microsoft.com/office/drawing/2014/main" id="{28C4BB53-356C-6168-C371-A1AE7765D7A3}"/>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74110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CD4AE-33E5-72FF-9ABD-59287B1C259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61DAD16-6E03-A29C-B7A6-7C08A2C40A42}"/>
              </a:ext>
            </a:extLst>
          </p:cNvPr>
          <p:cNvSpPr>
            <a:spLocks noGrp="1"/>
          </p:cNvSpPr>
          <p:nvPr>
            <p:ph idx="1"/>
          </p:nvPr>
        </p:nvSpPr>
        <p:spPr/>
        <p:txBody>
          <a:bodyPr/>
          <a:lstStyle/>
          <a:p>
            <a:r>
              <a:rPr lang="en-IN" dirty="0"/>
              <a:t>Evaluation Scheme Theory: </a:t>
            </a:r>
          </a:p>
          <a:p>
            <a:endParaRPr lang="en-IN" dirty="0"/>
          </a:p>
          <a:p>
            <a:r>
              <a:rPr lang="en-IN" dirty="0"/>
              <a:t>MSE: 30 Marks, TA: 20 Marks, ESE: 50 </a:t>
            </a:r>
          </a:p>
          <a:p>
            <a:endParaRPr lang="en-IN" dirty="0"/>
          </a:p>
          <a:p>
            <a:r>
              <a:rPr lang="en-IN" dirty="0"/>
              <a:t>Marks Laboratory: CIE: 50 Marks,  ESE: 50 Marks</a:t>
            </a:r>
          </a:p>
        </p:txBody>
      </p:sp>
    </p:spTree>
    <p:extLst>
      <p:ext uri="{BB962C8B-B14F-4D97-AF65-F5344CB8AC3E}">
        <p14:creationId xmlns:p14="http://schemas.microsoft.com/office/powerpoint/2010/main" val="4158106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6637E-6EF4-F1AB-A5F1-12BF2E99D0AE}"/>
              </a:ext>
            </a:extLst>
          </p:cNvPr>
          <p:cNvSpPr>
            <a:spLocks noGrp="1"/>
          </p:cNvSpPr>
          <p:nvPr>
            <p:ph type="title"/>
          </p:nvPr>
        </p:nvSpPr>
        <p:spPr>
          <a:xfrm>
            <a:off x="838200" y="103868"/>
            <a:ext cx="10515600" cy="1325563"/>
          </a:xfrm>
        </p:spPr>
        <p:txBody>
          <a:bodyPr>
            <a:normAutofit/>
          </a:bodyPr>
          <a:lstStyle/>
          <a:p>
            <a:r>
              <a:rPr lang="en-IN" sz="2800" dirty="0"/>
              <a:t>Software Engineering</a:t>
            </a:r>
          </a:p>
        </p:txBody>
      </p:sp>
      <p:sp>
        <p:nvSpPr>
          <p:cNvPr id="3" name="Content Placeholder 2">
            <a:extLst>
              <a:ext uri="{FF2B5EF4-FFF2-40B4-BE49-F238E27FC236}">
                <a16:creationId xmlns:a16="http://schemas.microsoft.com/office/drawing/2014/main" id="{61EFF87D-9597-E66C-2081-C15E825F4DB2}"/>
              </a:ext>
            </a:extLst>
          </p:cNvPr>
          <p:cNvSpPr>
            <a:spLocks noGrp="1"/>
          </p:cNvSpPr>
          <p:nvPr>
            <p:ph idx="1"/>
          </p:nvPr>
        </p:nvSpPr>
        <p:spPr>
          <a:xfrm>
            <a:off x="838200" y="1306286"/>
            <a:ext cx="10515600" cy="4942114"/>
          </a:xfrm>
        </p:spPr>
        <p:txBody>
          <a:bodyPr>
            <a:normAutofit lnSpcReduction="10000"/>
          </a:bodyPr>
          <a:lstStyle/>
          <a:p>
            <a:pPr>
              <a:lnSpc>
                <a:spcPct val="110000"/>
              </a:lnSpc>
            </a:pPr>
            <a:r>
              <a:rPr lang="en-IN" dirty="0"/>
              <a:t>Software Engineering is the systematic process of designing, developing, testing, and maintaining software to create reliable, efficient, and high-quality applications.</a:t>
            </a:r>
          </a:p>
          <a:p>
            <a:pPr fontAlgn="base">
              <a:lnSpc>
                <a:spcPct val="110000"/>
              </a:lnSpc>
            </a:pPr>
            <a:r>
              <a:rPr lang="en-IN" dirty="0"/>
              <a:t>It applies engineering principles, methods, and tools to develop software in a systematic manner.</a:t>
            </a:r>
          </a:p>
          <a:p>
            <a:pPr fontAlgn="base">
              <a:lnSpc>
                <a:spcPct val="110000"/>
              </a:lnSpc>
            </a:pPr>
            <a:r>
              <a:rPr lang="en-IN" dirty="0"/>
              <a:t>It supports teamwork, planning, documentation, testing, and maintenance to ensure successful software development throughout its lifecycle.</a:t>
            </a:r>
          </a:p>
          <a:p>
            <a:pPr fontAlgn="base">
              <a:lnSpc>
                <a:spcPct val="110000"/>
              </a:lnSpc>
            </a:pPr>
            <a:r>
              <a:rPr lang="en-IN" dirty="0"/>
              <a:t>It helps create software that meets user requirements while ensuring reliability, security, efficiency, and maintainability.</a:t>
            </a:r>
          </a:p>
          <a:p>
            <a:pPr marL="0" indent="0">
              <a:lnSpc>
                <a:spcPct val="110000"/>
              </a:lnSpc>
              <a:buNone/>
            </a:pPr>
            <a:endParaRPr lang="en-IN" dirty="0"/>
          </a:p>
        </p:txBody>
      </p:sp>
    </p:spTree>
    <p:extLst>
      <p:ext uri="{BB962C8B-B14F-4D97-AF65-F5344CB8AC3E}">
        <p14:creationId xmlns:p14="http://schemas.microsoft.com/office/powerpoint/2010/main" val="689883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18558-2D1C-AF43-CFEF-21261B8302A4}"/>
              </a:ext>
            </a:extLst>
          </p:cNvPr>
          <p:cNvSpPr>
            <a:spLocks noGrp="1"/>
          </p:cNvSpPr>
          <p:nvPr>
            <p:ph type="title"/>
          </p:nvPr>
        </p:nvSpPr>
        <p:spPr/>
        <p:txBody>
          <a:bodyPr/>
          <a:lstStyle/>
          <a:p>
            <a:r>
              <a:rPr lang="en-IN" b="1" dirty="0"/>
              <a:t>Need of Software Engineering</a:t>
            </a:r>
            <a:br>
              <a:rPr lang="en-IN" b="1" dirty="0"/>
            </a:br>
            <a:endParaRPr lang="en-IN" dirty="0"/>
          </a:p>
        </p:txBody>
      </p:sp>
      <p:sp>
        <p:nvSpPr>
          <p:cNvPr id="3" name="Content Placeholder 2">
            <a:extLst>
              <a:ext uri="{FF2B5EF4-FFF2-40B4-BE49-F238E27FC236}">
                <a16:creationId xmlns:a16="http://schemas.microsoft.com/office/drawing/2014/main" id="{03038E2F-CAEC-4D46-6BAE-1C82C44C35BE}"/>
              </a:ext>
            </a:extLst>
          </p:cNvPr>
          <p:cNvSpPr>
            <a:spLocks noGrp="1"/>
          </p:cNvSpPr>
          <p:nvPr>
            <p:ph idx="1"/>
          </p:nvPr>
        </p:nvSpPr>
        <p:spPr/>
        <p:txBody>
          <a:bodyPr/>
          <a:lstStyle/>
          <a:p>
            <a:pPr>
              <a:lnSpc>
                <a:spcPct val="150000"/>
              </a:lnSpc>
            </a:pPr>
            <a:r>
              <a:rPr lang="en-IN" dirty="0"/>
              <a:t>Software engineering is a technique through which we can develop or create software for computer systems or any other electronic devices.</a:t>
            </a:r>
          </a:p>
          <a:p>
            <a:pPr>
              <a:lnSpc>
                <a:spcPct val="150000"/>
              </a:lnSpc>
            </a:pPr>
            <a:r>
              <a:rPr lang="en-IN" dirty="0"/>
              <a:t> It is a systematic, scientific and disciplined approach to the development, functioning, and maintenance of software. </a:t>
            </a:r>
          </a:p>
        </p:txBody>
      </p:sp>
    </p:spTree>
    <p:extLst>
      <p:ext uri="{BB962C8B-B14F-4D97-AF65-F5344CB8AC3E}">
        <p14:creationId xmlns:p14="http://schemas.microsoft.com/office/powerpoint/2010/main" val="2792416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A16FD-C7BF-FF0B-4366-8A6F7D0B867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C7F7A12-8C67-8CCC-2ADF-54AAAF53227B}"/>
              </a:ext>
            </a:extLst>
          </p:cNvPr>
          <p:cNvPicPr>
            <a:picLocks noGrp="1" noChangeAspect="1"/>
          </p:cNvPicPr>
          <p:nvPr>
            <p:ph idx="1"/>
          </p:nvPr>
        </p:nvPicPr>
        <p:blipFill>
          <a:blip r:embed="rId2"/>
          <a:stretch>
            <a:fillRect/>
          </a:stretch>
        </p:blipFill>
        <p:spPr>
          <a:xfrm>
            <a:off x="762000" y="772885"/>
            <a:ext cx="10591800" cy="5312229"/>
          </a:xfrm>
          <a:prstGeom prst="rect">
            <a:avLst/>
          </a:prstGeom>
        </p:spPr>
      </p:pic>
    </p:spTree>
    <p:extLst>
      <p:ext uri="{BB962C8B-B14F-4D97-AF65-F5344CB8AC3E}">
        <p14:creationId xmlns:p14="http://schemas.microsoft.com/office/powerpoint/2010/main" val="1745502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43A5A-3AF4-D8BF-C987-5FE55CDBC40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6CBFD5E-2857-6926-746A-72926BB3E674}"/>
              </a:ext>
            </a:extLst>
          </p:cNvPr>
          <p:cNvSpPr>
            <a:spLocks noGrp="1"/>
          </p:cNvSpPr>
          <p:nvPr>
            <p:ph idx="1"/>
          </p:nvPr>
        </p:nvSpPr>
        <p:spPr/>
        <p:txBody>
          <a:bodyPr>
            <a:normAutofit/>
          </a:bodyPr>
          <a:lstStyle/>
          <a:p>
            <a:pPr fontAlgn="base"/>
            <a:r>
              <a:rPr lang="en-IN" b="1" dirty="0"/>
              <a:t>Handling Big Projects:</a:t>
            </a:r>
            <a:r>
              <a:rPr lang="en-IN" dirty="0"/>
              <a:t> A corporation must use a software engineering methodology in order to handle large projects without any issues.</a:t>
            </a:r>
          </a:p>
          <a:p>
            <a:pPr fontAlgn="base"/>
            <a:r>
              <a:rPr lang="en-IN" b="1" dirty="0"/>
              <a:t>To manage the cost:</a:t>
            </a:r>
            <a:r>
              <a:rPr lang="en-IN" dirty="0"/>
              <a:t> Software engineering programmers plan everything and reduce all those things that are not required.</a:t>
            </a:r>
          </a:p>
          <a:p>
            <a:pPr fontAlgn="base"/>
            <a:r>
              <a:rPr lang="en-IN" b="1" dirty="0"/>
              <a:t>To decrease time: </a:t>
            </a:r>
            <a:r>
              <a:rPr lang="en-IN" dirty="0"/>
              <a:t>It will save a lot of time if you are developing software using a software engineering technique.</a:t>
            </a:r>
          </a:p>
          <a:p>
            <a:pPr fontAlgn="base"/>
            <a:r>
              <a:rPr lang="en-IN" b="1" dirty="0"/>
              <a:t>Reliable software:</a:t>
            </a:r>
            <a:r>
              <a:rPr lang="en-IN" dirty="0"/>
              <a:t> It is the company's responsibility to deliver software products on schedule and to address any defects that may exist.</a:t>
            </a:r>
          </a:p>
          <a:p>
            <a:endParaRPr lang="en-IN" dirty="0"/>
          </a:p>
        </p:txBody>
      </p:sp>
    </p:spTree>
    <p:extLst>
      <p:ext uri="{BB962C8B-B14F-4D97-AF65-F5344CB8AC3E}">
        <p14:creationId xmlns:p14="http://schemas.microsoft.com/office/powerpoint/2010/main" val="4281839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A0CB8-38C8-5A0F-FFE5-16D2473F20F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7840998-8E4A-9590-38B5-55B4ADF2B4C7}"/>
              </a:ext>
            </a:extLst>
          </p:cNvPr>
          <p:cNvSpPr>
            <a:spLocks noGrp="1"/>
          </p:cNvSpPr>
          <p:nvPr>
            <p:ph idx="1"/>
          </p:nvPr>
        </p:nvSpPr>
        <p:spPr/>
        <p:txBody>
          <a:bodyPr/>
          <a:lstStyle/>
          <a:p>
            <a:pPr fontAlgn="base"/>
            <a:r>
              <a:rPr lang="en-IN" b="1" dirty="0"/>
              <a:t>Effectiveness:</a:t>
            </a:r>
            <a:r>
              <a:rPr lang="en-IN" dirty="0"/>
              <a:t> Effectiveness results from things being created in accordance with the standards.</a:t>
            </a:r>
            <a:endParaRPr lang="en-IN" b="1" dirty="0"/>
          </a:p>
          <a:p>
            <a:pPr fontAlgn="base"/>
            <a:r>
              <a:rPr lang="en-IN" b="1" dirty="0"/>
              <a:t>Reduces complexity:</a:t>
            </a:r>
            <a:r>
              <a:rPr lang="en-IN" dirty="0"/>
              <a:t> Large challenges are broken down into smaller ones and solved one at a time in software engineering. Individual solutions are found for each of these issues.</a:t>
            </a:r>
          </a:p>
          <a:p>
            <a:pPr fontAlgn="base"/>
            <a:r>
              <a:rPr lang="en-IN" b="1" dirty="0"/>
              <a:t>Productivity:</a:t>
            </a:r>
            <a:r>
              <a:rPr lang="en-IN" dirty="0"/>
              <a:t> Because it contains testing systems at every level, proper care is done to maintain software productivity.</a:t>
            </a:r>
          </a:p>
          <a:p>
            <a:endParaRPr lang="en-IN" dirty="0"/>
          </a:p>
        </p:txBody>
      </p:sp>
    </p:spTree>
    <p:extLst>
      <p:ext uri="{BB962C8B-B14F-4D97-AF65-F5344CB8AC3E}">
        <p14:creationId xmlns:p14="http://schemas.microsoft.com/office/powerpoint/2010/main" val="699263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39AA1-D635-D4AD-05CB-25D117D63005}"/>
              </a:ext>
            </a:extLst>
          </p:cNvPr>
          <p:cNvSpPr>
            <a:spLocks noGrp="1"/>
          </p:cNvSpPr>
          <p:nvPr>
            <p:ph type="title"/>
          </p:nvPr>
        </p:nvSpPr>
        <p:spPr/>
        <p:txBody>
          <a:bodyPr/>
          <a:lstStyle/>
          <a:p>
            <a:r>
              <a:rPr lang="en-IN" dirty="0"/>
              <a:t>Software Crisis and Myths, </a:t>
            </a:r>
          </a:p>
        </p:txBody>
      </p:sp>
      <p:sp>
        <p:nvSpPr>
          <p:cNvPr id="3" name="Content Placeholder 2">
            <a:extLst>
              <a:ext uri="{FF2B5EF4-FFF2-40B4-BE49-F238E27FC236}">
                <a16:creationId xmlns:a16="http://schemas.microsoft.com/office/drawing/2014/main" id="{A548A1C7-8C68-E72B-A085-355E48581187}"/>
              </a:ext>
            </a:extLst>
          </p:cNvPr>
          <p:cNvSpPr>
            <a:spLocks noGrp="1"/>
          </p:cNvSpPr>
          <p:nvPr>
            <p:ph idx="1"/>
          </p:nvPr>
        </p:nvSpPr>
        <p:spPr/>
        <p:txBody>
          <a:bodyPr>
            <a:normAutofit fontScale="92500"/>
          </a:bodyPr>
          <a:lstStyle/>
          <a:p>
            <a:pPr fontAlgn="base">
              <a:lnSpc>
                <a:spcPct val="150000"/>
              </a:lnSpc>
            </a:pPr>
            <a:r>
              <a:rPr lang="en-IN" b="1" dirty="0"/>
              <a:t>What is Software Crisis?</a:t>
            </a:r>
          </a:p>
          <a:p>
            <a:pPr fontAlgn="base">
              <a:lnSpc>
                <a:spcPct val="150000"/>
              </a:lnSpc>
            </a:pPr>
            <a:r>
              <a:rPr lang="en-IN" b="1" dirty="0"/>
              <a:t>Software Crisis</a:t>
            </a:r>
            <a:r>
              <a:rPr lang="en-IN" dirty="0"/>
              <a:t> is a term used in computer science for the difficulty of writing useful and efficient computer programs in the required time. </a:t>
            </a:r>
          </a:p>
          <a:p>
            <a:pPr>
              <a:lnSpc>
                <a:spcPct val="150000"/>
              </a:lnSpc>
            </a:pPr>
            <a:r>
              <a:rPr lang="en-IN" dirty="0"/>
              <a:t>The software crisis was due to using the same workforce, same methods, and same tools even though rapidly increasing software demand, the complexity of software, and </a:t>
            </a:r>
            <a:r>
              <a:rPr lang="en-IN" u="sng" dirty="0">
                <a:hlinkClick r:id="rId2"/>
              </a:rPr>
              <a:t>software challenges</a:t>
            </a:r>
            <a:r>
              <a:rPr lang="en-IN" dirty="0"/>
              <a:t>.</a:t>
            </a:r>
          </a:p>
        </p:txBody>
      </p:sp>
    </p:spTree>
    <p:extLst>
      <p:ext uri="{BB962C8B-B14F-4D97-AF65-F5344CB8AC3E}">
        <p14:creationId xmlns:p14="http://schemas.microsoft.com/office/powerpoint/2010/main" val="1594477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BCBC2-41AA-64D3-5161-8E2E650E424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DA04030-9B48-BE5A-DD7D-FF1A1F861490}"/>
              </a:ext>
            </a:extLst>
          </p:cNvPr>
          <p:cNvSpPr>
            <a:spLocks noGrp="1"/>
          </p:cNvSpPr>
          <p:nvPr>
            <p:ph idx="1"/>
          </p:nvPr>
        </p:nvSpPr>
        <p:spPr/>
        <p:txBody>
          <a:bodyPr>
            <a:normAutofit lnSpcReduction="10000"/>
          </a:bodyPr>
          <a:lstStyle/>
          <a:p>
            <a:pPr>
              <a:lnSpc>
                <a:spcPct val="150000"/>
              </a:lnSpc>
            </a:pPr>
            <a:r>
              <a:rPr lang="en-IN" dirty="0"/>
              <a:t>Suppose we use the same workforce, same methods, and same tools after the fast increase in software demand, software complexity, and software challenges. </a:t>
            </a:r>
          </a:p>
          <a:p>
            <a:pPr>
              <a:lnSpc>
                <a:spcPct val="150000"/>
              </a:lnSpc>
            </a:pPr>
            <a:r>
              <a:rPr lang="en-IN" dirty="0"/>
              <a:t>In that case, there arise some issues like software budget problems, software efficiency problems, </a:t>
            </a:r>
            <a:r>
              <a:rPr lang="en-IN" u="sng" dirty="0">
                <a:hlinkClick r:id="rId2"/>
              </a:rPr>
              <a:t>software quality</a:t>
            </a:r>
            <a:r>
              <a:rPr lang="en-IN" dirty="0"/>
              <a:t> problems, </a:t>
            </a:r>
            <a:r>
              <a:rPr lang="en-IN" u="sng" dirty="0">
                <a:hlinkClick r:id="rId3"/>
              </a:rPr>
              <a:t>software management</a:t>
            </a:r>
            <a:r>
              <a:rPr lang="en-IN" dirty="0"/>
              <a:t>, and delivery problems, etc. This condition is called a </a:t>
            </a:r>
            <a:r>
              <a:rPr lang="en-IN" b="1" dirty="0"/>
              <a:t>Software Crisis.</a:t>
            </a:r>
            <a:endParaRPr lang="en-IN" dirty="0"/>
          </a:p>
        </p:txBody>
      </p:sp>
    </p:spTree>
    <p:extLst>
      <p:ext uri="{BB962C8B-B14F-4D97-AF65-F5344CB8AC3E}">
        <p14:creationId xmlns:p14="http://schemas.microsoft.com/office/powerpoint/2010/main" val="1716951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83EFF-6C4A-3C23-240B-24879E20543D}"/>
              </a:ext>
            </a:extLst>
          </p:cNvPr>
          <p:cNvSpPr>
            <a:spLocks noGrp="1"/>
          </p:cNvSpPr>
          <p:nvPr>
            <p:ph type="title"/>
          </p:nvPr>
        </p:nvSpPr>
        <p:spPr>
          <a:xfrm>
            <a:off x="838200" y="365126"/>
            <a:ext cx="10515600" cy="571046"/>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84B3C7E9-2DE6-120B-E2A3-32E754439613}"/>
              </a:ext>
            </a:extLst>
          </p:cNvPr>
          <p:cNvSpPr>
            <a:spLocks noGrp="1"/>
          </p:cNvSpPr>
          <p:nvPr>
            <p:ph idx="1"/>
          </p:nvPr>
        </p:nvSpPr>
        <p:spPr>
          <a:xfrm>
            <a:off x="838200" y="1208314"/>
            <a:ext cx="10515600" cy="5284560"/>
          </a:xfrm>
        </p:spPr>
        <p:txBody>
          <a:bodyPr>
            <a:normAutofit fontScale="92500" lnSpcReduction="20000"/>
          </a:bodyPr>
          <a:lstStyle/>
          <a:p>
            <a:pPr marL="0" indent="0">
              <a:lnSpc>
                <a:spcPct val="150000"/>
              </a:lnSpc>
              <a:buNone/>
            </a:pPr>
            <a:r>
              <a:rPr lang="en-IN" b="1" dirty="0"/>
              <a:t>Causes of Software Crisis</a:t>
            </a:r>
          </a:p>
          <a:p>
            <a:pPr fontAlgn="base">
              <a:lnSpc>
                <a:spcPct val="150000"/>
              </a:lnSpc>
            </a:pPr>
            <a:r>
              <a:rPr lang="en-IN" dirty="0"/>
              <a:t>The cost of owning and maintaining software was as expensive as developing the software.</a:t>
            </a:r>
          </a:p>
          <a:p>
            <a:pPr fontAlgn="base">
              <a:lnSpc>
                <a:spcPct val="150000"/>
              </a:lnSpc>
            </a:pPr>
            <a:r>
              <a:rPr lang="en-IN" dirty="0"/>
              <a:t>At that time Projects were running overtime.</a:t>
            </a:r>
          </a:p>
          <a:p>
            <a:pPr fontAlgn="base">
              <a:lnSpc>
                <a:spcPct val="150000"/>
              </a:lnSpc>
            </a:pPr>
            <a:r>
              <a:rPr lang="en-IN" dirty="0"/>
              <a:t>At that time Software was very inefficient.</a:t>
            </a:r>
          </a:p>
          <a:p>
            <a:pPr fontAlgn="base">
              <a:lnSpc>
                <a:spcPct val="150000"/>
              </a:lnSpc>
            </a:pPr>
            <a:r>
              <a:rPr lang="en-IN" dirty="0"/>
              <a:t>The quality of the software was low quality.</a:t>
            </a:r>
          </a:p>
          <a:p>
            <a:pPr fontAlgn="base">
              <a:lnSpc>
                <a:spcPct val="150000"/>
              </a:lnSpc>
            </a:pPr>
            <a:r>
              <a:rPr lang="en-IN" dirty="0"/>
              <a:t>Software often did not meet user requirements.</a:t>
            </a:r>
          </a:p>
          <a:p>
            <a:pPr fontAlgn="base">
              <a:lnSpc>
                <a:spcPct val="150000"/>
              </a:lnSpc>
            </a:pPr>
            <a:r>
              <a:rPr lang="en-IN" dirty="0"/>
              <a:t>At that time Software was never delivered</a:t>
            </a:r>
          </a:p>
          <a:p>
            <a:pPr>
              <a:lnSpc>
                <a:spcPct val="150000"/>
              </a:lnSpc>
            </a:pPr>
            <a:endParaRPr lang="en-IN" dirty="0"/>
          </a:p>
        </p:txBody>
      </p:sp>
    </p:spTree>
    <p:extLst>
      <p:ext uri="{BB962C8B-B14F-4D97-AF65-F5344CB8AC3E}">
        <p14:creationId xmlns:p14="http://schemas.microsoft.com/office/powerpoint/2010/main" val="2108681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62544-41A2-2676-7C3A-249F132233A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7C53FA-E237-F39D-B5F0-95B45D6AB3A6}"/>
              </a:ext>
            </a:extLst>
          </p:cNvPr>
          <p:cNvSpPr>
            <a:spLocks noGrp="1"/>
          </p:cNvSpPr>
          <p:nvPr>
            <p:ph idx="1"/>
          </p:nvPr>
        </p:nvSpPr>
        <p:spPr/>
        <p:txBody>
          <a:bodyPr/>
          <a:lstStyle/>
          <a:p>
            <a:pPr fontAlgn="base"/>
            <a:r>
              <a:rPr lang="en-IN" b="1" dirty="0"/>
              <a:t>Factors Contributing to Software Crisis</a:t>
            </a:r>
          </a:p>
          <a:p>
            <a:pPr fontAlgn="base"/>
            <a:r>
              <a:rPr lang="en-IN" dirty="0"/>
              <a:t>Factor Contributing to Software Crisis are:</a:t>
            </a:r>
          </a:p>
          <a:p>
            <a:pPr fontAlgn="base"/>
            <a:r>
              <a:rPr lang="en-IN" dirty="0"/>
              <a:t>Poor project management.</a:t>
            </a:r>
          </a:p>
          <a:p>
            <a:pPr fontAlgn="base"/>
            <a:r>
              <a:rPr lang="en-IN" dirty="0"/>
              <a:t>Lack of adequate training in software engineering.</a:t>
            </a:r>
          </a:p>
          <a:p>
            <a:pPr fontAlgn="base"/>
            <a:r>
              <a:rPr lang="en-IN" dirty="0"/>
              <a:t>Less skilled project members.</a:t>
            </a:r>
          </a:p>
          <a:p>
            <a:pPr fontAlgn="base"/>
            <a:r>
              <a:rPr lang="en-IN" dirty="0"/>
              <a:t>Low productivity improvements.</a:t>
            </a:r>
          </a:p>
          <a:p>
            <a:endParaRPr lang="en-IN" dirty="0"/>
          </a:p>
        </p:txBody>
      </p:sp>
    </p:spTree>
    <p:extLst>
      <p:ext uri="{BB962C8B-B14F-4D97-AF65-F5344CB8AC3E}">
        <p14:creationId xmlns:p14="http://schemas.microsoft.com/office/powerpoint/2010/main" val="1686091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46F0F-F681-D26B-13DD-7588A9B3557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315E155-BB21-6A39-6BCD-046E1BDC7541}"/>
              </a:ext>
            </a:extLst>
          </p:cNvPr>
          <p:cNvSpPr>
            <a:spLocks noGrp="1"/>
          </p:cNvSpPr>
          <p:nvPr>
            <p:ph idx="1"/>
          </p:nvPr>
        </p:nvSpPr>
        <p:spPr/>
        <p:txBody>
          <a:bodyPr/>
          <a:lstStyle/>
          <a:p>
            <a:pPr>
              <a:lnSpc>
                <a:spcPct val="150000"/>
              </a:lnSpc>
            </a:pPr>
            <a:r>
              <a:rPr lang="en-IN" b="1" dirty="0"/>
              <a:t>Solution of Software Crisis:</a:t>
            </a:r>
          </a:p>
          <a:p>
            <a:pPr>
              <a:lnSpc>
                <a:spcPct val="150000"/>
              </a:lnSpc>
            </a:pPr>
            <a:r>
              <a:rPr lang="en-IN" dirty="0"/>
              <a:t>There is no single solution to the crisis. One possible solution to a software crisis is </a:t>
            </a:r>
            <a:r>
              <a:rPr lang="en-IN" i="1" u="sng" dirty="0">
                <a:hlinkClick r:id="rId2"/>
              </a:rPr>
              <a:t>Software Engineering</a:t>
            </a:r>
            <a:r>
              <a:rPr lang="en-IN" dirty="0"/>
              <a:t> because software engineering is a systematic, disciplined, and quantifiable approach. For preventing software crises, there are some guidelines:</a:t>
            </a:r>
          </a:p>
        </p:txBody>
      </p:sp>
    </p:spTree>
    <p:extLst>
      <p:ext uri="{BB962C8B-B14F-4D97-AF65-F5344CB8AC3E}">
        <p14:creationId xmlns:p14="http://schemas.microsoft.com/office/powerpoint/2010/main" val="2419633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19CE8-0419-0F62-2FB0-8FF352A1BBA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1BADA97-4984-F7F8-077B-36ABFB7675B5}"/>
              </a:ext>
            </a:extLst>
          </p:cNvPr>
          <p:cNvSpPr>
            <a:spLocks noGrp="1"/>
          </p:cNvSpPr>
          <p:nvPr>
            <p:ph idx="1"/>
          </p:nvPr>
        </p:nvSpPr>
        <p:spPr/>
        <p:txBody>
          <a:bodyPr>
            <a:normAutofit lnSpcReduction="10000"/>
          </a:bodyPr>
          <a:lstStyle/>
          <a:p>
            <a:pPr fontAlgn="base">
              <a:lnSpc>
                <a:spcPct val="150000"/>
              </a:lnSpc>
            </a:pPr>
            <a:r>
              <a:rPr lang="en-IN" dirty="0"/>
              <a:t>Reduction in software over budget.</a:t>
            </a:r>
          </a:p>
          <a:p>
            <a:pPr fontAlgn="base">
              <a:lnSpc>
                <a:spcPct val="150000"/>
              </a:lnSpc>
            </a:pPr>
            <a:r>
              <a:rPr lang="en-IN" dirty="0"/>
              <a:t>The quality of the software must be high.</a:t>
            </a:r>
          </a:p>
          <a:p>
            <a:pPr fontAlgn="base">
              <a:lnSpc>
                <a:spcPct val="150000"/>
              </a:lnSpc>
            </a:pPr>
            <a:r>
              <a:rPr lang="en-IN" dirty="0"/>
              <a:t>Less time is needed for a software project.</a:t>
            </a:r>
          </a:p>
          <a:p>
            <a:pPr fontAlgn="base">
              <a:lnSpc>
                <a:spcPct val="150000"/>
              </a:lnSpc>
            </a:pPr>
            <a:r>
              <a:rPr lang="en-IN" dirty="0"/>
              <a:t>Experienced and skilled people working on the software project. </a:t>
            </a:r>
          </a:p>
          <a:p>
            <a:pPr fontAlgn="base">
              <a:lnSpc>
                <a:spcPct val="150000"/>
              </a:lnSpc>
            </a:pPr>
            <a:r>
              <a:rPr lang="en-IN" dirty="0"/>
              <a:t>Software must be delivered.</a:t>
            </a:r>
          </a:p>
          <a:p>
            <a:pPr fontAlgn="base">
              <a:lnSpc>
                <a:spcPct val="150000"/>
              </a:lnSpc>
            </a:pPr>
            <a:r>
              <a:rPr lang="en-IN" dirty="0"/>
              <a:t>Software must meet user requirements.</a:t>
            </a:r>
          </a:p>
          <a:p>
            <a:pPr>
              <a:lnSpc>
                <a:spcPct val="150000"/>
              </a:lnSpc>
            </a:pPr>
            <a:endParaRPr lang="en-IN" dirty="0"/>
          </a:p>
        </p:txBody>
      </p:sp>
    </p:spTree>
    <p:extLst>
      <p:ext uri="{BB962C8B-B14F-4D97-AF65-F5344CB8AC3E}">
        <p14:creationId xmlns:p14="http://schemas.microsoft.com/office/powerpoint/2010/main" val="2155380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8D88F-6BD9-E18A-A13F-87A25BD5446E}"/>
              </a:ext>
            </a:extLst>
          </p:cNvPr>
          <p:cNvSpPr>
            <a:spLocks noGrp="1"/>
          </p:cNvSpPr>
          <p:nvPr>
            <p:ph type="title"/>
          </p:nvPr>
        </p:nvSpPr>
        <p:spPr>
          <a:xfrm>
            <a:off x="838200" y="365125"/>
            <a:ext cx="10515600" cy="1354818"/>
          </a:xfrm>
        </p:spPr>
        <p:txBody>
          <a:bodyPr/>
          <a:lstStyle/>
          <a:p>
            <a:r>
              <a:rPr lang="en-IN" b="1" dirty="0"/>
              <a:t>Software Myths</a:t>
            </a:r>
            <a:br>
              <a:rPr lang="en-IN" b="1" dirty="0"/>
            </a:br>
            <a:endParaRPr lang="en-IN" dirty="0"/>
          </a:p>
        </p:txBody>
      </p:sp>
      <p:sp>
        <p:nvSpPr>
          <p:cNvPr id="3" name="Content Placeholder 2">
            <a:extLst>
              <a:ext uri="{FF2B5EF4-FFF2-40B4-BE49-F238E27FC236}">
                <a16:creationId xmlns:a16="http://schemas.microsoft.com/office/drawing/2014/main" id="{78241908-335A-BE5D-A041-B9EAE8A994BA}"/>
              </a:ext>
            </a:extLst>
          </p:cNvPr>
          <p:cNvSpPr>
            <a:spLocks noGrp="1"/>
          </p:cNvSpPr>
          <p:nvPr>
            <p:ph idx="1"/>
          </p:nvPr>
        </p:nvSpPr>
        <p:spPr>
          <a:xfrm>
            <a:off x="707571" y="1379311"/>
            <a:ext cx="10515600" cy="4351338"/>
          </a:xfrm>
        </p:spPr>
        <p:txBody>
          <a:bodyPr/>
          <a:lstStyle/>
          <a:p>
            <a:pPr>
              <a:lnSpc>
                <a:spcPct val="150000"/>
              </a:lnSpc>
            </a:pPr>
            <a:r>
              <a:rPr lang="en-IN" dirty="0"/>
              <a:t>Most, experienced experts have seen myths or superstitions (false beliefs or interpretations) or misleading attitudes (naked users) which creates major problems for management and technical people(leading to poor planning, communication issues, increased costs, delays, and lower software quality.</a:t>
            </a:r>
          </a:p>
        </p:txBody>
      </p:sp>
    </p:spTree>
    <p:extLst>
      <p:ext uri="{BB962C8B-B14F-4D97-AF65-F5344CB8AC3E}">
        <p14:creationId xmlns:p14="http://schemas.microsoft.com/office/powerpoint/2010/main" val="3165923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F96CE-9206-541C-F8FD-BBFF459C83F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EB87A90-751D-0D60-3D19-753B447A9244}"/>
              </a:ext>
            </a:extLst>
          </p:cNvPr>
          <p:cNvPicPr>
            <a:picLocks noGrp="1" noChangeAspect="1"/>
          </p:cNvPicPr>
          <p:nvPr>
            <p:ph idx="1"/>
          </p:nvPr>
        </p:nvPicPr>
        <p:blipFill>
          <a:blip r:embed="rId2"/>
          <a:stretch>
            <a:fillRect/>
          </a:stretch>
        </p:blipFill>
        <p:spPr>
          <a:xfrm>
            <a:off x="2351314" y="2318657"/>
            <a:ext cx="6204857" cy="2717740"/>
          </a:xfrm>
          <a:prstGeom prst="rect">
            <a:avLst/>
          </a:prstGeom>
        </p:spPr>
      </p:pic>
    </p:spTree>
    <p:extLst>
      <p:ext uri="{BB962C8B-B14F-4D97-AF65-F5344CB8AC3E}">
        <p14:creationId xmlns:p14="http://schemas.microsoft.com/office/powerpoint/2010/main" val="3524073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896EE-B915-51E3-1206-3A2CFE05B2B8}"/>
              </a:ext>
            </a:extLst>
          </p:cNvPr>
          <p:cNvSpPr>
            <a:spLocks noGrp="1"/>
          </p:cNvSpPr>
          <p:nvPr>
            <p:ph type="title"/>
          </p:nvPr>
        </p:nvSpPr>
        <p:spPr>
          <a:xfrm>
            <a:off x="838200" y="365126"/>
            <a:ext cx="10515600" cy="190046"/>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05BC3B30-26FB-E243-8020-038321F55883}"/>
              </a:ext>
            </a:extLst>
          </p:cNvPr>
          <p:cNvSpPr>
            <a:spLocks noGrp="1"/>
          </p:cNvSpPr>
          <p:nvPr>
            <p:ph idx="1"/>
          </p:nvPr>
        </p:nvSpPr>
        <p:spPr>
          <a:xfrm>
            <a:off x="838200" y="1063624"/>
            <a:ext cx="10515600" cy="5021489"/>
          </a:xfrm>
        </p:spPr>
        <p:txBody>
          <a:bodyPr>
            <a:normAutofit/>
          </a:bodyPr>
          <a:lstStyle/>
          <a:p>
            <a:pPr marL="0" indent="0">
              <a:lnSpc>
                <a:spcPct val="110000"/>
              </a:lnSpc>
              <a:buNone/>
            </a:pPr>
            <a:r>
              <a:rPr lang="en-IN" b="1" dirty="0"/>
              <a:t>(</a:t>
            </a:r>
            <a:r>
              <a:rPr lang="en-IN" b="1" dirty="0" err="1"/>
              <a:t>i</a:t>
            </a:r>
            <a:r>
              <a:rPr lang="en-IN" b="1" dirty="0"/>
              <a:t>) Management Myths:</a:t>
            </a:r>
          </a:p>
          <a:p>
            <a:pPr fontAlgn="base">
              <a:lnSpc>
                <a:spcPct val="110000"/>
              </a:lnSpc>
            </a:pPr>
            <a:r>
              <a:rPr lang="en-IN" b="1" dirty="0"/>
              <a:t>Myth 1:</a:t>
            </a:r>
            <a:endParaRPr lang="en-IN" dirty="0"/>
          </a:p>
          <a:p>
            <a:pPr fontAlgn="base">
              <a:lnSpc>
                <a:spcPct val="110000"/>
              </a:lnSpc>
            </a:pPr>
            <a:r>
              <a:rPr lang="en-IN" dirty="0"/>
              <a:t>We have all the standards and procedures available for software development.</a:t>
            </a:r>
          </a:p>
          <a:p>
            <a:pPr fontAlgn="base">
              <a:lnSpc>
                <a:spcPct val="110000"/>
              </a:lnSpc>
            </a:pPr>
            <a:r>
              <a:rPr lang="en-IN" dirty="0"/>
              <a:t>Management may believe that </a:t>
            </a:r>
            <a:r>
              <a:rPr lang="en-IN" b="1" dirty="0"/>
              <a:t>having standards, guidelines, and procedures alone is enough to ensure a successful software project.</a:t>
            </a:r>
          </a:p>
          <a:p>
            <a:pPr fontAlgn="base">
              <a:lnSpc>
                <a:spcPct val="110000"/>
              </a:lnSpc>
            </a:pPr>
            <a:endParaRPr lang="en-IN" b="1"/>
          </a:p>
          <a:p>
            <a:pPr marL="0" indent="0" fontAlgn="base">
              <a:lnSpc>
                <a:spcPct val="110000"/>
              </a:lnSpc>
              <a:buNone/>
            </a:pPr>
            <a:endParaRPr lang="en-IN" dirty="0"/>
          </a:p>
          <a:p>
            <a:pPr>
              <a:lnSpc>
                <a:spcPct val="110000"/>
              </a:lnSpc>
            </a:pPr>
            <a:endParaRPr lang="en-IN" dirty="0"/>
          </a:p>
        </p:txBody>
      </p:sp>
    </p:spTree>
    <p:extLst>
      <p:ext uri="{BB962C8B-B14F-4D97-AF65-F5344CB8AC3E}">
        <p14:creationId xmlns:p14="http://schemas.microsoft.com/office/powerpoint/2010/main" val="2070950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F4E82-3621-FDFD-155C-14FCA10D40C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6F27EDE-2211-5299-A663-4C5CDF053B73}"/>
              </a:ext>
            </a:extLst>
          </p:cNvPr>
          <p:cNvSpPr>
            <a:spLocks noGrp="1"/>
          </p:cNvSpPr>
          <p:nvPr>
            <p:ph idx="1"/>
          </p:nvPr>
        </p:nvSpPr>
        <p:spPr/>
        <p:txBody>
          <a:bodyPr>
            <a:normAutofit fontScale="92500" lnSpcReduction="20000"/>
          </a:bodyPr>
          <a:lstStyle/>
          <a:p>
            <a:pPr marL="0" indent="0" fontAlgn="base">
              <a:lnSpc>
                <a:spcPct val="110000"/>
              </a:lnSpc>
              <a:buNone/>
            </a:pPr>
            <a:r>
              <a:rPr lang="en-IN" dirty="0"/>
              <a:t>Fact:- </a:t>
            </a:r>
          </a:p>
          <a:p>
            <a:pPr fontAlgn="base">
              <a:lnSpc>
                <a:spcPct val="110000"/>
              </a:lnSpc>
            </a:pPr>
            <a:r>
              <a:rPr lang="en-IN" dirty="0"/>
              <a:t>Standards and procedures provide only a </a:t>
            </a:r>
            <a:r>
              <a:rPr lang="en-IN" b="1" dirty="0"/>
              <a:t>framework</a:t>
            </a:r>
            <a:r>
              <a:rPr lang="en-IN" dirty="0"/>
              <a:t> for development</a:t>
            </a:r>
          </a:p>
          <a:p>
            <a:pPr marL="0" indent="0">
              <a:buNone/>
            </a:pPr>
            <a:endParaRPr lang="en-IN" dirty="0"/>
          </a:p>
          <a:p>
            <a:r>
              <a:rPr lang="en-IN" dirty="0"/>
              <a:t>Success also depends on:</a:t>
            </a:r>
          </a:p>
          <a:p>
            <a:pPr marL="0" indent="0">
              <a:buNone/>
            </a:pPr>
            <a:r>
              <a:rPr lang="en-IN" dirty="0"/>
              <a:t>     Skilled and experienced developers </a:t>
            </a:r>
          </a:p>
          <a:p>
            <a:pPr marL="0" indent="0">
              <a:buNone/>
            </a:pPr>
            <a:r>
              <a:rPr lang="en-IN" dirty="0"/>
              <a:t>     Proper project planning </a:t>
            </a:r>
          </a:p>
          <a:p>
            <a:pPr marL="0" indent="0">
              <a:buNone/>
            </a:pPr>
            <a:r>
              <a:rPr lang="en-IN" dirty="0"/>
              <a:t>     Good communication among team members </a:t>
            </a:r>
          </a:p>
          <a:p>
            <a:pPr marL="0" indent="0">
              <a:buNone/>
            </a:pPr>
            <a:r>
              <a:rPr lang="en-IN" dirty="0"/>
              <a:t>     Effective project management </a:t>
            </a:r>
          </a:p>
          <a:p>
            <a:pPr marL="0" indent="0">
              <a:buNone/>
            </a:pPr>
            <a:r>
              <a:rPr lang="en-IN" dirty="0"/>
              <a:t>     Regular testing and quality assurance </a:t>
            </a:r>
          </a:p>
          <a:p>
            <a:pPr marL="0" indent="0">
              <a:buNone/>
            </a:pPr>
            <a:r>
              <a:rPr lang="en-IN" dirty="0"/>
              <a:t>     Continuous monitoring and risk management</a:t>
            </a:r>
          </a:p>
          <a:p>
            <a:endParaRPr lang="en-IN" dirty="0"/>
          </a:p>
        </p:txBody>
      </p:sp>
    </p:spTree>
    <p:extLst>
      <p:ext uri="{BB962C8B-B14F-4D97-AF65-F5344CB8AC3E}">
        <p14:creationId xmlns:p14="http://schemas.microsoft.com/office/powerpoint/2010/main" val="857691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324DE-6148-D1F4-31B0-0B9D95043129}"/>
              </a:ext>
            </a:extLst>
          </p:cNvPr>
          <p:cNvSpPr>
            <a:spLocks noGrp="1"/>
          </p:cNvSpPr>
          <p:nvPr>
            <p:ph type="title"/>
          </p:nvPr>
        </p:nvSpPr>
        <p:spPr>
          <a:xfrm>
            <a:off x="838200" y="365125"/>
            <a:ext cx="10515600" cy="549275"/>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EAE9D914-1303-7F53-4FC5-5F722D8B0CEE}"/>
              </a:ext>
            </a:extLst>
          </p:cNvPr>
          <p:cNvSpPr>
            <a:spLocks noGrp="1"/>
          </p:cNvSpPr>
          <p:nvPr>
            <p:ph idx="1"/>
          </p:nvPr>
        </p:nvSpPr>
        <p:spPr>
          <a:xfrm>
            <a:off x="838200" y="1077686"/>
            <a:ext cx="10515600" cy="5099277"/>
          </a:xfrm>
        </p:spPr>
        <p:txBody>
          <a:bodyPr>
            <a:normAutofit fontScale="92500" lnSpcReduction="20000"/>
          </a:bodyPr>
          <a:lstStyle/>
          <a:p>
            <a:pPr fontAlgn="base">
              <a:lnSpc>
                <a:spcPct val="110000"/>
              </a:lnSpc>
            </a:pPr>
            <a:r>
              <a:rPr lang="en-IN" b="1" dirty="0"/>
              <a:t>Myth 2:</a:t>
            </a:r>
            <a:endParaRPr lang="en-IN" dirty="0"/>
          </a:p>
          <a:p>
            <a:pPr fontAlgn="base">
              <a:lnSpc>
                <a:spcPct val="110000"/>
              </a:lnSpc>
            </a:pPr>
            <a:r>
              <a:rPr lang="en-IN" dirty="0"/>
              <a:t>The addition of the latest hardware programs will improve the software development.</a:t>
            </a:r>
          </a:p>
          <a:p>
            <a:r>
              <a:rPr lang="en-IN" dirty="0"/>
              <a:t>Fact:- </a:t>
            </a:r>
          </a:p>
          <a:p>
            <a:r>
              <a:rPr lang="en-IN" dirty="0"/>
              <a:t>New hardware and tools </a:t>
            </a:r>
            <a:r>
              <a:rPr lang="en-IN" b="1" dirty="0"/>
              <a:t>can help</a:t>
            </a:r>
            <a:r>
              <a:rPr lang="en-IN" dirty="0"/>
              <a:t>, but they </a:t>
            </a:r>
            <a:r>
              <a:rPr lang="en-IN" b="1" dirty="0"/>
              <a:t>do not guarantee</a:t>
            </a:r>
            <a:r>
              <a:rPr lang="en-IN" dirty="0"/>
              <a:t> better software. </a:t>
            </a:r>
          </a:p>
          <a:p>
            <a:r>
              <a:rPr lang="en-IN" dirty="0"/>
              <a:t>The success of software development depends mainly on: </a:t>
            </a:r>
          </a:p>
          <a:p>
            <a:pPr marL="0" indent="0">
              <a:buNone/>
            </a:pPr>
            <a:r>
              <a:rPr lang="en-IN" dirty="0"/>
              <a:t>     Skilled and experienced developers </a:t>
            </a:r>
          </a:p>
          <a:p>
            <a:pPr marL="0" indent="0">
              <a:buNone/>
            </a:pPr>
            <a:r>
              <a:rPr lang="en-IN" dirty="0"/>
              <a:t>     Well-defined requirements </a:t>
            </a:r>
          </a:p>
          <a:p>
            <a:pPr marL="0" indent="0">
              <a:buNone/>
            </a:pPr>
            <a:r>
              <a:rPr lang="en-IN" dirty="0"/>
              <a:t>     Proper planning and project management </a:t>
            </a:r>
          </a:p>
          <a:p>
            <a:pPr marL="0" indent="0">
              <a:buNone/>
            </a:pPr>
            <a:r>
              <a:rPr lang="en-IN" dirty="0"/>
              <a:t>     Effective communication </a:t>
            </a:r>
          </a:p>
          <a:p>
            <a:pPr marL="0" indent="0">
              <a:buNone/>
            </a:pPr>
            <a:r>
              <a:rPr lang="en-IN" dirty="0"/>
              <a:t>     Good software engineering practices</a:t>
            </a:r>
          </a:p>
          <a:p>
            <a:endParaRPr lang="en-IN" dirty="0"/>
          </a:p>
        </p:txBody>
      </p:sp>
    </p:spTree>
    <p:extLst>
      <p:ext uri="{BB962C8B-B14F-4D97-AF65-F5344CB8AC3E}">
        <p14:creationId xmlns:p14="http://schemas.microsoft.com/office/powerpoint/2010/main" val="862934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761A4-1D72-A532-62B7-EC76B2806856}"/>
              </a:ext>
            </a:extLst>
          </p:cNvPr>
          <p:cNvSpPr>
            <a:spLocks noGrp="1"/>
          </p:cNvSpPr>
          <p:nvPr>
            <p:ph type="title"/>
          </p:nvPr>
        </p:nvSpPr>
        <p:spPr>
          <a:xfrm>
            <a:off x="838200" y="365126"/>
            <a:ext cx="10515600" cy="315912"/>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242DE7C5-4F66-D396-657A-58BA4558C9E8}"/>
              </a:ext>
            </a:extLst>
          </p:cNvPr>
          <p:cNvSpPr>
            <a:spLocks noGrp="1"/>
          </p:cNvSpPr>
          <p:nvPr>
            <p:ph idx="1"/>
          </p:nvPr>
        </p:nvSpPr>
        <p:spPr>
          <a:xfrm>
            <a:off x="838200" y="1012371"/>
            <a:ext cx="10515600" cy="5164592"/>
          </a:xfrm>
        </p:spPr>
        <p:txBody>
          <a:bodyPr>
            <a:normAutofit fontScale="92500"/>
          </a:bodyPr>
          <a:lstStyle/>
          <a:p>
            <a:pPr fontAlgn="base">
              <a:lnSpc>
                <a:spcPct val="110000"/>
              </a:lnSpc>
            </a:pPr>
            <a:r>
              <a:rPr lang="en-IN" b="1" dirty="0"/>
              <a:t>Myth 3:</a:t>
            </a:r>
            <a:endParaRPr lang="en-IN" dirty="0"/>
          </a:p>
          <a:p>
            <a:pPr fontAlgn="base">
              <a:lnSpc>
                <a:spcPct val="110000"/>
              </a:lnSpc>
            </a:pPr>
            <a:r>
              <a:rPr lang="en-IN" dirty="0"/>
              <a:t>With the addition of more people and program planners to Software development can help meet project deadlines (If lagging behind)</a:t>
            </a:r>
          </a:p>
          <a:p>
            <a:pPr fontAlgn="base">
              <a:lnSpc>
                <a:spcPct val="110000"/>
              </a:lnSpc>
            </a:pPr>
            <a:r>
              <a:rPr lang="en-IN" dirty="0"/>
              <a:t>Fact:-</a:t>
            </a:r>
          </a:p>
          <a:p>
            <a:pPr fontAlgn="base">
              <a:lnSpc>
                <a:spcPct val="110000"/>
              </a:lnSpc>
            </a:pPr>
            <a:r>
              <a:rPr lang="en-IN" dirty="0"/>
              <a:t>New team members need time to understand the project. </a:t>
            </a:r>
          </a:p>
          <a:p>
            <a:pPr fontAlgn="base">
              <a:lnSpc>
                <a:spcPct val="110000"/>
              </a:lnSpc>
            </a:pPr>
            <a:r>
              <a:rPr lang="en-IN" dirty="0"/>
              <a:t>Existing developers must spend time training and coordinating with them. </a:t>
            </a:r>
          </a:p>
          <a:p>
            <a:pPr fontAlgn="base">
              <a:lnSpc>
                <a:spcPct val="110000"/>
              </a:lnSpc>
            </a:pPr>
            <a:r>
              <a:rPr lang="en-IN" dirty="0"/>
              <a:t>Communication and coordination become more complex as the team grows. As a result, the project may become </a:t>
            </a:r>
            <a:r>
              <a:rPr lang="en-IN" b="1" dirty="0"/>
              <a:t>even more delayed</a:t>
            </a:r>
            <a:r>
              <a:rPr lang="en-IN" dirty="0"/>
              <a:t>.</a:t>
            </a:r>
          </a:p>
          <a:p>
            <a:endParaRPr lang="en-IN" dirty="0"/>
          </a:p>
        </p:txBody>
      </p:sp>
    </p:spTree>
    <p:extLst>
      <p:ext uri="{BB962C8B-B14F-4D97-AF65-F5344CB8AC3E}">
        <p14:creationId xmlns:p14="http://schemas.microsoft.com/office/powerpoint/2010/main" val="3324233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D1DA7-6211-455B-1424-1B96B62E4B56}"/>
              </a:ext>
            </a:extLst>
          </p:cNvPr>
          <p:cNvSpPr>
            <a:spLocks noGrp="1"/>
          </p:cNvSpPr>
          <p:nvPr>
            <p:ph type="title"/>
          </p:nvPr>
        </p:nvSpPr>
        <p:spPr>
          <a:xfrm>
            <a:off x="838200" y="365125"/>
            <a:ext cx="10515600" cy="473075"/>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FFF019F8-B02B-1325-B9E0-CC1DBE512A9F}"/>
              </a:ext>
            </a:extLst>
          </p:cNvPr>
          <p:cNvSpPr>
            <a:spLocks noGrp="1"/>
          </p:cNvSpPr>
          <p:nvPr>
            <p:ph idx="1"/>
          </p:nvPr>
        </p:nvSpPr>
        <p:spPr>
          <a:xfrm>
            <a:off x="838200" y="968829"/>
            <a:ext cx="10515600" cy="5208134"/>
          </a:xfrm>
        </p:spPr>
        <p:txBody>
          <a:bodyPr>
            <a:normAutofit/>
          </a:bodyPr>
          <a:lstStyle/>
          <a:p>
            <a:r>
              <a:rPr lang="en-IN" b="1" dirty="0"/>
              <a:t>(ii)Customer Myths: </a:t>
            </a:r>
          </a:p>
          <a:p>
            <a:r>
              <a:rPr lang="en-IN" dirty="0"/>
              <a:t>The customer can be the direct users of the software, the technical team, marketing / sales department, or other company.</a:t>
            </a:r>
          </a:p>
          <a:p>
            <a:pPr fontAlgn="base"/>
            <a:r>
              <a:rPr lang="en-IN" b="1" dirty="0"/>
              <a:t>Myth 1:</a:t>
            </a:r>
            <a:endParaRPr lang="en-IN" dirty="0"/>
          </a:p>
          <a:p>
            <a:pPr fontAlgn="base"/>
            <a:r>
              <a:rPr lang="en-IN" dirty="0"/>
              <a:t>A general statement of intent is enough to start writing plans (software development) and details of objectives can be done over time.</a:t>
            </a:r>
          </a:p>
          <a:p>
            <a:pPr fontAlgn="base"/>
            <a:r>
              <a:rPr lang="en-IN" dirty="0"/>
              <a:t>Fact:-</a:t>
            </a:r>
          </a:p>
          <a:p>
            <a:r>
              <a:rPr lang="en-IN" dirty="0"/>
              <a:t>Software development requires </a:t>
            </a:r>
            <a:r>
              <a:rPr lang="en-IN" b="1" dirty="0"/>
              <a:t>clear, complete, and detailed requirements</a:t>
            </a:r>
            <a:r>
              <a:rPr lang="en-IN" dirty="0"/>
              <a:t> before starting. </a:t>
            </a:r>
          </a:p>
          <a:p>
            <a:pPr fontAlgn="base"/>
            <a:endParaRPr lang="en-IN" dirty="0"/>
          </a:p>
          <a:p>
            <a:endParaRPr lang="en-IN" dirty="0"/>
          </a:p>
        </p:txBody>
      </p:sp>
    </p:spTree>
    <p:extLst>
      <p:ext uri="{BB962C8B-B14F-4D97-AF65-F5344CB8AC3E}">
        <p14:creationId xmlns:p14="http://schemas.microsoft.com/office/powerpoint/2010/main" val="1178611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55DA8-4957-2572-723C-17C15C261B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574ED7-B2F5-72D4-E1EE-AEE45DB886C4}"/>
              </a:ext>
            </a:extLst>
          </p:cNvPr>
          <p:cNvSpPr>
            <a:spLocks noGrp="1"/>
          </p:cNvSpPr>
          <p:nvPr>
            <p:ph idx="1"/>
          </p:nvPr>
        </p:nvSpPr>
        <p:spPr/>
        <p:txBody>
          <a:bodyPr/>
          <a:lstStyle/>
          <a:p>
            <a:r>
              <a:rPr lang="en-IN" dirty="0"/>
              <a:t>If requirements are incomplete or keep changing: </a:t>
            </a:r>
          </a:p>
          <a:p>
            <a:pPr marL="0" indent="0">
              <a:buNone/>
            </a:pPr>
            <a:r>
              <a:rPr lang="en-IN" dirty="0"/>
              <a:t>       Developers may misunderstand customer needs. </a:t>
            </a:r>
          </a:p>
          <a:p>
            <a:pPr marL="0" indent="0">
              <a:buNone/>
            </a:pPr>
            <a:r>
              <a:rPr lang="en-IN" dirty="0"/>
              <a:t>       More time and effort are required to make changes. </a:t>
            </a:r>
          </a:p>
          <a:p>
            <a:pPr marL="0" indent="0">
              <a:buNone/>
            </a:pPr>
            <a:r>
              <a:rPr lang="en-IN" dirty="0"/>
              <a:t>       Development cost increases. </a:t>
            </a:r>
          </a:p>
          <a:p>
            <a:pPr marL="0" indent="0">
              <a:buNone/>
            </a:pPr>
            <a:r>
              <a:rPr lang="en-IN" dirty="0"/>
              <a:t>       The project may be delayed. </a:t>
            </a:r>
          </a:p>
          <a:p>
            <a:pPr marL="0" indent="0">
              <a:buNone/>
            </a:pPr>
            <a:r>
              <a:rPr lang="en-IN" dirty="0"/>
              <a:t>       Software quality may be affected.</a:t>
            </a:r>
          </a:p>
          <a:p>
            <a:endParaRPr lang="en-IN" dirty="0"/>
          </a:p>
        </p:txBody>
      </p:sp>
    </p:spTree>
    <p:extLst>
      <p:ext uri="{BB962C8B-B14F-4D97-AF65-F5344CB8AC3E}">
        <p14:creationId xmlns:p14="http://schemas.microsoft.com/office/powerpoint/2010/main" val="1304616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73211-5F5A-20B1-24A5-FE75AC628BAA}"/>
              </a:ext>
            </a:extLst>
          </p:cNvPr>
          <p:cNvSpPr>
            <a:spLocks noGrp="1"/>
          </p:cNvSpPr>
          <p:nvPr>
            <p:ph type="title"/>
          </p:nvPr>
        </p:nvSpPr>
        <p:spPr>
          <a:xfrm>
            <a:off x="838200" y="365126"/>
            <a:ext cx="10515600" cy="315912"/>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3079BA15-2CF1-E7CF-C483-CCDD3863DA7F}"/>
              </a:ext>
            </a:extLst>
          </p:cNvPr>
          <p:cNvSpPr>
            <a:spLocks noGrp="1"/>
          </p:cNvSpPr>
          <p:nvPr>
            <p:ph idx="1"/>
          </p:nvPr>
        </p:nvSpPr>
        <p:spPr>
          <a:xfrm>
            <a:off x="838200" y="1045029"/>
            <a:ext cx="10515600" cy="5131934"/>
          </a:xfrm>
        </p:spPr>
        <p:txBody>
          <a:bodyPr>
            <a:normAutofit fontScale="92500" lnSpcReduction="20000"/>
          </a:bodyPr>
          <a:lstStyle/>
          <a:p>
            <a:pPr fontAlgn="base">
              <a:lnSpc>
                <a:spcPct val="120000"/>
              </a:lnSpc>
            </a:pPr>
            <a:r>
              <a:rPr lang="en-IN" b="1" dirty="0"/>
              <a:t>Myth 2:</a:t>
            </a:r>
            <a:endParaRPr lang="en-IN" dirty="0"/>
          </a:p>
          <a:p>
            <a:pPr fontAlgn="base">
              <a:lnSpc>
                <a:spcPct val="120000"/>
              </a:lnSpc>
            </a:pPr>
            <a:r>
              <a:rPr lang="en-IN" dirty="0"/>
              <a:t>Software requirements continually change, but change can be easily accommodated because software is flexible.</a:t>
            </a:r>
          </a:p>
          <a:p>
            <a:pPr fontAlgn="base">
              <a:lnSpc>
                <a:spcPct val="120000"/>
              </a:lnSpc>
            </a:pPr>
            <a:r>
              <a:rPr lang="en-IN" dirty="0"/>
              <a:t>Fact:- </a:t>
            </a:r>
          </a:p>
          <a:p>
            <a:pPr>
              <a:lnSpc>
                <a:spcPct val="120000"/>
              </a:lnSpc>
            </a:pPr>
            <a:r>
              <a:rPr lang="en-IN" dirty="0"/>
              <a:t>Although software is flexible, </a:t>
            </a:r>
            <a:r>
              <a:rPr lang="en-IN" b="1" dirty="0"/>
              <a:t>every change affects the project</a:t>
            </a:r>
            <a:r>
              <a:rPr lang="en-IN" dirty="0"/>
              <a:t>.</a:t>
            </a:r>
          </a:p>
          <a:p>
            <a:pPr>
              <a:lnSpc>
                <a:spcPct val="120000"/>
              </a:lnSpc>
            </a:pPr>
            <a:r>
              <a:rPr lang="en-IN" dirty="0"/>
              <a:t> Requirement changes may require: </a:t>
            </a:r>
          </a:p>
          <a:p>
            <a:pPr marL="0" indent="0">
              <a:lnSpc>
                <a:spcPct val="120000"/>
              </a:lnSpc>
              <a:buNone/>
            </a:pPr>
            <a:r>
              <a:rPr lang="en-IN" dirty="0"/>
              <a:t>       Modifying the design </a:t>
            </a:r>
          </a:p>
          <a:p>
            <a:pPr marL="0" indent="0">
              <a:lnSpc>
                <a:spcPct val="120000"/>
              </a:lnSpc>
              <a:buNone/>
            </a:pPr>
            <a:r>
              <a:rPr lang="en-IN" dirty="0"/>
              <a:t>      Changing the code </a:t>
            </a:r>
          </a:p>
          <a:p>
            <a:pPr marL="0" indent="0">
              <a:lnSpc>
                <a:spcPct val="120000"/>
              </a:lnSpc>
              <a:buNone/>
            </a:pPr>
            <a:r>
              <a:rPr lang="en-IN" dirty="0"/>
              <a:t>      Updating documentation </a:t>
            </a:r>
          </a:p>
          <a:p>
            <a:pPr marL="0" indent="0">
              <a:lnSpc>
                <a:spcPct val="120000"/>
              </a:lnSpc>
              <a:buNone/>
            </a:pPr>
            <a:r>
              <a:rPr lang="en-IN" dirty="0"/>
              <a:t>      Retesting the software </a:t>
            </a:r>
          </a:p>
        </p:txBody>
      </p:sp>
    </p:spTree>
    <p:extLst>
      <p:ext uri="{BB962C8B-B14F-4D97-AF65-F5344CB8AC3E}">
        <p14:creationId xmlns:p14="http://schemas.microsoft.com/office/powerpoint/2010/main" val="8395797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D839B-6309-C1A1-73CF-0177A2D0671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7B9BF98-FD98-06A4-4ED9-2BC0E24F9272}"/>
              </a:ext>
            </a:extLst>
          </p:cNvPr>
          <p:cNvSpPr>
            <a:spLocks noGrp="1"/>
          </p:cNvSpPr>
          <p:nvPr>
            <p:ph idx="1"/>
          </p:nvPr>
        </p:nvSpPr>
        <p:spPr/>
        <p:txBody>
          <a:bodyPr/>
          <a:lstStyle/>
          <a:p>
            <a:r>
              <a:rPr lang="en-IN" dirty="0"/>
              <a:t>As development progresses, the </a:t>
            </a:r>
            <a:r>
              <a:rPr lang="en-IN" b="1" dirty="0"/>
              <a:t>cost and effort of making changes increase</a:t>
            </a:r>
            <a:endParaRPr lang="en-IN" dirty="0"/>
          </a:p>
          <a:p>
            <a:r>
              <a:rPr lang="en-IN" dirty="0"/>
              <a:t>Frequent changes can cause:</a:t>
            </a:r>
          </a:p>
          <a:p>
            <a:pPr marL="0" indent="0">
              <a:buNone/>
            </a:pPr>
            <a:r>
              <a:rPr lang="en-IN" dirty="0"/>
              <a:t>        Project delays </a:t>
            </a:r>
          </a:p>
          <a:p>
            <a:pPr marL="0" indent="0">
              <a:buNone/>
            </a:pPr>
            <a:r>
              <a:rPr lang="en-IN" dirty="0"/>
              <a:t>        Increased development cost </a:t>
            </a:r>
          </a:p>
          <a:p>
            <a:pPr marL="0" indent="0">
              <a:buNone/>
            </a:pPr>
            <a:r>
              <a:rPr lang="en-IN" dirty="0"/>
              <a:t>        More defects (bugs) </a:t>
            </a:r>
          </a:p>
          <a:p>
            <a:pPr marL="0" indent="0">
              <a:buNone/>
            </a:pPr>
            <a:r>
              <a:rPr lang="en-IN" dirty="0"/>
              <a:t>        Reduced software quality</a:t>
            </a:r>
          </a:p>
          <a:p>
            <a:endParaRPr lang="en-IN" dirty="0"/>
          </a:p>
        </p:txBody>
      </p:sp>
    </p:spTree>
    <p:extLst>
      <p:ext uri="{BB962C8B-B14F-4D97-AF65-F5344CB8AC3E}">
        <p14:creationId xmlns:p14="http://schemas.microsoft.com/office/powerpoint/2010/main" val="640136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87D67-24C6-F8DD-1BB9-88F25852EFA9}"/>
              </a:ext>
            </a:extLst>
          </p:cNvPr>
          <p:cNvSpPr>
            <a:spLocks noGrp="1"/>
          </p:cNvSpPr>
          <p:nvPr>
            <p:ph type="title"/>
          </p:nvPr>
        </p:nvSpPr>
        <p:spPr>
          <a:xfrm>
            <a:off x="838200" y="365126"/>
            <a:ext cx="10515600" cy="647246"/>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245D2521-35E0-84BC-A966-B2FB61E5C30C}"/>
              </a:ext>
            </a:extLst>
          </p:cNvPr>
          <p:cNvSpPr>
            <a:spLocks noGrp="1"/>
          </p:cNvSpPr>
          <p:nvPr>
            <p:ph idx="1"/>
          </p:nvPr>
        </p:nvSpPr>
        <p:spPr>
          <a:xfrm>
            <a:off x="838200" y="1426029"/>
            <a:ext cx="10515600" cy="4750934"/>
          </a:xfrm>
        </p:spPr>
        <p:txBody>
          <a:bodyPr>
            <a:normAutofit/>
          </a:bodyPr>
          <a:lstStyle/>
          <a:p>
            <a:pPr fontAlgn="base"/>
            <a:r>
              <a:rPr lang="en-IN" b="1" dirty="0"/>
              <a:t>iii)Practitioner’s Myths:</a:t>
            </a:r>
            <a:endParaRPr lang="en-IN" dirty="0"/>
          </a:p>
          <a:p>
            <a:pPr fontAlgn="base"/>
            <a:r>
              <a:rPr lang="en-IN" b="1" dirty="0"/>
              <a:t>Myths 1:</a:t>
            </a:r>
            <a:endParaRPr lang="en-IN" dirty="0"/>
          </a:p>
          <a:p>
            <a:pPr fontAlgn="base"/>
            <a:r>
              <a:rPr lang="en-IN" dirty="0"/>
              <a:t>They believe that their work has been completed with the writing of the plan.</a:t>
            </a:r>
          </a:p>
          <a:p>
            <a:pPr fontAlgn="base"/>
            <a:r>
              <a:rPr lang="en-IN" dirty="0"/>
              <a:t>Fact:- </a:t>
            </a:r>
          </a:p>
          <a:p>
            <a:r>
              <a:rPr lang="en-IN" dirty="0"/>
              <a:t>software development does not end with coding. After coding, several important activities are still required:</a:t>
            </a:r>
          </a:p>
          <a:p>
            <a:r>
              <a:rPr lang="en-IN" dirty="0"/>
              <a:t>Testing the software to find and fix bugs. </a:t>
            </a:r>
          </a:p>
          <a:p>
            <a:pPr fontAlgn="base"/>
            <a:endParaRPr lang="en-IN" dirty="0"/>
          </a:p>
        </p:txBody>
      </p:sp>
    </p:spTree>
    <p:extLst>
      <p:ext uri="{BB962C8B-B14F-4D97-AF65-F5344CB8AC3E}">
        <p14:creationId xmlns:p14="http://schemas.microsoft.com/office/powerpoint/2010/main" val="3395530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27A3C-50A7-A097-9BD4-4BF3499CBF2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76495D4-1F4E-50B6-BF71-F0D884D359FC}"/>
              </a:ext>
            </a:extLst>
          </p:cNvPr>
          <p:cNvSpPr>
            <a:spLocks noGrp="1"/>
          </p:cNvSpPr>
          <p:nvPr>
            <p:ph idx="1"/>
          </p:nvPr>
        </p:nvSpPr>
        <p:spPr/>
        <p:txBody>
          <a:bodyPr/>
          <a:lstStyle/>
          <a:p>
            <a:r>
              <a:rPr lang="en-IN" dirty="0"/>
              <a:t>Preparing documentation. </a:t>
            </a:r>
          </a:p>
          <a:p>
            <a:r>
              <a:rPr lang="en-IN" dirty="0"/>
              <a:t>Integrating the software with other modules.</a:t>
            </a:r>
          </a:p>
          <a:p>
            <a:r>
              <a:rPr lang="en-IN" dirty="0"/>
              <a:t> Deploying the software. </a:t>
            </a:r>
          </a:p>
          <a:p>
            <a:r>
              <a:rPr lang="en-IN" dirty="0"/>
              <a:t>Maintaining and updating the software after delivery.</a:t>
            </a:r>
          </a:p>
        </p:txBody>
      </p:sp>
    </p:spTree>
    <p:extLst>
      <p:ext uri="{BB962C8B-B14F-4D97-AF65-F5344CB8AC3E}">
        <p14:creationId xmlns:p14="http://schemas.microsoft.com/office/powerpoint/2010/main" val="3713297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8CCD7-BFEC-D6F2-7602-C9BDF61EE2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3854FD6-E7C9-1F9E-4D76-7BCFE7D5AF7B}"/>
              </a:ext>
            </a:extLst>
          </p:cNvPr>
          <p:cNvSpPr>
            <a:spLocks noGrp="1"/>
          </p:cNvSpPr>
          <p:nvPr>
            <p:ph idx="1"/>
          </p:nvPr>
        </p:nvSpPr>
        <p:spPr/>
        <p:txBody>
          <a:bodyPr>
            <a:normAutofit/>
          </a:bodyPr>
          <a:lstStyle/>
          <a:p>
            <a:r>
              <a:rPr lang="en-IN" dirty="0"/>
              <a:t>Myths 2:</a:t>
            </a:r>
          </a:p>
          <a:p>
            <a:pPr marL="0" indent="0">
              <a:buNone/>
            </a:pPr>
            <a:r>
              <a:rPr lang="en-IN" dirty="0"/>
              <a:t>     There is no other way to achieve system quality, until it is "running".</a:t>
            </a:r>
          </a:p>
          <a:p>
            <a:pPr marL="0" indent="0">
              <a:buNone/>
            </a:pPr>
            <a:r>
              <a:rPr lang="en-IN" dirty="0"/>
              <a:t>Fact:- </a:t>
            </a:r>
          </a:p>
          <a:p>
            <a:r>
              <a:rPr lang="en-IN" dirty="0"/>
              <a:t>software quality can be ensured </a:t>
            </a:r>
            <a:r>
              <a:rPr lang="en-IN" b="1" dirty="0"/>
              <a:t>throughout the development process</a:t>
            </a:r>
            <a:r>
              <a:rPr lang="en-IN" dirty="0"/>
              <a:t>, not just after execution.</a:t>
            </a:r>
          </a:p>
          <a:p>
            <a:r>
              <a:rPr lang="en-IN" dirty="0"/>
              <a:t>Quality can be improved by:</a:t>
            </a:r>
          </a:p>
          <a:p>
            <a:r>
              <a:rPr lang="en-IN" dirty="0"/>
              <a:t>Requirement reviews </a:t>
            </a:r>
          </a:p>
          <a:p>
            <a:pPr marL="0" indent="0">
              <a:buNone/>
            </a:pPr>
            <a:endParaRPr lang="en-IN" dirty="0"/>
          </a:p>
          <a:p>
            <a:endParaRPr lang="en-IN" dirty="0"/>
          </a:p>
        </p:txBody>
      </p:sp>
    </p:spTree>
    <p:extLst>
      <p:ext uri="{BB962C8B-B14F-4D97-AF65-F5344CB8AC3E}">
        <p14:creationId xmlns:p14="http://schemas.microsoft.com/office/powerpoint/2010/main" val="20388879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045B8-8675-EF0D-58D3-7865D1E148F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C2CF51F-EAFF-157C-C7AC-942CD09D02FD}"/>
              </a:ext>
            </a:extLst>
          </p:cNvPr>
          <p:cNvSpPr>
            <a:spLocks noGrp="1"/>
          </p:cNvSpPr>
          <p:nvPr>
            <p:ph idx="1"/>
          </p:nvPr>
        </p:nvSpPr>
        <p:spPr/>
        <p:txBody>
          <a:bodyPr/>
          <a:lstStyle/>
          <a:p>
            <a:r>
              <a:rPr lang="en-IN" dirty="0"/>
              <a:t>Design reviews </a:t>
            </a:r>
          </a:p>
          <a:p>
            <a:r>
              <a:rPr lang="en-IN" dirty="0"/>
              <a:t>Code inspections </a:t>
            </a:r>
          </a:p>
          <a:p>
            <a:r>
              <a:rPr lang="en-IN" dirty="0"/>
              <a:t>Unit testing </a:t>
            </a:r>
          </a:p>
          <a:p>
            <a:r>
              <a:rPr lang="en-IN" dirty="0"/>
              <a:t>Integration testing </a:t>
            </a:r>
          </a:p>
          <a:p>
            <a:r>
              <a:rPr lang="en-IN" dirty="0"/>
              <a:t>Static analysis </a:t>
            </a:r>
          </a:p>
          <a:p>
            <a:r>
              <a:rPr lang="en-IN" dirty="0"/>
              <a:t>Verification and validation</a:t>
            </a:r>
          </a:p>
          <a:p>
            <a:endParaRPr lang="en-IN" dirty="0"/>
          </a:p>
        </p:txBody>
      </p:sp>
    </p:spTree>
    <p:extLst>
      <p:ext uri="{BB962C8B-B14F-4D97-AF65-F5344CB8AC3E}">
        <p14:creationId xmlns:p14="http://schemas.microsoft.com/office/powerpoint/2010/main" val="26033362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9AFBC-B118-1DDD-8FB9-3A0D59435FC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6A4F3A2-8F70-4DCC-C37C-CE8F4B182B19}"/>
              </a:ext>
            </a:extLst>
          </p:cNvPr>
          <p:cNvSpPr>
            <a:spLocks noGrp="1"/>
          </p:cNvSpPr>
          <p:nvPr>
            <p:ph idx="1"/>
          </p:nvPr>
        </p:nvSpPr>
        <p:spPr/>
        <p:txBody>
          <a:bodyPr/>
          <a:lstStyle/>
          <a:p>
            <a:pPr fontAlgn="base"/>
            <a:r>
              <a:rPr lang="en-IN" b="1" dirty="0"/>
              <a:t>Myth 3:</a:t>
            </a:r>
            <a:endParaRPr lang="en-IN" dirty="0"/>
          </a:p>
          <a:p>
            <a:pPr fontAlgn="base"/>
            <a:r>
              <a:rPr lang="en-IN" dirty="0"/>
              <a:t>An operating system is the only product that can be successfully exported project.</a:t>
            </a:r>
          </a:p>
          <a:p>
            <a:pPr fontAlgn="base"/>
            <a:r>
              <a:rPr lang="en-IN" dirty="0"/>
              <a:t>Some developers believe that </a:t>
            </a:r>
            <a:r>
              <a:rPr lang="en-IN" b="1" dirty="0"/>
              <a:t>once the software runs correctly, the project is complete and nothing else needs to be delivered.</a:t>
            </a:r>
          </a:p>
          <a:p>
            <a:endParaRPr lang="en-IN" dirty="0"/>
          </a:p>
          <a:p>
            <a:endParaRPr lang="en-IN" dirty="0"/>
          </a:p>
        </p:txBody>
      </p:sp>
    </p:spTree>
    <p:extLst>
      <p:ext uri="{BB962C8B-B14F-4D97-AF65-F5344CB8AC3E}">
        <p14:creationId xmlns:p14="http://schemas.microsoft.com/office/powerpoint/2010/main" val="4867458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FB17C-BD99-F605-6DF2-2FF179A2EC0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D93D4BE-BA3C-2191-7F34-C76AF497DB89}"/>
              </a:ext>
            </a:extLst>
          </p:cNvPr>
          <p:cNvSpPr>
            <a:spLocks noGrp="1"/>
          </p:cNvSpPr>
          <p:nvPr>
            <p:ph idx="1"/>
          </p:nvPr>
        </p:nvSpPr>
        <p:spPr/>
        <p:txBody>
          <a:bodyPr>
            <a:normAutofit lnSpcReduction="10000"/>
          </a:bodyPr>
          <a:lstStyle/>
          <a:p>
            <a:r>
              <a:rPr lang="en-IN" b="1" dirty="0"/>
              <a:t>Fact:- </a:t>
            </a:r>
          </a:p>
          <a:p>
            <a:r>
              <a:rPr lang="en-IN" dirty="0"/>
              <a:t>successful software project includes many deliverables besides the working software, such as:</a:t>
            </a:r>
          </a:p>
          <a:p>
            <a:r>
              <a:rPr lang="en-IN" dirty="0"/>
              <a:t>Software documentation </a:t>
            </a:r>
          </a:p>
          <a:p>
            <a:r>
              <a:rPr lang="en-IN" dirty="0"/>
              <a:t>Design documents </a:t>
            </a:r>
          </a:p>
          <a:p>
            <a:r>
              <a:rPr lang="en-IN" dirty="0"/>
              <a:t>Test cases and test reports </a:t>
            </a:r>
          </a:p>
          <a:p>
            <a:r>
              <a:rPr lang="en-IN" dirty="0"/>
              <a:t>User manuals </a:t>
            </a:r>
          </a:p>
          <a:p>
            <a:r>
              <a:rPr lang="en-IN" dirty="0"/>
              <a:t>Installation and maintenance guides </a:t>
            </a:r>
          </a:p>
          <a:p>
            <a:r>
              <a:rPr lang="en-IN" dirty="0"/>
              <a:t>Training materials (if required)</a:t>
            </a:r>
          </a:p>
          <a:p>
            <a:endParaRPr lang="en-IN" dirty="0"/>
          </a:p>
          <a:p>
            <a:endParaRPr lang="en-IN" dirty="0"/>
          </a:p>
        </p:txBody>
      </p:sp>
    </p:spTree>
    <p:extLst>
      <p:ext uri="{BB962C8B-B14F-4D97-AF65-F5344CB8AC3E}">
        <p14:creationId xmlns:p14="http://schemas.microsoft.com/office/powerpoint/2010/main" val="16990074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CFAFC-D51E-19F1-6DEC-A5D225A09E2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2D85DF1-9C36-D1CA-5651-86C3DF803907}"/>
              </a:ext>
            </a:extLst>
          </p:cNvPr>
          <p:cNvSpPr>
            <a:spLocks noGrp="1"/>
          </p:cNvSpPr>
          <p:nvPr>
            <p:ph idx="1"/>
          </p:nvPr>
        </p:nvSpPr>
        <p:spPr/>
        <p:txBody>
          <a:bodyPr/>
          <a:lstStyle/>
          <a:p>
            <a:pPr fontAlgn="base"/>
            <a:r>
              <a:rPr lang="en-IN" b="1" dirty="0"/>
              <a:t>Myth 4: </a:t>
            </a:r>
            <a:endParaRPr lang="en-IN" dirty="0"/>
          </a:p>
          <a:p>
            <a:pPr fontAlgn="base"/>
            <a:r>
              <a:rPr lang="en-IN" dirty="0"/>
              <a:t>Engineering software will enable us to build powerful and unnecessary document &amp; always delay us.</a:t>
            </a:r>
          </a:p>
          <a:p>
            <a:r>
              <a:rPr lang="en-IN" dirty="0"/>
              <a:t>Documentation is an important part of software engineering. Good documentation helps in: </a:t>
            </a:r>
          </a:p>
          <a:p>
            <a:pPr marL="0" indent="0">
              <a:buNone/>
            </a:pPr>
            <a:r>
              <a:rPr lang="en-IN" dirty="0"/>
              <a:t>      Understanding the system </a:t>
            </a:r>
          </a:p>
          <a:p>
            <a:pPr marL="0" indent="0">
              <a:buNone/>
            </a:pPr>
            <a:r>
              <a:rPr lang="en-IN" dirty="0"/>
              <a:t>      Team communication </a:t>
            </a:r>
          </a:p>
          <a:p>
            <a:pPr marL="0" indent="0">
              <a:buNone/>
            </a:pPr>
            <a:r>
              <a:rPr lang="en-IN" dirty="0"/>
              <a:t>      Software maintenance </a:t>
            </a:r>
          </a:p>
          <a:p>
            <a:pPr marL="0" indent="0">
              <a:buNone/>
            </a:pPr>
            <a:r>
              <a:rPr lang="en-IN" dirty="0"/>
              <a:t>      Future enhancements </a:t>
            </a:r>
          </a:p>
          <a:p>
            <a:pPr fontAlgn="base"/>
            <a:endParaRPr lang="en-IN" dirty="0"/>
          </a:p>
          <a:p>
            <a:endParaRPr lang="en-IN" dirty="0"/>
          </a:p>
        </p:txBody>
      </p:sp>
    </p:spTree>
    <p:extLst>
      <p:ext uri="{BB962C8B-B14F-4D97-AF65-F5344CB8AC3E}">
        <p14:creationId xmlns:p14="http://schemas.microsoft.com/office/powerpoint/2010/main" val="41264090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03965-069C-5DB7-CED2-3DFF64EFC45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A11E253-8B18-EA12-47A8-6CD201F9B508}"/>
              </a:ext>
            </a:extLst>
          </p:cNvPr>
          <p:cNvSpPr>
            <a:spLocks noGrp="1"/>
          </p:cNvSpPr>
          <p:nvPr>
            <p:ph idx="1"/>
          </p:nvPr>
        </p:nvSpPr>
        <p:spPr/>
        <p:txBody>
          <a:bodyPr/>
          <a:lstStyle/>
          <a:p>
            <a:r>
              <a:rPr lang="en-IN" dirty="0"/>
              <a:t>Software engineering promotes </a:t>
            </a:r>
            <a:r>
              <a:rPr lang="en-IN" b="1" dirty="0"/>
              <a:t>necessary and useful documentation</a:t>
            </a:r>
            <a:r>
              <a:rPr lang="en-IN" dirty="0"/>
              <a:t>, not unnecessary paperwork.</a:t>
            </a:r>
          </a:p>
        </p:txBody>
      </p:sp>
    </p:spTree>
    <p:extLst>
      <p:ext uri="{BB962C8B-B14F-4D97-AF65-F5344CB8AC3E}">
        <p14:creationId xmlns:p14="http://schemas.microsoft.com/office/powerpoint/2010/main" val="34529022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CDA97-0A5F-AF9F-4DB0-C1069BA92ADA}"/>
              </a:ext>
            </a:extLst>
          </p:cNvPr>
          <p:cNvSpPr>
            <a:spLocks noGrp="1"/>
          </p:cNvSpPr>
          <p:nvPr>
            <p:ph type="title"/>
          </p:nvPr>
        </p:nvSpPr>
        <p:spPr/>
        <p:txBody>
          <a:bodyPr/>
          <a:lstStyle/>
          <a:p>
            <a:r>
              <a:rPr lang="en-IN" dirty="0"/>
              <a:t>Software Quality Attributes,</a:t>
            </a:r>
          </a:p>
        </p:txBody>
      </p:sp>
      <p:sp>
        <p:nvSpPr>
          <p:cNvPr id="3" name="Content Placeholder 2">
            <a:extLst>
              <a:ext uri="{FF2B5EF4-FFF2-40B4-BE49-F238E27FC236}">
                <a16:creationId xmlns:a16="http://schemas.microsoft.com/office/drawing/2014/main" id="{16D2C8DD-4758-1655-6804-580EA64CA180}"/>
              </a:ext>
            </a:extLst>
          </p:cNvPr>
          <p:cNvSpPr>
            <a:spLocks noGrp="1"/>
          </p:cNvSpPr>
          <p:nvPr>
            <p:ph idx="1"/>
          </p:nvPr>
        </p:nvSpPr>
        <p:spPr>
          <a:xfrm>
            <a:off x="838200" y="1825625"/>
            <a:ext cx="10515600" cy="4444546"/>
          </a:xfrm>
        </p:spPr>
        <p:txBody>
          <a:bodyPr>
            <a:normAutofit/>
          </a:bodyPr>
          <a:lstStyle/>
          <a:p>
            <a:pPr>
              <a:lnSpc>
                <a:spcPct val="100000"/>
              </a:lnSpc>
            </a:pPr>
            <a:r>
              <a:rPr lang="en-IN" dirty="0"/>
              <a:t>Software Quality Attributes are the characteristics that determine how well a software system performs and satisfies user requirements. They define the quality, reliability, efficiency, and usability of software.</a:t>
            </a:r>
          </a:p>
          <a:p>
            <a:pPr>
              <a:lnSpc>
                <a:spcPct val="100000"/>
              </a:lnSpc>
            </a:pPr>
            <a:endParaRPr lang="en-IN" dirty="0"/>
          </a:p>
          <a:p>
            <a:pPr>
              <a:lnSpc>
                <a:spcPct val="100000"/>
              </a:lnSpc>
            </a:pPr>
            <a:r>
              <a:rPr lang="en-IN" dirty="0"/>
              <a:t>Definition</a:t>
            </a:r>
          </a:p>
          <a:p>
            <a:pPr>
              <a:lnSpc>
                <a:spcPct val="100000"/>
              </a:lnSpc>
            </a:pPr>
            <a:r>
              <a:rPr lang="en-IN" dirty="0"/>
              <a:t>Software Quality Attributes are measurable properties that describe the quality of a software system and determine whether it meets user expectations and business requirements.</a:t>
            </a:r>
          </a:p>
          <a:p>
            <a:endParaRPr lang="en-IN" dirty="0"/>
          </a:p>
        </p:txBody>
      </p:sp>
    </p:spTree>
    <p:extLst>
      <p:ext uri="{BB962C8B-B14F-4D97-AF65-F5344CB8AC3E}">
        <p14:creationId xmlns:p14="http://schemas.microsoft.com/office/powerpoint/2010/main" val="7615383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42B6A-C67D-DF5F-A102-8DDB656927E6}"/>
              </a:ext>
            </a:extLst>
          </p:cNvPr>
          <p:cNvSpPr>
            <a:spLocks noGrp="1"/>
          </p:cNvSpPr>
          <p:nvPr>
            <p:ph type="title"/>
          </p:nvPr>
        </p:nvSpPr>
        <p:spPr>
          <a:xfrm>
            <a:off x="838200" y="365126"/>
            <a:ext cx="10515600" cy="45130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65D98AF1-4910-DBB9-EB8A-628D5469C950}"/>
              </a:ext>
            </a:extLst>
          </p:cNvPr>
          <p:cNvSpPr>
            <a:spLocks noGrp="1"/>
          </p:cNvSpPr>
          <p:nvPr>
            <p:ph idx="1"/>
          </p:nvPr>
        </p:nvSpPr>
        <p:spPr>
          <a:xfrm>
            <a:off x="838200" y="1077686"/>
            <a:ext cx="10515600" cy="5099277"/>
          </a:xfrm>
        </p:spPr>
        <p:txBody>
          <a:bodyPr/>
          <a:lstStyle/>
          <a:p>
            <a:r>
              <a:rPr lang="en-IN" dirty="0"/>
              <a:t>Major Software Quality Attributes</a:t>
            </a:r>
          </a:p>
          <a:p>
            <a:pPr marL="0" indent="0">
              <a:buNone/>
            </a:pPr>
            <a:r>
              <a:rPr lang="en-IN" b="1" dirty="0"/>
              <a:t>1. Correctness</a:t>
            </a:r>
          </a:p>
          <a:p>
            <a:r>
              <a:rPr lang="en-IN" dirty="0"/>
              <a:t>The software performs the required functions correctly. </a:t>
            </a:r>
          </a:p>
          <a:p>
            <a:r>
              <a:rPr lang="en-IN" dirty="0"/>
              <a:t>It satisfies all specified user requirements.</a:t>
            </a:r>
          </a:p>
          <a:p>
            <a:pPr marL="0" indent="0">
              <a:buNone/>
            </a:pPr>
            <a:endParaRPr lang="en-IN" dirty="0"/>
          </a:p>
          <a:p>
            <a:pPr marL="0" indent="0">
              <a:buNone/>
            </a:pPr>
            <a:r>
              <a:rPr lang="en-IN" b="1" dirty="0"/>
              <a:t>2. Reliability</a:t>
            </a:r>
          </a:p>
          <a:p>
            <a:r>
              <a:rPr lang="en-IN" dirty="0"/>
              <a:t>The software works consistently without failures. </a:t>
            </a:r>
          </a:p>
          <a:p>
            <a:r>
              <a:rPr lang="en-IN" dirty="0"/>
              <a:t>It performs accurately under specified conditions for a given period.</a:t>
            </a:r>
          </a:p>
          <a:p>
            <a:pPr marL="0" indent="0">
              <a:buNone/>
            </a:pPr>
            <a:endParaRPr lang="en-IN" dirty="0"/>
          </a:p>
        </p:txBody>
      </p:sp>
    </p:spTree>
    <p:extLst>
      <p:ext uri="{BB962C8B-B14F-4D97-AF65-F5344CB8AC3E}">
        <p14:creationId xmlns:p14="http://schemas.microsoft.com/office/powerpoint/2010/main" val="1776779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64545-DA9E-322B-9A37-9D637010762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EA25706-A915-8B84-0F85-D80F8232BB22}"/>
              </a:ext>
            </a:extLst>
          </p:cNvPr>
          <p:cNvSpPr>
            <a:spLocks noGrp="1"/>
          </p:cNvSpPr>
          <p:nvPr>
            <p:ph idx="1"/>
          </p:nvPr>
        </p:nvSpPr>
        <p:spPr/>
        <p:txBody>
          <a:bodyPr/>
          <a:lstStyle/>
          <a:p>
            <a:pPr marL="0" indent="0">
              <a:buNone/>
            </a:pPr>
            <a:r>
              <a:rPr lang="en-IN" b="1" dirty="0"/>
              <a:t>3. Efficiency</a:t>
            </a:r>
          </a:p>
          <a:p>
            <a:r>
              <a:rPr lang="en-IN" dirty="0"/>
              <a:t>The software uses system resources (CPU, memory, storage, network) effectively. </a:t>
            </a:r>
          </a:p>
          <a:p>
            <a:r>
              <a:rPr lang="en-IN" dirty="0"/>
              <a:t>It provides fast response and good performance.</a:t>
            </a:r>
          </a:p>
          <a:p>
            <a:endParaRPr lang="en-IN" dirty="0"/>
          </a:p>
          <a:p>
            <a:pPr marL="0" indent="0">
              <a:buNone/>
            </a:pPr>
            <a:r>
              <a:rPr lang="en-IN" b="1" dirty="0"/>
              <a:t>4. Integrity (Security)</a:t>
            </a:r>
          </a:p>
          <a:p>
            <a:r>
              <a:rPr lang="en-IN" dirty="0"/>
              <a:t>Protects data from unauthorized access or modification. </a:t>
            </a:r>
          </a:p>
          <a:p>
            <a:r>
              <a:rPr lang="en-IN" dirty="0"/>
              <a:t>Ensures confidentiality and data security</a:t>
            </a:r>
          </a:p>
          <a:p>
            <a:endParaRPr lang="en-IN" dirty="0"/>
          </a:p>
          <a:p>
            <a:endParaRPr lang="en-IN" dirty="0"/>
          </a:p>
        </p:txBody>
      </p:sp>
    </p:spTree>
    <p:extLst>
      <p:ext uri="{BB962C8B-B14F-4D97-AF65-F5344CB8AC3E}">
        <p14:creationId xmlns:p14="http://schemas.microsoft.com/office/powerpoint/2010/main" val="23135474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0203C-A8C9-FFEF-F2AA-7EC010430D7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FE2D490-A288-2B3D-9A64-9FC6C8C28FC9}"/>
              </a:ext>
            </a:extLst>
          </p:cNvPr>
          <p:cNvSpPr>
            <a:spLocks noGrp="1"/>
          </p:cNvSpPr>
          <p:nvPr>
            <p:ph idx="1"/>
          </p:nvPr>
        </p:nvSpPr>
        <p:spPr/>
        <p:txBody>
          <a:bodyPr/>
          <a:lstStyle/>
          <a:p>
            <a:pPr marL="0" indent="0">
              <a:buNone/>
            </a:pPr>
            <a:r>
              <a:rPr lang="en-IN" b="1" dirty="0"/>
              <a:t>5. Usability</a:t>
            </a:r>
          </a:p>
          <a:p>
            <a:r>
              <a:rPr lang="en-IN" dirty="0"/>
              <a:t>The software is easy to learn, understand, and use. </a:t>
            </a:r>
          </a:p>
          <a:p>
            <a:r>
              <a:rPr lang="en-IN" dirty="0"/>
              <a:t>It provides a user-friendly interface</a:t>
            </a:r>
          </a:p>
          <a:p>
            <a:endParaRPr lang="en-IN" dirty="0"/>
          </a:p>
          <a:p>
            <a:pPr marL="0" indent="0">
              <a:buNone/>
            </a:pPr>
            <a:r>
              <a:rPr lang="en-IN" b="1" dirty="0"/>
              <a:t>6. Maintainability</a:t>
            </a:r>
          </a:p>
          <a:p>
            <a:r>
              <a:rPr lang="en-IN" dirty="0"/>
              <a:t>The software can be easily modified, corrected, or upgraded. </a:t>
            </a:r>
          </a:p>
          <a:p>
            <a:r>
              <a:rPr lang="en-IN" dirty="0"/>
              <a:t>Makes fixing bugs and adding new features easier.</a:t>
            </a:r>
          </a:p>
          <a:p>
            <a:endParaRPr lang="en-IN" dirty="0"/>
          </a:p>
          <a:p>
            <a:endParaRPr lang="en-IN" dirty="0"/>
          </a:p>
        </p:txBody>
      </p:sp>
    </p:spTree>
    <p:extLst>
      <p:ext uri="{BB962C8B-B14F-4D97-AF65-F5344CB8AC3E}">
        <p14:creationId xmlns:p14="http://schemas.microsoft.com/office/powerpoint/2010/main" val="6912854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5C82A-0656-8AF9-EEF2-38111EA1407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A7F603C-3490-D0C0-1CAA-1AD84114DADC}"/>
              </a:ext>
            </a:extLst>
          </p:cNvPr>
          <p:cNvSpPr>
            <a:spLocks noGrp="1"/>
          </p:cNvSpPr>
          <p:nvPr>
            <p:ph idx="1"/>
          </p:nvPr>
        </p:nvSpPr>
        <p:spPr/>
        <p:txBody>
          <a:bodyPr/>
          <a:lstStyle/>
          <a:p>
            <a:pPr marL="0" indent="0">
              <a:buNone/>
            </a:pPr>
            <a:r>
              <a:rPr lang="en-IN" b="1" dirty="0"/>
              <a:t>7. Flexibility</a:t>
            </a:r>
          </a:p>
          <a:p>
            <a:r>
              <a:rPr lang="en-IN" dirty="0"/>
              <a:t>The software can be adapted to changing user requirements. </a:t>
            </a:r>
          </a:p>
          <a:p>
            <a:r>
              <a:rPr lang="en-IN" dirty="0"/>
              <a:t>New features can be added with minimal effort.</a:t>
            </a:r>
          </a:p>
          <a:p>
            <a:endParaRPr lang="en-IN" dirty="0"/>
          </a:p>
          <a:p>
            <a:pPr marL="0" indent="0">
              <a:buNone/>
            </a:pPr>
            <a:r>
              <a:rPr lang="en-IN" b="1" dirty="0"/>
              <a:t>8. Testability</a:t>
            </a:r>
          </a:p>
          <a:p>
            <a:r>
              <a:rPr lang="en-IN" dirty="0"/>
              <a:t>The software can be easily tested to detect defects. </a:t>
            </a:r>
          </a:p>
          <a:p>
            <a:r>
              <a:rPr lang="en-IN" dirty="0"/>
              <a:t>Supports effective verification and validation.</a:t>
            </a:r>
          </a:p>
          <a:p>
            <a:endParaRPr lang="en-IN" dirty="0"/>
          </a:p>
        </p:txBody>
      </p:sp>
    </p:spTree>
    <p:extLst>
      <p:ext uri="{BB962C8B-B14F-4D97-AF65-F5344CB8AC3E}">
        <p14:creationId xmlns:p14="http://schemas.microsoft.com/office/powerpoint/2010/main" val="25124731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EA05C-5CB0-0EBD-B122-85EF62DF85E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0DE334-F302-17EC-8BC8-130BA8DD1D12}"/>
              </a:ext>
            </a:extLst>
          </p:cNvPr>
          <p:cNvSpPr>
            <a:spLocks noGrp="1"/>
          </p:cNvSpPr>
          <p:nvPr>
            <p:ph idx="1"/>
          </p:nvPr>
        </p:nvSpPr>
        <p:spPr/>
        <p:txBody>
          <a:bodyPr/>
          <a:lstStyle/>
          <a:p>
            <a:pPr marL="0" indent="0">
              <a:buNone/>
            </a:pPr>
            <a:r>
              <a:rPr lang="en-IN" b="1" dirty="0"/>
              <a:t>9. Portability</a:t>
            </a:r>
          </a:p>
          <a:p>
            <a:r>
              <a:rPr lang="en-IN" dirty="0"/>
              <a:t>The software can run on different operating systems or hardware platforms with little modification.</a:t>
            </a:r>
          </a:p>
          <a:p>
            <a:endParaRPr lang="en-IN" dirty="0"/>
          </a:p>
          <a:p>
            <a:pPr marL="0" indent="0">
              <a:buNone/>
            </a:pPr>
            <a:r>
              <a:rPr lang="en-IN" b="1" dirty="0"/>
              <a:t>10. Reusability</a:t>
            </a:r>
          </a:p>
          <a:p>
            <a:r>
              <a:rPr lang="en-IN" dirty="0"/>
              <a:t>Software components can be reused in other applications. </a:t>
            </a:r>
          </a:p>
          <a:p>
            <a:r>
              <a:rPr lang="en-IN" dirty="0"/>
              <a:t>Reduces development time and cost.</a:t>
            </a:r>
          </a:p>
          <a:p>
            <a:endParaRPr lang="en-IN" dirty="0"/>
          </a:p>
        </p:txBody>
      </p:sp>
    </p:spTree>
    <p:extLst>
      <p:ext uri="{BB962C8B-B14F-4D97-AF65-F5344CB8AC3E}">
        <p14:creationId xmlns:p14="http://schemas.microsoft.com/office/powerpoint/2010/main" val="21936553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F2D21-ACF9-32CF-3322-CC3B3D9AD79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0A2FBA5-000B-B303-0452-6070EE862DAF}"/>
              </a:ext>
            </a:extLst>
          </p:cNvPr>
          <p:cNvSpPr>
            <a:spLocks noGrp="1"/>
          </p:cNvSpPr>
          <p:nvPr>
            <p:ph idx="1"/>
          </p:nvPr>
        </p:nvSpPr>
        <p:spPr/>
        <p:txBody>
          <a:bodyPr/>
          <a:lstStyle/>
          <a:p>
            <a:pPr marL="0" indent="0">
              <a:buNone/>
            </a:pPr>
            <a:r>
              <a:rPr lang="en-IN" b="1" dirty="0"/>
              <a:t>11. Interoperability</a:t>
            </a:r>
          </a:p>
          <a:p>
            <a:r>
              <a:rPr lang="en-IN" dirty="0"/>
              <a:t>The software can communicate and exchange data with other systems.</a:t>
            </a:r>
          </a:p>
          <a:p>
            <a:endParaRPr lang="en-IN" dirty="0"/>
          </a:p>
          <a:p>
            <a:endParaRPr lang="en-IN" dirty="0"/>
          </a:p>
        </p:txBody>
      </p:sp>
    </p:spTree>
    <p:extLst>
      <p:ext uri="{BB962C8B-B14F-4D97-AF65-F5344CB8AC3E}">
        <p14:creationId xmlns:p14="http://schemas.microsoft.com/office/powerpoint/2010/main" val="35090479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592D7-AB4F-5F11-5B60-AD913D8120EF}"/>
              </a:ext>
            </a:extLst>
          </p:cNvPr>
          <p:cNvSpPr>
            <a:spLocks noGrp="1"/>
          </p:cNvSpPr>
          <p:nvPr>
            <p:ph type="title"/>
          </p:nvPr>
        </p:nvSpPr>
        <p:spPr/>
        <p:txBody>
          <a:bodyPr/>
          <a:lstStyle/>
          <a:p>
            <a:r>
              <a:rPr lang="en-IN" dirty="0"/>
              <a:t>Software Process and development</a:t>
            </a:r>
          </a:p>
        </p:txBody>
      </p:sp>
      <p:sp>
        <p:nvSpPr>
          <p:cNvPr id="3" name="Content Placeholder 2">
            <a:extLst>
              <a:ext uri="{FF2B5EF4-FFF2-40B4-BE49-F238E27FC236}">
                <a16:creationId xmlns:a16="http://schemas.microsoft.com/office/drawing/2014/main" id="{53BDE89B-F945-5FAE-7001-91622743699D}"/>
              </a:ext>
            </a:extLst>
          </p:cNvPr>
          <p:cNvSpPr>
            <a:spLocks noGrp="1"/>
          </p:cNvSpPr>
          <p:nvPr>
            <p:ph idx="1"/>
          </p:nvPr>
        </p:nvSpPr>
        <p:spPr/>
        <p:txBody>
          <a:bodyPr/>
          <a:lstStyle/>
          <a:p>
            <a:pPr fontAlgn="base">
              <a:lnSpc>
                <a:spcPct val="150000"/>
              </a:lnSpc>
            </a:pPr>
            <a:r>
              <a:rPr lang="en-IN" b="1" dirty="0"/>
              <a:t>What is Software Development Process?</a:t>
            </a:r>
          </a:p>
          <a:p>
            <a:pPr fontAlgn="base">
              <a:lnSpc>
                <a:spcPct val="150000"/>
              </a:lnSpc>
            </a:pPr>
            <a:r>
              <a:rPr lang="en-IN" dirty="0"/>
              <a:t>The software development process is the approach to developing, and delivering software applications. This process might include improving design and product management by splitting the work into smaller steps or processes.</a:t>
            </a:r>
          </a:p>
          <a:p>
            <a:pPr>
              <a:lnSpc>
                <a:spcPct val="150000"/>
              </a:lnSpc>
            </a:pPr>
            <a:endParaRPr lang="en-IN" dirty="0"/>
          </a:p>
        </p:txBody>
      </p:sp>
    </p:spTree>
    <p:extLst>
      <p:ext uri="{BB962C8B-B14F-4D97-AF65-F5344CB8AC3E}">
        <p14:creationId xmlns:p14="http://schemas.microsoft.com/office/powerpoint/2010/main" val="40453641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145B2-5EB2-7960-0585-B939F579B5E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4FB6A7A-3770-3283-6565-DF4B510DC33B}"/>
              </a:ext>
            </a:extLst>
          </p:cNvPr>
          <p:cNvPicPr>
            <a:picLocks noGrp="1" noChangeAspect="1"/>
          </p:cNvPicPr>
          <p:nvPr>
            <p:ph idx="1"/>
          </p:nvPr>
        </p:nvPicPr>
        <p:blipFill>
          <a:blip r:embed="rId2"/>
          <a:stretch>
            <a:fillRect/>
          </a:stretch>
        </p:blipFill>
        <p:spPr>
          <a:xfrm>
            <a:off x="685800" y="365125"/>
            <a:ext cx="10668000" cy="6139543"/>
          </a:xfrm>
          <a:prstGeom prst="rect">
            <a:avLst/>
          </a:prstGeom>
        </p:spPr>
      </p:pic>
    </p:spTree>
    <p:extLst>
      <p:ext uri="{BB962C8B-B14F-4D97-AF65-F5344CB8AC3E}">
        <p14:creationId xmlns:p14="http://schemas.microsoft.com/office/powerpoint/2010/main" val="34258695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AC951D-9B53-358E-5954-92A8CDDADE8D}"/>
              </a:ext>
            </a:extLst>
          </p:cNvPr>
          <p:cNvSpPr>
            <a:spLocks noGrp="1"/>
          </p:cNvSpPr>
          <p:nvPr>
            <p:ph idx="1"/>
          </p:nvPr>
        </p:nvSpPr>
        <p:spPr>
          <a:xfrm>
            <a:off x="838200" y="859971"/>
            <a:ext cx="10515600" cy="5316992"/>
          </a:xfrm>
        </p:spPr>
        <p:txBody>
          <a:bodyPr/>
          <a:lstStyle/>
          <a:p>
            <a:pPr marL="0" indent="0">
              <a:buNone/>
            </a:pPr>
            <a:r>
              <a:rPr lang="en-IN" b="1" dirty="0"/>
              <a:t>1. Communication</a:t>
            </a:r>
          </a:p>
          <a:p>
            <a:r>
              <a:rPr lang="en-IN" dirty="0"/>
              <a:t>Developers meet with the client or stakeholders. </a:t>
            </a:r>
          </a:p>
          <a:p>
            <a:r>
              <a:rPr lang="en-IN" dirty="0"/>
              <a:t>They discuss the problem and understand what the software should do. </a:t>
            </a:r>
          </a:p>
          <a:p>
            <a:r>
              <a:rPr lang="en-IN" b="1" dirty="0"/>
              <a:t>Goal:</a:t>
            </a:r>
            <a:r>
              <a:rPr lang="en-IN" dirty="0"/>
              <a:t> Understand the client's needs.</a:t>
            </a:r>
          </a:p>
          <a:p>
            <a:endParaRPr lang="en-IN" dirty="0"/>
          </a:p>
          <a:p>
            <a:pPr marL="0" indent="0">
              <a:buNone/>
            </a:pPr>
            <a:r>
              <a:rPr lang="en-IN" b="1" dirty="0"/>
              <a:t>2. Requirement Gathering</a:t>
            </a:r>
          </a:p>
          <a:p>
            <a:r>
              <a:rPr lang="en-IN" dirty="0"/>
              <a:t>Collect all functional and non-functional requirements. </a:t>
            </a:r>
          </a:p>
          <a:p>
            <a:r>
              <a:rPr lang="en-IN" dirty="0"/>
              <a:t>Document them clearly. </a:t>
            </a:r>
          </a:p>
          <a:p>
            <a:r>
              <a:rPr lang="en-IN" b="1" dirty="0"/>
              <a:t>Output:</a:t>
            </a:r>
            <a:r>
              <a:rPr lang="en-IN" dirty="0"/>
              <a:t> Software Requirements Specification (SRS).</a:t>
            </a:r>
          </a:p>
          <a:p>
            <a:pPr marL="0" indent="0">
              <a:buNone/>
            </a:pPr>
            <a:endParaRPr lang="en-IN" dirty="0"/>
          </a:p>
        </p:txBody>
      </p:sp>
    </p:spTree>
    <p:extLst>
      <p:ext uri="{BB962C8B-B14F-4D97-AF65-F5344CB8AC3E}">
        <p14:creationId xmlns:p14="http://schemas.microsoft.com/office/powerpoint/2010/main" val="9293907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60D112-FEB2-EF5E-65D6-4D1901FC2F8A}"/>
              </a:ext>
            </a:extLst>
          </p:cNvPr>
          <p:cNvSpPr>
            <a:spLocks noGrp="1"/>
          </p:cNvSpPr>
          <p:nvPr>
            <p:ph idx="1"/>
          </p:nvPr>
        </p:nvSpPr>
        <p:spPr>
          <a:xfrm>
            <a:off x="838200" y="957943"/>
            <a:ext cx="10515600" cy="5219020"/>
          </a:xfrm>
        </p:spPr>
        <p:txBody>
          <a:bodyPr>
            <a:normAutofit lnSpcReduction="10000"/>
          </a:bodyPr>
          <a:lstStyle/>
          <a:p>
            <a:pPr marL="0" indent="0">
              <a:lnSpc>
                <a:spcPct val="150000"/>
              </a:lnSpc>
              <a:buNone/>
            </a:pPr>
            <a:r>
              <a:rPr lang="en-IN" b="1" dirty="0"/>
              <a:t>3. Feasibility Study</a:t>
            </a:r>
          </a:p>
          <a:p>
            <a:pPr>
              <a:lnSpc>
                <a:spcPct val="150000"/>
              </a:lnSpc>
            </a:pPr>
            <a:r>
              <a:rPr lang="en-IN" dirty="0"/>
              <a:t>Analyse whether the project is possible. </a:t>
            </a:r>
          </a:p>
          <a:p>
            <a:pPr>
              <a:lnSpc>
                <a:spcPct val="150000"/>
              </a:lnSpc>
            </a:pPr>
            <a:r>
              <a:rPr lang="en-IN" dirty="0"/>
              <a:t>Check: </a:t>
            </a:r>
          </a:p>
          <a:p>
            <a:pPr lvl="1">
              <a:lnSpc>
                <a:spcPct val="150000"/>
              </a:lnSpc>
            </a:pPr>
            <a:r>
              <a:rPr lang="en-IN" b="1" dirty="0"/>
              <a:t>Technical feasibility:</a:t>
            </a:r>
            <a:r>
              <a:rPr lang="en-IN" dirty="0"/>
              <a:t> Can it be built? </a:t>
            </a:r>
          </a:p>
          <a:p>
            <a:pPr lvl="1">
              <a:lnSpc>
                <a:spcPct val="150000"/>
              </a:lnSpc>
            </a:pPr>
            <a:r>
              <a:rPr lang="en-IN" b="1" dirty="0"/>
              <a:t>Economic feasibility:</a:t>
            </a:r>
            <a:r>
              <a:rPr lang="en-IN" dirty="0"/>
              <a:t> Is it within budget? </a:t>
            </a:r>
          </a:p>
          <a:p>
            <a:pPr lvl="1">
              <a:lnSpc>
                <a:spcPct val="150000"/>
              </a:lnSpc>
            </a:pPr>
            <a:r>
              <a:rPr lang="en-IN" b="1" dirty="0"/>
              <a:t>Operational feasibility:</a:t>
            </a:r>
            <a:r>
              <a:rPr lang="en-IN" dirty="0"/>
              <a:t> Will users accept it? </a:t>
            </a:r>
          </a:p>
          <a:p>
            <a:pPr lvl="1">
              <a:lnSpc>
                <a:spcPct val="150000"/>
              </a:lnSpc>
            </a:pPr>
            <a:r>
              <a:rPr lang="en-IN" b="1" dirty="0"/>
              <a:t>Time feasibility:</a:t>
            </a:r>
            <a:r>
              <a:rPr lang="en-IN" dirty="0"/>
              <a:t> Can it be completed on time? </a:t>
            </a:r>
          </a:p>
          <a:p>
            <a:pPr>
              <a:lnSpc>
                <a:spcPct val="150000"/>
              </a:lnSpc>
            </a:pPr>
            <a:r>
              <a:rPr lang="en-IN" b="1" dirty="0"/>
              <a:t>Goal:</a:t>
            </a:r>
            <a:r>
              <a:rPr lang="en-IN" dirty="0"/>
              <a:t> Decide whether to proceed.</a:t>
            </a:r>
          </a:p>
          <a:p>
            <a:pPr>
              <a:lnSpc>
                <a:spcPct val="150000"/>
              </a:lnSpc>
            </a:pPr>
            <a:endParaRPr lang="en-IN" dirty="0"/>
          </a:p>
        </p:txBody>
      </p:sp>
    </p:spTree>
    <p:extLst>
      <p:ext uri="{BB962C8B-B14F-4D97-AF65-F5344CB8AC3E}">
        <p14:creationId xmlns:p14="http://schemas.microsoft.com/office/powerpoint/2010/main" val="28668137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25C05-381E-22B0-87B4-1EAFCBAFA1F3}"/>
              </a:ext>
            </a:extLst>
          </p:cNvPr>
          <p:cNvSpPr>
            <a:spLocks noGrp="1"/>
          </p:cNvSpPr>
          <p:nvPr>
            <p:ph idx="1"/>
          </p:nvPr>
        </p:nvSpPr>
        <p:spPr>
          <a:xfrm>
            <a:off x="1132114" y="1208314"/>
            <a:ext cx="10515600" cy="3766457"/>
          </a:xfrm>
        </p:spPr>
        <p:txBody>
          <a:bodyPr>
            <a:normAutofit/>
          </a:bodyPr>
          <a:lstStyle/>
          <a:p>
            <a:pPr marL="0" indent="0">
              <a:lnSpc>
                <a:spcPct val="120000"/>
              </a:lnSpc>
              <a:buNone/>
            </a:pPr>
            <a:r>
              <a:rPr lang="en-IN" sz="2400" b="1" dirty="0"/>
              <a:t>4. System Analysis (Planning Phase)</a:t>
            </a:r>
          </a:p>
          <a:p>
            <a:pPr>
              <a:lnSpc>
                <a:spcPct val="120000"/>
              </a:lnSpc>
            </a:pPr>
            <a:r>
              <a:rPr lang="en-IN" sz="2400" dirty="0"/>
              <a:t>Study the requirements in detail. </a:t>
            </a:r>
          </a:p>
          <a:p>
            <a:pPr>
              <a:lnSpc>
                <a:spcPct val="120000"/>
              </a:lnSpc>
            </a:pPr>
            <a:r>
              <a:rPr lang="en-IN" sz="2400" dirty="0"/>
              <a:t>Break the project into modules. </a:t>
            </a:r>
          </a:p>
          <a:p>
            <a:pPr>
              <a:lnSpc>
                <a:spcPct val="120000"/>
              </a:lnSpc>
            </a:pPr>
            <a:r>
              <a:rPr lang="en-IN" sz="2400" dirty="0"/>
              <a:t>Plan resources, schedule, risks, and architecture. </a:t>
            </a:r>
          </a:p>
          <a:p>
            <a:pPr>
              <a:lnSpc>
                <a:spcPct val="120000"/>
              </a:lnSpc>
            </a:pPr>
            <a:r>
              <a:rPr lang="en-IN" sz="2400" b="1" dirty="0"/>
              <a:t>Goal:</a:t>
            </a:r>
            <a:r>
              <a:rPr lang="en-IN" sz="2400" dirty="0"/>
              <a:t> Create a clear development plan.</a:t>
            </a:r>
          </a:p>
          <a:p>
            <a:pPr>
              <a:lnSpc>
                <a:spcPct val="120000"/>
              </a:lnSpc>
            </a:pPr>
            <a:endParaRPr lang="en-IN" sz="2400" dirty="0"/>
          </a:p>
          <a:p>
            <a:pPr marL="0" indent="0">
              <a:lnSpc>
                <a:spcPct val="120000"/>
              </a:lnSpc>
              <a:buNone/>
            </a:pPr>
            <a:endParaRPr lang="en-IN" sz="2400" dirty="0"/>
          </a:p>
          <a:p>
            <a:pPr>
              <a:lnSpc>
                <a:spcPct val="120000"/>
              </a:lnSpc>
            </a:pPr>
            <a:endParaRPr lang="en-IN" sz="2400" dirty="0"/>
          </a:p>
          <a:p>
            <a:pPr>
              <a:lnSpc>
                <a:spcPct val="120000"/>
              </a:lnSpc>
            </a:pPr>
            <a:endParaRPr lang="en-IN" sz="2400" dirty="0"/>
          </a:p>
        </p:txBody>
      </p:sp>
    </p:spTree>
    <p:extLst>
      <p:ext uri="{BB962C8B-B14F-4D97-AF65-F5344CB8AC3E}">
        <p14:creationId xmlns:p14="http://schemas.microsoft.com/office/powerpoint/2010/main" val="38585079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D5491E-A946-801C-9C3D-901597B32B04}"/>
              </a:ext>
            </a:extLst>
          </p:cNvPr>
          <p:cNvSpPr>
            <a:spLocks noGrp="1"/>
          </p:cNvSpPr>
          <p:nvPr>
            <p:ph idx="1"/>
          </p:nvPr>
        </p:nvSpPr>
        <p:spPr>
          <a:xfrm>
            <a:off x="838200" y="758825"/>
            <a:ext cx="10515600" cy="4351338"/>
          </a:xfrm>
        </p:spPr>
        <p:txBody>
          <a:bodyPr>
            <a:normAutofit fontScale="77500" lnSpcReduction="20000"/>
          </a:bodyPr>
          <a:lstStyle/>
          <a:p>
            <a:pPr marL="0" indent="0">
              <a:lnSpc>
                <a:spcPct val="120000"/>
              </a:lnSpc>
              <a:buNone/>
            </a:pPr>
            <a:r>
              <a:rPr lang="en-IN" sz="3800" b="1" dirty="0"/>
              <a:t>5. Software Design</a:t>
            </a:r>
          </a:p>
          <a:p>
            <a:pPr>
              <a:lnSpc>
                <a:spcPct val="120000"/>
              </a:lnSpc>
            </a:pPr>
            <a:r>
              <a:rPr lang="en-IN" sz="3800" dirty="0"/>
              <a:t>Design how the software will work. </a:t>
            </a:r>
          </a:p>
          <a:p>
            <a:pPr>
              <a:lnSpc>
                <a:spcPct val="120000"/>
              </a:lnSpc>
            </a:pPr>
            <a:r>
              <a:rPr lang="en-IN" sz="3800" dirty="0"/>
              <a:t>Create: </a:t>
            </a:r>
          </a:p>
          <a:p>
            <a:pPr lvl="1">
              <a:lnSpc>
                <a:spcPct val="120000"/>
              </a:lnSpc>
            </a:pPr>
            <a:r>
              <a:rPr lang="en-IN" sz="3800" dirty="0"/>
              <a:t>Database design </a:t>
            </a:r>
          </a:p>
          <a:p>
            <a:pPr lvl="1">
              <a:lnSpc>
                <a:spcPct val="120000"/>
              </a:lnSpc>
            </a:pPr>
            <a:r>
              <a:rPr lang="en-IN" sz="3800" dirty="0"/>
              <a:t>User interface (UI) </a:t>
            </a:r>
          </a:p>
          <a:p>
            <a:pPr lvl="1">
              <a:lnSpc>
                <a:spcPct val="120000"/>
              </a:lnSpc>
            </a:pPr>
            <a:r>
              <a:rPr lang="en-IN" sz="3800" dirty="0"/>
              <a:t>System architecture </a:t>
            </a:r>
          </a:p>
          <a:p>
            <a:pPr lvl="1">
              <a:lnSpc>
                <a:spcPct val="120000"/>
              </a:lnSpc>
            </a:pPr>
            <a:r>
              <a:rPr lang="en-IN" sz="3800" dirty="0"/>
              <a:t>Algorithms </a:t>
            </a:r>
          </a:p>
          <a:p>
            <a:pPr>
              <a:lnSpc>
                <a:spcPct val="120000"/>
              </a:lnSpc>
            </a:pPr>
            <a:r>
              <a:rPr lang="en-IN" b="1" dirty="0"/>
              <a:t>Output:</a:t>
            </a:r>
            <a:r>
              <a:rPr lang="en-IN" dirty="0"/>
              <a:t> Design documents.</a:t>
            </a:r>
          </a:p>
          <a:p>
            <a:endParaRPr lang="en-IN" dirty="0"/>
          </a:p>
        </p:txBody>
      </p:sp>
    </p:spTree>
    <p:extLst>
      <p:ext uri="{BB962C8B-B14F-4D97-AF65-F5344CB8AC3E}">
        <p14:creationId xmlns:p14="http://schemas.microsoft.com/office/powerpoint/2010/main" val="21506004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53EB1C-2B22-0F35-B1BE-AE48E0E5945A}"/>
              </a:ext>
            </a:extLst>
          </p:cNvPr>
          <p:cNvSpPr>
            <a:spLocks noGrp="1"/>
          </p:cNvSpPr>
          <p:nvPr>
            <p:ph idx="1"/>
          </p:nvPr>
        </p:nvSpPr>
        <p:spPr>
          <a:xfrm>
            <a:off x="838200" y="468086"/>
            <a:ext cx="10515600" cy="5943600"/>
          </a:xfrm>
        </p:spPr>
        <p:txBody>
          <a:bodyPr>
            <a:normAutofit/>
          </a:bodyPr>
          <a:lstStyle/>
          <a:p>
            <a:pPr marL="0" indent="0">
              <a:lnSpc>
                <a:spcPct val="100000"/>
              </a:lnSpc>
              <a:buNone/>
            </a:pPr>
            <a:r>
              <a:rPr lang="en-IN" b="1" dirty="0"/>
              <a:t>6. Coding</a:t>
            </a:r>
          </a:p>
          <a:p>
            <a:pPr>
              <a:lnSpc>
                <a:spcPct val="100000"/>
              </a:lnSpc>
            </a:pPr>
            <a:r>
              <a:rPr lang="en-IN" dirty="0"/>
              <a:t>Developers write the actual program using programming languages such as Java, Python, C++, or JavaScript. </a:t>
            </a:r>
          </a:p>
          <a:p>
            <a:pPr>
              <a:lnSpc>
                <a:spcPct val="100000"/>
              </a:lnSpc>
            </a:pPr>
            <a:r>
              <a:rPr lang="en-IN" b="1" dirty="0"/>
              <a:t>Goal:</a:t>
            </a:r>
            <a:r>
              <a:rPr lang="en-IN" dirty="0"/>
              <a:t> Convert the design into working software.</a:t>
            </a:r>
          </a:p>
          <a:p>
            <a:pPr>
              <a:lnSpc>
                <a:spcPct val="100000"/>
              </a:lnSpc>
            </a:pPr>
            <a:endParaRPr lang="en-IN" dirty="0"/>
          </a:p>
          <a:p>
            <a:pPr marL="0" indent="0">
              <a:lnSpc>
                <a:spcPct val="100000"/>
              </a:lnSpc>
              <a:buNone/>
            </a:pPr>
            <a:r>
              <a:rPr lang="en-IN" b="1" dirty="0"/>
              <a:t>7. Testing</a:t>
            </a:r>
          </a:p>
          <a:p>
            <a:pPr>
              <a:lnSpc>
                <a:spcPct val="100000"/>
              </a:lnSpc>
            </a:pPr>
            <a:r>
              <a:rPr lang="en-IN" dirty="0"/>
              <a:t>Testing is the process of checking whether the software works correctly and meets the user's requirements. </a:t>
            </a:r>
          </a:p>
          <a:p>
            <a:pPr>
              <a:lnSpc>
                <a:spcPct val="100000"/>
              </a:lnSpc>
            </a:pPr>
            <a:r>
              <a:rPr lang="en-IN" dirty="0"/>
              <a:t>It helps identify and fix errors (bugs) before the software is delivered to users.</a:t>
            </a:r>
          </a:p>
          <a:p>
            <a:pPr marL="0" indent="0">
              <a:lnSpc>
                <a:spcPct val="100000"/>
              </a:lnSpc>
              <a:buNone/>
            </a:pPr>
            <a:endParaRPr lang="en-IN" dirty="0"/>
          </a:p>
        </p:txBody>
      </p:sp>
    </p:spTree>
    <p:extLst>
      <p:ext uri="{BB962C8B-B14F-4D97-AF65-F5344CB8AC3E}">
        <p14:creationId xmlns:p14="http://schemas.microsoft.com/office/powerpoint/2010/main" val="14627060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7FF76B-4D07-67F8-F4D6-F595F8C36FAC}"/>
              </a:ext>
            </a:extLst>
          </p:cNvPr>
          <p:cNvSpPr>
            <a:spLocks noGrp="1"/>
          </p:cNvSpPr>
          <p:nvPr>
            <p:ph idx="1"/>
          </p:nvPr>
        </p:nvSpPr>
        <p:spPr>
          <a:xfrm>
            <a:off x="838200" y="737053"/>
            <a:ext cx="10515600" cy="5108575"/>
          </a:xfrm>
        </p:spPr>
        <p:txBody>
          <a:bodyPr>
            <a:normAutofit/>
          </a:bodyPr>
          <a:lstStyle/>
          <a:p>
            <a:pPr>
              <a:lnSpc>
                <a:spcPct val="100000"/>
              </a:lnSpc>
            </a:pPr>
            <a:r>
              <a:rPr lang="en-IN" dirty="0"/>
              <a:t>Common testing types: </a:t>
            </a:r>
          </a:p>
          <a:p>
            <a:pPr lvl="1">
              <a:lnSpc>
                <a:spcPct val="100000"/>
              </a:lnSpc>
            </a:pPr>
            <a:r>
              <a:rPr lang="en-IN" sz="2800" dirty="0"/>
              <a:t>Unit Testing </a:t>
            </a:r>
          </a:p>
          <a:p>
            <a:pPr lvl="1">
              <a:lnSpc>
                <a:spcPct val="100000"/>
              </a:lnSpc>
            </a:pPr>
            <a:r>
              <a:rPr lang="en-IN" sz="2800" dirty="0"/>
              <a:t>Integration Testing </a:t>
            </a:r>
          </a:p>
          <a:p>
            <a:pPr lvl="1">
              <a:lnSpc>
                <a:spcPct val="100000"/>
              </a:lnSpc>
            </a:pPr>
            <a:r>
              <a:rPr lang="en-IN" sz="2800" dirty="0"/>
              <a:t>System Testing </a:t>
            </a:r>
          </a:p>
          <a:p>
            <a:pPr lvl="1">
              <a:lnSpc>
                <a:spcPct val="100000"/>
              </a:lnSpc>
            </a:pPr>
            <a:endParaRPr lang="en-IN" dirty="0"/>
          </a:p>
          <a:p>
            <a:pPr marL="0" indent="0">
              <a:lnSpc>
                <a:spcPct val="150000"/>
              </a:lnSpc>
              <a:buNone/>
            </a:pPr>
            <a:r>
              <a:rPr lang="en-IN" b="1" dirty="0"/>
              <a:t>8. Integration</a:t>
            </a:r>
            <a:br>
              <a:rPr lang="en-IN" dirty="0"/>
            </a:br>
            <a:r>
              <a:rPr lang="en-IN" dirty="0"/>
              <a:t>    </a:t>
            </a:r>
            <a:r>
              <a:rPr lang="en-IN" dirty="0" err="1"/>
              <a:t>Integration</a:t>
            </a:r>
            <a:r>
              <a:rPr lang="en-IN" dirty="0"/>
              <a:t> is the process of combining all the individual software modules (frontend, backend, database, APIs, and libraries) into one complete system so they work together correctly.</a:t>
            </a:r>
          </a:p>
          <a:p>
            <a:pPr marL="0" indent="0">
              <a:lnSpc>
                <a:spcPct val="100000"/>
              </a:lnSpc>
              <a:buNone/>
            </a:pPr>
            <a:endParaRPr lang="en-IN" dirty="0"/>
          </a:p>
        </p:txBody>
      </p:sp>
    </p:spTree>
    <p:extLst>
      <p:ext uri="{BB962C8B-B14F-4D97-AF65-F5344CB8AC3E}">
        <p14:creationId xmlns:p14="http://schemas.microsoft.com/office/powerpoint/2010/main" val="36092778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1621A9-C58A-C7A4-559A-A607AE1140F3}"/>
              </a:ext>
            </a:extLst>
          </p:cNvPr>
          <p:cNvSpPr>
            <a:spLocks noGrp="1"/>
          </p:cNvSpPr>
          <p:nvPr>
            <p:ph idx="1"/>
          </p:nvPr>
        </p:nvSpPr>
        <p:spPr>
          <a:xfrm>
            <a:off x="685800" y="954767"/>
            <a:ext cx="10515600" cy="5282747"/>
          </a:xfrm>
        </p:spPr>
        <p:txBody>
          <a:bodyPr>
            <a:normAutofit fontScale="92500" lnSpcReduction="10000"/>
          </a:bodyPr>
          <a:lstStyle/>
          <a:p>
            <a:pPr marL="0" indent="0">
              <a:buNone/>
            </a:pPr>
            <a:r>
              <a:rPr lang="en-IN" b="1" dirty="0"/>
              <a:t>9. Implementation (Deployment)</a:t>
            </a:r>
          </a:p>
          <a:p>
            <a:pPr marL="0" indent="0">
              <a:lnSpc>
                <a:spcPct val="110000"/>
              </a:lnSpc>
              <a:buNone/>
            </a:pPr>
            <a:br>
              <a:rPr lang="en-IN" dirty="0"/>
            </a:br>
            <a:r>
              <a:rPr lang="en-IN" dirty="0"/>
              <a:t>Implementation is the stage where the completed software is installed and made available for users to use in the real environment.</a:t>
            </a:r>
          </a:p>
          <a:p>
            <a:pPr marL="0" indent="0">
              <a:lnSpc>
                <a:spcPct val="110000"/>
              </a:lnSpc>
              <a:buNone/>
            </a:pPr>
            <a:endParaRPr lang="en-IN" dirty="0"/>
          </a:p>
          <a:p>
            <a:pPr marL="0" indent="0">
              <a:lnSpc>
                <a:spcPct val="110000"/>
              </a:lnSpc>
              <a:buNone/>
            </a:pPr>
            <a:r>
              <a:rPr lang="en-IN" b="1" dirty="0"/>
              <a:t>10. Operation and Maintenance</a:t>
            </a:r>
          </a:p>
          <a:p>
            <a:pPr marL="0" indent="0">
              <a:lnSpc>
                <a:spcPct val="110000"/>
              </a:lnSpc>
              <a:buNone/>
            </a:pPr>
            <a:br>
              <a:rPr lang="en-IN" dirty="0"/>
            </a:br>
            <a:r>
              <a:rPr lang="en-IN" dirty="0"/>
              <a:t>Operation and Maintenance is the final phase of the Software Development Process (SDP). In this phase, the software is used by end users, monitored for performance, and regularly updated to fix bugs, improve features, and adapt to changing technologies or user requirements.</a:t>
            </a:r>
          </a:p>
          <a:p>
            <a:endParaRPr lang="en-IN" dirty="0"/>
          </a:p>
        </p:txBody>
      </p:sp>
    </p:spTree>
    <p:extLst>
      <p:ext uri="{BB962C8B-B14F-4D97-AF65-F5344CB8AC3E}">
        <p14:creationId xmlns:p14="http://schemas.microsoft.com/office/powerpoint/2010/main" val="8332875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1243F-91AD-D8EA-86F0-D33201A10E6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4496B74-5F4E-A027-5591-6BC8A25D9E7C}"/>
              </a:ext>
            </a:extLst>
          </p:cNvPr>
          <p:cNvSpPr>
            <a:spLocks noGrp="1"/>
          </p:cNvSpPr>
          <p:nvPr>
            <p:ph idx="1"/>
          </p:nvPr>
        </p:nvSpPr>
        <p:spPr/>
        <p:txBody>
          <a:bodyPr/>
          <a:lstStyle/>
          <a:p>
            <a:r>
              <a:rPr lang="en-IN" b="1" dirty="0"/>
              <a:t>Activities in Operation and Maintenance</a:t>
            </a:r>
          </a:p>
          <a:p>
            <a:r>
              <a:rPr lang="en-IN" dirty="0"/>
              <a:t>Monitor software performance. </a:t>
            </a:r>
          </a:p>
          <a:p>
            <a:r>
              <a:rPr lang="en-IN" dirty="0"/>
              <a:t>Fix bugs and errors. </a:t>
            </a:r>
          </a:p>
          <a:p>
            <a:r>
              <a:rPr lang="en-IN" dirty="0"/>
              <a:t>Provide user support and documentation. </a:t>
            </a:r>
          </a:p>
          <a:p>
            <a:r>
              <a:rPr lang="en-IN" dirty="0"/>
              <a:t>Update the software with new features. </a:t>
            </a:r>
          </a:p>
          <a:p>
            <a:r>
              <a:rPr lang="en-IN" dirty="0"/>
              <a:t>Improve performance and security. </a:t>
            </a:r>
          </a:p>
          <a:p>
            <a:r>
              <a:rPr lang="en-IN" dirty="0"/>
              <a:t>Ensure compatibility with new technologies and operating systems.</a:t>
            </a:r>
          </a:p>
          <a:p>
            <a:endParaRPr lang="en-IN" dirty="0"/>
          </a:p>
        </p:txBody>
      </p:sp>
    </p:spTree>
    <p:extLst>
      <p:ext uri="{BB962C8B-B14F-4D97-AF65-F5344CB8AC3E}">
        <p14:creationId xmlns:p14="http://schemas.microsoft.com/office/powerpoint/2010/main" val="7650522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5A36E-11AD-19D0-7930-3E657B165B7C}"/>
              </a:ext>
            </a:extLst>
          </p:cNvPr>
          <p:cNvSpPr>
            <a:spLocks noGrp="1"/>
          </p:cNvSpPr>
          <p:nvPr>
            <p:ph type="title"/>
          </p:nvPr>
        </p:nvSpPr>
        <p:spPr/>
        <p:txBody>
          <a:bodyPr/>
          <a:lstStyle/>
          <a:p>
            <a:r>
              <a:rPr lang="en-IN" dirty="0"/>
              <a:t>Software life cycle and Models</a:t>
            </a:r>
          </a:p>
        </p:txBody>
      </p:sp>
      <p:sp>
        <p:nvSpPr>
          <p:cNvPr id="3" name="Content Placeholder 2">
            <a:extLst>
              <a:ext uri="{FF2B5EF4-FFF2-40B4-BE49-F238E27FC236}">
                <a16:creationId xmlns:a16="http://schemas.microsoft.com/office/drawing/2014/main" id="{DABEFA86-3EA2-B982-9C9E-38F0A9E0EFA1}"/>
              </a:ext>
            </a:extLst>
          </p:cNvPr>
          <p:cNvSpPr>
            <a:spLocks noGrp="1"/>
          </p:cNvSpPr>
          <p:nvPr>
            <p:ph idx="1"/>
          </p:nvPr>
        </p:nvSpPr>
        <p:spPr/>
        <p:txBody>
          <a:bodyPr>
            <a:normAutofit fontScale="92500" lnSpcReduction="20000"/>
          </a:bodyPr>
          <a:lstStyle/>
          <a:p>
            <a:pPr>
              <a:lnSpc>
                <a:spcPct val="120000"/>
              </a:lnSpc>
            </a:pPr>
            <a:r>
              <a:rPr lang="en-IN" dirty="0"/>
              <a:t>The </a:t>
            </a:r>
            <a:r>
              <a:rPr lang="en-IN" b="1" dirty="0"/>
              <a:t>Software Development Life Cycle (SDLC)</a:t>
            </a:r>
            <a:r>
              <a:rPr lang="en-IN" dirty="0"/>
              <a:t> is a structured process used to </a:t>
            </a:r>
            <a:r>
              <a:rPr lang="en-IN" b="1" dirty="0"/>
              <a:t>plan, design, develop, test, deploy, and maintain software</a:t>
            </a:r>
            <a:r>
              <a:rPr lang="en-IN" dirty="0"/>
              <a:t>. It provides a systematic approach to building software that meets business goals and user requirements.</a:t>
            </a:r>
          </a:p>
          <a:p>
            <a:pPr marL="0" indent="0">
              <a:lnSpc>
                <a:spcPct val="110000"/>
              </a:lnSpc>
              <a:buNone/>
            </a:pPr>
            <a:endParaRPr lang="en-IN" dirty="0"/>
          </a:p>
          <a:p>
            <a:pPr>
              <a:lnSpc>
                <a:spcPct val="120000"/>
              </a:lnSpc>
            </a:pPr>
            <a:r>
              <a:rPr lang="en-IN" b="1" dirty="0"/>
              <a:t>Definition</a:t>
            </a:r>
          </a:p>
          <a:p>
            <a:pPr>
              <a:lnSpc>
                <a:spcPct val="120000"/>
              </a:lnSpc>
            </a:pPr>
            <a:r>
              <a:rPr lang="en-IN" b="1" dirty="0"/>
              <a:t>Software Development Life Cycle (SDLC)</a:t>
            </a:r>
            <a:r>
              <a:rPr lang="en-IN" dirty="0"/>
              <a:t> is a step-by-step process followed by software developers to create high-quality software efficiently and systematically</a:t>
            </a:r>
          </a:p>
          <a:p>
            <a:pPr>
              <a:lnSpc>
                <a:spcPct val="110000"/>
              </a:lnSpc>
            </a:pPr>
            <a:endParaRPr lang="en-IN" dirty="0"/>
          </a:p>
        </p:txBody>
      </p:sp>
    </p:spTree>
    <p:extLst>
      <p:ext uri="{BB962C8B-B14F-4D97-AF65-F5344CB8AC3E}">
        <p14:creationId xmlns:p14="http://schemas.microsoft.com/office/powerpoint/2010/main" val="20106908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36CA7-8744-228F-1D00-C95532EE23F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A329B03-1148-CCEA-C0BD-7562FDA6198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4254567-2B1B-86CE-EACA-E99B41556FE8}"/>
              </a:ext>
            </a:extLst>
          </p:cNvPr>
          <p:cNvPicPr>
            <a:picLocks noChangeAspect="1"/>
          </p:cNvPicPr>
          <p:nvPr/>
        </p:nvPicPr>
        <p:blipFill>
          <a:blip r:embed="rId2"/>
          <a:stretch>
            <a:fillRect/>
          </a:stretch>
        </p:blipFill>
        <p:spPr>
          <a:xfrm>
            <a:off x="620486" y="283029"/>
            <a:ext cx="11179628" cy="5893934"/>
          </a:xfrm>
          <a:prstGeom prst="rect">
            <a:avLst/>
          </a:prstGeom>
        </p:spPr>
      </p:pic>
    </p:spTree>
    <p:extLst>
      <p:ext uri="{BB962C8B-B14F-4D97-AF65-F5344CB8AC3E}">
        <p14:creationId xmlns:p14="http://schemas.microsoft.com/office/powerpoint/2010/main" val="32604429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F41BAC-5B9B-6E6A-AFCD-6A262D40A8AF}"/>
              </a:ext>
            </a:extLst>
          </p:cNvPr>
          <p:cNvSpPr>
            <a:spLocks noGrp="1"/>
          </p:cNvSpPr>
          <p:nvPr>
            <p:ph idx="1"/>
          </p:nvPr>
        </p:nvSpPr>
        <p:spPr>
          <a:xfrm>
            <a:off x="674915" y="573766"/>
            <a:ext cx="10515600" cy="5750833"/>
          </a:xfrm>
        </p:spPr>
        <p:txBody>
          <a:bodyPr/>
          <a:lstStyle/>
          <a:p>
            <a:pPr marL="0" indent="0">
              <a:lnSpc>
                <a:spcPct val="100000"/>
              </a:lnSpc>
              <a:buNone/>
            </a:pPr>
            <a:r>
              <a:rPr lang="en-IN" b="1" dirty="0"/>
              <a:t>Stage 1: Planning &amp; Feasibility Analysis</a:t>
            </a:r>
          </a:p>
          <a:p>
            <a:pPr>
              <a:lnSpc>
                <a:spcPct val="100000"/>
              </a:lnSpc>
            </a:pPr>
            <a:r>
              <a:rPr lang="en-IN" dirty="0"/>
              <a:t>This is the </a:t>
            </a:r>
            <a:r>
              <a:rPr lang="en-IN" b="1" dirty="0"/>
              <a:t>first stage of the Software Development Life Cycle (SDLC)</a:t>
            </a:r>
            <a:r>
              <a:rPr lang="en-IN" dirty="0"/>
              <a:t>. In this stage, the organization decides whether the proposed software project is practical and worth developing.</a:t>
            </a:r>
          </a:p>
          <a:p>
            <a:pPr>
              <a:lnSpc>
                <a:spcPct val="100000"/>
              </a:lnSpc>
            </a:pPr>
            <a:endParaRPr lang="en-IN" dirty="0"/>
          </a:p>
          <a:p>
            <a:pPr>
              <a:lnSpc>
                <a:spcPct val="100000"/>
              </a:lnSpc>
            </a:pPr>
            <a:r>
              <a:rPr lang="en-IN" b="1" dirty="0"/>
              <a:t>Definition</a:t>
            </a:r>
          </a:p>
          <a:p>
            <a:pPr>
              <a:lnSpc>
                <a:spcPct val="100000"/>
              </a:lnSpc>
            </a:pPr>
            <a:r>
              <a:rPr lang="en-IN" b="1" dirty="0"/>
              <a:t>Planning and Feasibility Analysis</a:t>
            </a:r>
            <a:r>
              <a:rPr lang="en-IN" dirty="0"/>
              <a:t> is the process of identifying project goals, estimating resources, cost, time, and </a:t>
            </a:r>
            <a:r>
              <a:rPr lang="en-IN" dirty="0" err="1"/>
              <a:t>analyzing</a:t>
            </a:r>
            <a:r>
              <a:rPr lang="en-IN" dirty="0"/>
              <a:t> whether the project is </a:t>
            </a:r>
            <a:r>
              <a:rPr lang="en-IN" b="1" dirty="0"/>
              <a:t>technically, financially, and operationally feasible</a:t>
            </a:r>
            <a:r>
              <a:rPr lang="en-IN" dirty="0"/>
              <a:t>.</a:t>
            </a:r>
          </a:p>
          <a:p>
            <a:pPr>
              <a:lnSpc>
                <a:spcPct val="100000"/>
              </a:lnSpc>
            </a:pPr>
            <a:endParaRPr lang="en-IN" dirty="0"/>
          </a:p>
        </p:txBody>
      </p:sp>
    </p:spTree>
    <p:extLst>
      <p:ext uri="{BB962C8B-B14F-4D97-AF65-F5344CB8AC3E}">
        <p14:creationId xmlns:p14="http://schemas.microsoft.com/office/powerpoint/2010/main" val="19971751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529C5-6B1A-7099-F03C-9D138CA9D3E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05A8A25-71A5-C42B-DC68-1A438A6CD8B3}"/>
              </a:ext>
            </a:extLst>
          </p:cNvPr>
          <p:cNvPicPr>
            <a:picLocks noGrp="1" noChangeAspect="1"/>
          </p:cNvPicPr>
          <p:nvPr>
            <p:ph idx="1"/>
          </p:nvPr>
        </p:nvPicPr>
        <p:blipFill>
          <a:blip r:embed="rId2"/>
          <a:stretch>
            <a:fillRect/>
          </a:stretch>
        </p:blipFill>
        <p:spPr>
          <a:xfrm>
            <a:off x="1273629" y="1796144"/>
            <a:ext cx="9524999" cy="3886200"/>
          </a:xfrm>
          <a:prstGeom prst="rect">
            <a:avLst/>
          </a:prstGeom>
        </p:spPr>
      </p:pic>
    </p:spTree>
    <p:extLst>
      <p:ext uri="{BB962C8B-B14F-4D97-AF65-F5344CB8AC3E}">
        <p14:creationId xmlns:p14="http://schemas.microsoft.com/office/powerpoint/2010/main" val="36515726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39CB15-3B0F-D6B6-39BC-B08302EC6A74}"/>
              </a:ext>
            </a:extLst>
          </p:cNvPr>
          <p:cNvSpPr>
            <a:spLocks noGrp="1"/>
          </p:cNvSpPr>
          <p:nvPr>
            <p:ph idx="1"/>
          </p:nvPr>
        </p:nvSpPr>
        <p:spPr>
          <a:xfrm>
            <a:off x="838200" y="762000"/>
            <a:ext cx="10515600" cy="5414963"/>
          </a:xfrm>
        </p:spPr>
        <p:txBody>
          <a:bodyPr/>
          <a:lstStyle/>
          <a:p>
            <a:pPr>
              <a:lnSpc>
                <a:spcPct val="100000"/>
              </a:lnSpc>
            </a:pPr>
            <a:r>
              <a:rPr lang="en-IN" b="1" dirty="0"/>
              <a:t>Stage 2: Requirement Specification (SRS)</a:t>
            </a:r>
          </a:p>
          <a:p>
            <a:pPr>
              <a:lnSpc>
                <a:spcPct val="100000"/>
              </a:lnSpc>
            </a:pPr>
            <a:r>
              <a:rPr lang="en-IN" dirty="0"/>
              <a:t>This is the </a:t>
            </a:r>
            <a:r>
              <a:rPr lang="en-IN" b="1" dirty="0"/>
              <a:t>second stage of the Software Development Life Cycle (SDLC)</a:t>
            </a:r>
            <a:r>
              <a:rPr lang="en-IN" dirty="0"/>
              <a:t>. In this stage, all the software requirements are collected, </a:t>
            </a:r>
            <a:r>
              <a:rPr lang="en-IN" dirty="0" err="1"/>
              <a:t>analyzed</a:t>
            </a:r>
            <a:r>
              <a:rPr lang="en-IN" dirty="0"/>
              <a:t>, documented, and approved by the stakeholders.</a:t>
            </a:r>
          </a:p>
          <a:p>
            <a:pPr>
              <a:lnSpc>
                <a:spcPct val="100000"/>
              </a:lnSpc>
            </a:pPr>
            <a:endParaRPr lang="en-IN" dirty="0"/>
          </a:p>
          <a:p>
            <a:pPr>
              <a:lnSpc>
                <a:spcPct val="100000"/>
              </a:lnSpc>
            </a:pPr>
            <a:r>
              <a:rPr lang="en-IN" b="1" dirty="0"/>
              <a:t>Definition</a:t>
            </a:r>
          </a:p>
          <a:p>
            <a:pPr>
              <a:lnSpc>
                <a:spcPct val="100000"/>
              </a:lnSpc>
            </a:pPr>
            <a:r>
              <a:rPr lang="en-IN" b="1" dirty="0"/>
              <a:t>Requirement Specification (SRS)</a:t>
            </a:r>
            <a:r>
              <a:rPr lang="en-IN" dirty="0"/>
              <a:t> is the process of identifying, documenting, and validating all </a:t>
            </a:r>
            <a:r>
              <a:rPr lang="en-IN" b="1" dirty="0"/>
              <a:t>functional and non-functional requirements</a:t>
            </a:r>
            <a:r>
              <a:rPr lang="en-IN" dirty="0"/>
              <a:t> of the software before development begins.</a:t>
            </a:r>
          </a:p>
          <a:p>
            <a:pPr>
              <a:lnSpc>
                <a:spcPct val="100000"/>
              </a:lnSpc>
            </a:pPr>
            <a:endParaRPr lang="en-IN" dirty="0"/>
          </a:p>
        </p:txBody>
      </p:sp>
    </p:spTree>
    <p:extLst>
      <p:ext uri="{BB962C8B-B14F-4D97-AF65-F5344CB8AC3E}">
        <p14:creationId xmlns:p14="http://schemas.microsoft.com/office/powerpoint/2010/main" val="32932888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C5EB5-7C42-E619-1395-EF0CF5A5F71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0AE8470-63B1-7CB1-8481-E1ACCDBD2FAD}"/>
              </a:ext>
            </a:extLst>
          </p:cNvPr>
          <p:cNvPicPr>
            <a:picLocks noGrp="1" noChangeAspect="1"/>
          </p:cNvPicPr>
          <p:nvPr>
            <p:ph idx="1"/>
          </p:nvPr>
        </p:nvPicPr>
        <p:blipFill>
          <a:blip r:embed="rId2"/>
          <a:stretch>
            <a:fillRect/>
          </a:stretch>
        </p:blipFill>
        <p:spPr>
          <a:xfrm>
            <a:off x="2254052" y="2083495"/>
            <a:ext cx="7683895" cy="3835597"/>
          </a:xfrm>
          <a:prstGeom prst="rect">
            <a:avLst/>
          </a:prstGeom>
        </p:spPr>
      </p:pic>
    </p:spTree>
    <p:extLst>
      <p:ext uri="{BB962C8B-B14F-4D97-AF65-F5344CB8AC3E}">
        <p14:creationId xmlns:p14="http://schemas.microsoft.com/office/powerpoint/2010/main" val="3932955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F9499F-CBE1-146D-5A95-248DC68B9E63}"/>
              </a:ext>
            </a:extLst>
          </p:cNvPr>
          <p:cNvSpPr>
            <a:spLocks noGrp="1"/>
          </p:cNvSpPr>
          <p:nvPr>
            <p:ph idx="1"/>
          </p:nvPr>
        </p:nvSpPr>
        <p:spPr>
          <a:xfrm>
            <a:off x="696686" y="900338"/>
            <a:ext cx="10515600" cy="5184775"/>
          </a:xfrm>
        </p:spPr>
        <p:txBody>
          <a:bodyPr>
            <a:normAutofit lnSpcReduction="10000"/>
          </a:bodyPr>
          <a:lstStyle/>
          <a:p>
            <a:pPr marL="0" indent="0">
              <a:lnSpc>
                <a:spcPct val="110000"/>
              </a:lnSpc>
              <a:buNone/>
            </a:pPr>
            <a:r>
              <a:rPr lang="en-IN" b="1" dirty="0"/>
              <a:t>Stage 3: System Design</a:t>
            </a:r>
          </a:p>
          <a:p>
            <a:pPr>
              <a:lnSpc>
                <a:spcPct val="110000"/>
              </a:lnSpc>
            </a:pPr>
            <a:r>
              <a:rPr lang="en-IN" dirty="0"/>
              <a:t>The </a:t>
            </a:r>
            <a:r>
              <a:rPr lang="en-IN" b="1" dirty="0"/>
              <a:t>System Design</a:t>
            </a:r>
            <a:r>
              <a:rPr lang="en-IN" dirty="0"/>
              <a:t> phase is the </a:t>
            </a:r>
            <a:r>
              <a:rPr lang="en-IN" b="1" dirty="0"/>
              <a:t>third stage of the Software Development Life Cycle (SDLC)</a:t>
            </a:r>
            <a:r>
              <a:rPr lang="en-IN" dirty="0"/>
              <a:t>. In this stage, the approved requirements from the </a:t>
            </a:r>
            <a:r>
              <a:rPr lang="en-IN" b="1" dirty="0"/>
              <a:t>SRS document</a:t>
            </a:r>
            <a:r>
              <a:rPr lang="en-IN" dirty="0"/>
              <a:t> are converted into a </a:t>
            </a:r>
            <a:r>
              <a:rPr lang="en-IN" b="1" dirty="0"/>
              <a:t>technical blueprint</a:t>
            </a:r>
            <a:r>
              <a:rPr lang="en-IN" dirty="0"/>
              <a:t> for software development.</a:t>
            </a:r>
          </a:p>
          <a:p>
            <a:pPr>
              <a:lnSpc>
                <a:spcPct val="110000"/>
              </a:lnSpc>
            </a:pPr>
            <a:endParaRPr lang="en-IN" dirty="0"/>
          </a:p>
          <a:p>
            <a:pPr>
              <a:lnSpc>
                <a:spcPct val="110000"/>
              </a:lnSpc>
            </a:pPr>
            <a:r>
              <a:rPr lang="en-IN" dirty="0"/>
              <a:t>Definition:-</a:t>
            </a:r>
          </a:p>
          <a:p>
            <a:pPr>
              <a:lnSpc>
                <a:spcPct val="110000"/>
              </a:lnSpc>
            </a:pPr>
            <a:r>
              <a:rPr lang="en-IN" b="1" dirty="0"/>
              <a:t>System Design</a:t>
            </a:r>
            <a:r>
              <a:rPr lang="en-IN" dirty="0"/>
              <a:t> is the process of creating the architecture and detailed design of the software based on the approved requirements. It defines how the system will be built.</a:t>
            </a:r>
          </a:p>
        </p:txBody>
      </p:sp>
    </p:spTree>
    <p:extLst>
      <p:ext uri="{BB962C8B-B14F-4D97-AF65-F5344CB8AC3E}">
        <p14:creationId xmlns:p14="http://schemas.microsoft.com/office/powerpoint/2010/main" val="24528295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24413-EFB7-AFE2-230F-010C2BA5F44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E5AB7FB-126E-D2DC-75E4-42233E5347CA}"/>
              </a:ext>
            </a:extLst>
          </p:cNvPr>
          <p:cNvPicPr>
            <a:picLocks noGrp="1" noChangeAspect="1"/>
          </p:cNvPicPr>
          <p:nvPr>
            <p:ph idx="1"/>
          </p:nvPr>
        </p:nvPicPr>
        <p:blipFill>
          <a:blip r:embed="rId2"/>
          <a:stretch>
            <a:fillRect/>
          </a:stretch>
        </p:blipFill>
        <p:spPr>
          <a:xfrm>
            <a:off x="1202872" y="2007295"/>
            <a:ext cx="9573986" cy="3533534"/>
          </a:xfrm>
          <a:prstGeom prst="rect">
            <a:avLst/>
          </a:prstGeom>
        </p:spPr>
      </p:pic>
    </p:spTree>
    <p:extLst>
      <p:ext uri="{BB962C8B-B14F-4D97-AF65-F5344CB8AC3E}">
        <p14:creationId xmlns:p14="http://schemas.microsoft.com/office/powerpoint/2010/main" val="14081993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1DFE7-2A37-C1AE-3484-7104EAE79DB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F4B6DAA-80AA-D33B-676A-3C2C6ED815D5}"/>
              </a:ext>
            </a:extLst>
          </p:cNvPr>
          <p:cNvSpPr>
            <a:spLocks noGrp="1"/>
          </p:cNvSpPr>
          <p:nvPr>
            <p:ph idx="1"/>
          </p:nvPr>
        </p:nvSpPr>
        <p:spPr/>
        <p:txBody>
          <a:bodyPr/>
          <a:lstStyle/>
          <a:p>
            <a:pPr marL="0" indent="0">
              <a:buNone/>
            </a:pPr>
            <a:r>
              <a:rPr lang="en-IN" b="1" dirty="0"/>
              <a:t>1. High-Level Design (HLD)</a:t>
            </a:r>
          </a:p>
          <a:p>
            <a:r>
              <a:rPr lang="en-IN" dirty="0"/>
              <a:t>High-Level Design describes the overall structure of the system.</a:t>
            </a:r>
          </a:p>
          <a:p>
            <a:r>
              <a:rPr lang="en-IN" b="1" dirty="0"/>
              <a:t>It includes:</a:t>
            </a:r>
            <a:endParaRPr lang="en-IN" dirty="0"/>
          </a:p>
          <a:p>
            <a:r>
              <a:rPr lang="en-IN" dirty="0"/>
              <a:t>System architecture </a:t>
            </a:r>
          </a:p>
          <a:p>
            <a:r>
              <a:rPr lang="en-IN" dirty="0"/>
              <a:t>Technology stack (programming languages, frameworks, tools) </a:t>
            </a:r>
          </a:p>
          <a:p>
            <a:r>
              <a:rPr lang="en-IN" dirty="0"/>
              <a:t>Database design </a:t>
            </a:r>
          </a:p>
          <a:p>
            <a:r>
              <a:rPr lang="en-IN" dirty="0"/>
              <a:t>Major modules and their interactions</a:t>
            </a:r>
          </a:p>
          <a:p>
            <a:endParaRPr lang="en-IN" dirty="0"/>
          </a:p>
        </p:txBody>
      </p:sp>
    </p:spTree>
    <p:extLst>
      <p:ext uri="{BB962C8B-B14F-4D97-AF65-F5344CB8AC3E}">
        <p14:creationId xmlns:p14="http://schemas.microsoft.com/office/powerpoint/2010/main" val="13139276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C8C9-75A6-A54C-1EB1-3F8C1B3A737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2336146-7585-DC7F-0E95-E567062D4190}"/>
              </a:ext>
            </a:extLst>
          </p:cNvPr>
          <p:cNvSpPr>
            <a:spLocks noGrp="1"/>
          </p:cNvSpPr>
          <p:nvPr>
            <p:ph idx="1"/>
          </p:nvPr>
        </p:nvSpPr>
        <p:spPr/>
        <p:txBody>
          <a:bodyPr>
            <a:normAutofit fontScale="92500"/>
          </a:bodyPr>
          <a:lstStyle/>
          <a:p>
            <a:pPr marL="0" indent="0">
              <a:buNone/>
            </a:pPr>
            <a:r>
              <a:rPr lang="en-IN" b="1" dirty="0"/>
              <a:t>2. Low-Level Design (LLD)</a:t>
            </a:r>
          </a:p>
          <a:p>
            <a:r>
              <a:rPr lang="en-IN" dirty="0"/>
              <a:t>Low-Level Design provides detailed information about each module.</a:t>
            </a:r>
          </a:p>
          <a:p>
            <a:r>
              <a:rPr lang="en-IN" b="1" dirty="0"/>
              <a:t>It includes:</a:t>
            </a:r>
            <a:endParaRPr lang="en-IN" dirty="0"/>
          </a:p>
          <a:p>
            <a:r>
              <a:rPr lang="en-IN" dirty="0"/>
              <a:t>Component logic </a:t>
            </a:r>
          </a:p>
          <a:p>
            <a:r>
              <a:rPr lang="en-IN" dirty="0"/>
              <a:t>APIs (Application Programming Interfaces) </a:t>
            </a:r>
          </a:p>
          <a:p>
            <a:r>
              <a:rPr lang="en-IN" dirty="0"/>
              <a:t>Data structures </a:t>
            </a:r>
          </a:p>
          <a:p>
            <a:r>
              <a:rPr lang="en-IN" dirty="0"/>
              <a:t>Algorithms </a:t>
            </a:r>
          </a:p>
          <a:p>
            <a:r>
              <a:rPr lang="en-IN" dirty="0"/>
              <a:t>Workflows and process flow </a:t>
            </a:r>
          </a:p>
          <a:p>
            <a:r>
              <a:rPr lang="en-IN" dirty="0"/>
              <a:t>Class and sequence diagrams</a:t>
            </a:r>
          </a:p>
          <a:p>
            <a:endParaRPr lang="en-IN" dirty="0"/>
          </a:p>
        </p:txBody>
      </p:sp>
    </p:spTree>
    <p:extLst>
      <p:ext uri="{BB962C8B-B14F-4D97-AF65-F5344CB8AC3E}">
        <p14:creationId xmlns:p14="http://schemas.microsoft.com/office/powerpoint/2010/main" val="19051401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0B8E35-048C-A672-350F-3B9151D4651B}"/>
              </a:ext>
            </a:extLst>
          </p:cNvPr>
          <p:cNvSpPr>
            <a:spLocks noGrp="1"/>
          </p:cNvSpPr>
          <p:nvPr>
            <p:ph idx="1"/>
          </p:nvPr>
        </p:nvSpPr>
        <p:spPr>
          <a:xfrm>
            <a:off x="838200" y="609600"/>
            <a:ext cx="10515600" cy="5567363"/>
          </a:xfrm>
        </p:spPr>
        <p:txBody>
          <a:bodyPr/>
          <a:lstStyle/>
          <a:p>
            <a:pPr marL="0" indent="0">
              <a:lnSpc>
                <a:spcPct val="100000"/>
              </a:lnSpc>
              <a:buNone/>
            </a:pPr>
            <a:r>
              <a:rPr lang="en-IN" b="1" dirty="0"/>
              <a:t>Stage 4: Development (Coding)</a:t>
            </a:r>
          </a:p>
          <a:p>
            <a:pPr>
              <a:lnSpc>
                <a:spcPct val="100000"/>
              </a:lnSpc>
            </a:pPr>
            <a:r>
              <a:rPr lang="en-IN" dirty="0"/>
              <a:t>The </a:t>
            </a:r>
            <a:r>
              <a:rPr lang="en-IN" b="1" dirty="0"/>
              <a:t>Development (Coding)</a:t>
            </a:r>
            <a:r>
              <a:rPr lang="en-IN" dirty="0"/>
              <a:t> phase is the </a:t>
            </a:r>
            <a:r>
              <a:rPr lang="en-IN" b="1" dirty="0"/>
              <a:t>fourth stage of the Software Development Life Cycle (SDLC)</a:t>
            </a:r>
            <a:r>
              <a:rPr lang="en-IN" dirty="0"/>
              <a:t>. In this stage, developers write the actual program code based on the </a:t>
            </a:r>
            <a:r>
              <a:rPr lang="en-IN" b="1" dirty="0"/>
              <a:t>Design Document Specification (DDS)</a:t>
            </a:r>
            <a:r>
              <a:rPr lang="en-IN" dirty="0"/>
              <a:t> created during the design phase.</a:t>
            </a:r>
          </a:p>
          <a:p>
            <a:pPr marL="0" indent="0">
              <a:lnSpc>
                <a:spcPct val="100000"/>
              </a:lnSpc>
              <a:buNone/>
            </a:pPr>
            <a:endParaRPr lang="en-IN" dirty="0"/>
          </a:p>
          <a:p>
            <a:pPr>
              <a:lnSpc>
                <a:spcPct val="100000"/>
              </a:lnSpc>
            </a:pPr>
            <a:r>
              <a:rPr lang="en-IN" b="1" dirty="0"/>
              <a:t>Definition</a:t>
            </a:r>
          </a:p>
          <a:p>
            <a:pPr>
              <a:lnSpc>
                <a:spcPct val="100000"/>
              </a:lnSpc>
            </a:pPr>
            <a:r>
              <a:rPr lang="en-IN" b="1" dirty="0"/>
              <a:t>Development (Coding)</a:t>
            </a:r>
            <a:r>
              <a:rPr lang="en-IN" dirty="0"/>
              <a:t> is the process of converting the software design into executable source code using programming languages and development tools.</a:t>
            </a:r>
          </a:p>
          <a:p>
            <a:pPr>
              <a:lnSpc>
                <a:spcPct val="100000"/>
              </a:lnSpc>
            </a:pPr>
            <a:endParaRPr lang="en-IN" dirty="0"/>
          </a:p>
        </p:txBody>
      </p:sp>
    </p:spTree>
    <p:extLst>
      <p:ext uri="{BB962C8B-B14F-4D97-AF65-F5344CB8AC3E}">
        <p14:creationId xmlns:p14="http://schemas.microsoft.com/office/powerpoint/2010/main" val="16278465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10E14-BC40-043F-94F7-6D12012DCDB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B457294-B655-B832-6527-72E7B744C674}"/>
              </a:ext>
            </a:extLst>
          </p:cNvPr>
          <p:cNvPicPr>
            <a:picLocks noGrp="1" noChangeAspect="1"/>
          </p:cNvPicPr>
          <p:nvPr>
            <p:ph idx="1"/>
          </p:nvPr>
        </p:nvPicPr>
        <p:blipFill>
          <a:blip r:embed="rId3"/>
          <a:stretch>
            <a:fillRect/>
          </a:stretch>
        </p:blipFill>
        <p:spPr>
          <a:xfrm>
            <a:off x="1807028" y="2465418"/>
            <a:ext cx="8022771" cy="3227812"/>
          </a:xfrm>
          <a:prstGeom prst="rect">
            <a:avLst/>
          </a:prstGeom>
        </p:spPr>
      </p:pic>
    </p:spTree>
    <p:extLst>
      <p:ext uri="{BB962C8B-B14F-4D97-AF65-F5344CB8AC3E}">
        <p14:creationId xmlns:p14="http://schemas.microsoft.com/office/powerpoint/2010/main" val="15332984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F4D91F-C203-ECC0-17BD-070671AEB712}"/>
              </a:ext>
            </a:extLst>
          </p:cNvPr>
          <p:cNvSpPr>
            <a:spLocks noGrp="1"/>
          </p:cNvSpPr>
          <p:nvPr>
            <p:ph idx="1"/>
          </p:nvPr>
        </p:nvSpPr>
        <p:spPr>
          <a:xfrm>
            <a:off x="838200" y="1088571"/>
            <a:ext cx="10515600" cy="5088392"/>
          </a:xfrm>
        </p:spPr>
        <p:txBody>
          <a:bodyPr>
            <a:normAutofit/>
          </a:bodyPr>
          <a:lstStyle/>
          <a:p>
            <a:pPr marL="0" indent="0">
              <a:lnSpc>
                <a:spcPct val="100000"/>
              </a:lnSpc>
              <a:buNone/>
            </a:pPr>
            <a:r>
              <a:rPr lang="en-IN" b="1" dirty="0"/>
              <a:t>Stage 5: Testing</a:t>
            </a:r>
          </a:p>
          <a:p>
            <a:pPr>
              <a:lnSpc>
                <a:spcPct val="100000"/>
              </a:lnSpc>
            </a:pPr>
            <a:r>
              <a:rPr lang="en-IN" dirty="0"/>
              <a:t>The </a:t>
            </a:r>
            <a:r>
              <a:rPr lang="en-IN" b="1" dirty="0"/>
              <a:t>Testing</a:t>
            </a:r>
            <a:r>
              <a:rPr lang="en-IN" dirty="0"/>
              <a:t> phase is the </a:t>
            </a:r>
            <a:r>
              <a:rPr lang="en-IN" b="1" dirty="0"/>
              <a:t>fifth stage of the Software Development Life Cycle (SDLC)</a:t>
            </a:r>
            <a:r>
              <a:rPr lang="en-IN" dirty="0"/>
              <a:t>. In this stage, the software is tested to ensure it </a:t>
            </a:r>
            <a:r>
              <a:rPr lang="en-IN" b="1" dirty="0"/>
              <a:t>meets the specified requirements and is free from defects (bugs)</a:t>
            </a:r>
            <a:r>
              <a:rPr lang="en-IN" dirty="0"/>
              <a:t> before being released to users.</a:t>
            </a:r>
          </a:p>
          <a:p>
            <a:pPr>
              <a:lnSpc>
                <a:spcPct val="100000"/>
              </a:lnSpc>
            </a:pPr>
            <a:endParaRPr lang="en-IN" dirty="0"/>
          </a:p>
          <a:p>
            <a:pPr marL="0" indent="0">
              <a:lnSpc>
                <a:spcPct val="100000"/>
              </a:lnSpc>
              <a:buNone/>
            </a:pPr>
            <a:r>
              <a:rPr lang="en-IN" b="1" dirty="0"/>
              <a:t>Definition</a:t>
            </a:r>
          </a:p>
          <a:p>
            <a:pPr>
              <a:lnSpc>
                <a:spcPct val="100000"/>
              </a:lnSpc>
            </a:pPr>
            <a:r>
              <a:rPr lang="en-IN" b="1" dirty="0"/>
              <a:t>Testing</a:t>
            </a:r>
            <a:r>
              <a:rPr lang="en-IN" dirty="0"/>
              <a:t> is the process of verifying and validating the software to ensure it works correctly, meets user requirements, and performs as expected</a:t>
            </a:r>
          </a:p>
          <a:p>
            <a:pPr>
              <a:lnSpc>
                <a:spcPct val="100000"/>
              </a:lnSpc>
            </a:pPr>
            <a:endParaRPr lang="en-IN" dirty="0"/>
          </a:p>
        </p:txBody>
      </p:sp>
    </p:spTree>
    <p:extLst>
      <p:ext uri="{BB962C8B-B14F-4D97-AF65-F5344CB8AC3E}">
        <p14:creationId xmlns:p14="http://schemas.microsoft.com/office/powerpoint/2010/main" val="30340480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665982-50F0-FD36-9EC3-2B3D3057D4DF}"/>
              </a:ext>
            </a:extLst>
          </p:cNvPr>
          <p:cNvSpPr>
            <a:spLocks noGrp="1"/>
          </p:cNvSpPr>
          <p:nvPr>
            <p:ph idx="1"/>
          </p:nvPr>
        </p:nvSpPr>
        <p:spPr>
          <a:xfrm>
            <a:off x="838200" y="664029"/>
            <a:ext cx="10515600" cy="5512934"/>
          </a:xfrm>
        </p:spPr>
        <p:txBody>
          <a:bodyPr/>
          <a:lstStyle/>
          <a:p>
            <a:pPr marL="0" indent="0" fontAlgn="base">
              <a:lnSpc>
                <a:spcPct val="100000"/>
              </a:lnSpc>
              <a:buNone/>
            </a:pPr>
            <a:r>
              <a:rPr lang="en-IN" b="1" dirty="0"/>
              <a:t>Types of Testing include:</a:t>
            </a:r>
          </a:p>
          <a:p>
            <a:pPr marL="0" indent="0" fontAlgn="base">
              <a:lnSpc>
                <a:spcPct val="100000"/>
              </a:lnSpc>
              <a:buNone/>
            </a:pPr>
            <a:endParaRPr lang="en-IN" dirty="0"/>
          </a:p>
          <a:p>
            <a:pPr fontAlgn="base">
              <a:lnSpc>
                <a:spcPct val="100000"/>
              </a:lnSpc>
            </a:pPr>
            <a:r>
              <a:rPr lang="en-IN" b="1" dirty="0"/>
              <a:t>Unit Testing</a:t>
            </a:r>
            <a:r>
              <a:rPr lang="en-IN" dirty="0"/>
              <a:t>: Verifies individual components</a:t>
            </a:r>
          </a:p>
          <a:p>
            <a:pPr fontAlgn="base">
              <a:lnSpc>
                <a:spcPct val="100000"/>
              </a:lnSpc>
            </a:pPr>
            <a:r>
              <a:rPr lang="en-IN" b="1" dirty="0"/>
              <a:t>Integration Testing</a:t>
            </a:r>
            <a:r>
              <a:rPr lang="en-IN" dirty="0"/>
              <a:t>: Ensures modules work together</a:t>
            </a:r>
          </a:p>
          <a:p>
            <a:pPr fontAlgn="base">
              <a:lnSpc>
                <a:spcPct val="100000"/>
              </a:lnSpc>
            </a:pPr>
            <a:r>
              <a:rPr lang="en-IN" b="1" dirty="0"/>
              <a:t>System Testing:</a:t>
            </a:r>
            <a:r>
              <a:rPr lang="en-IN" dirty="0"/>
              <a:t> Validates the complete system</a:t>
            </a:r>
          </a:p>
          <a:p>
            <a:pPr fontAlgn="base">
              <a:lnSpc>
                <a:spcPct val="100000"/>
              </a:lnSpc>
            </a:pPr>
            <a:r>
              <a:rPr lang="en-IN" b="1" dirty="0"/>
              <a:t>User Acceptance Testing (UAT)</a:t>
            </a:r>
            <a:r>
              <a:rPr lang="en-IN" dirty="0"/>
              <a:t>: Confirms business requirements are met.</a:t>
            </a:r>
          </a:p>
          <a:p>
            <a:pPr>
              <a:lnSpc>
                <a:spcPct val="100000"/>
              </a:lnSpc>
            </a:pPr>
            <a:endParaRPr lang="en-IN" dirty="0"/>
          </a:p>
        </p:txBody>
      </p:sp>
    </p:spTree>
    <p:extLst>
      <p:ext uri="{BB962C8B-B14F-4D97-AF65-F5344CB8AC3E}">
        <p14:creationId xmlns:p14="http://schemas.microsoft.com/office/powerpoint/2010/main" val="31937235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B39D44D-B96F-1DA2-5122-A4A7B1E25C0F}"/>
              </a:ext>
            </a:extLst>
          </p:cNvPr>
          <p:cNvPicPr>
            <a:picLocks noGrp="1" noChangeAspect="1"/>
          </p:cNvPicPr>
          <p:nvPr>
            <p:ph idx="1"/>
          </p:nvPr>
        </p:nvPicPr>
        <p:blipFill>
          <a:blip r:embed="rId2"/>
          <a:stretch>
            <a:fillRect/>
          </a:stretch>
        </p:blipFill>
        <p:spPr>
          <a:xfrm>
            <a:off x="2177143" y="1046502"/>
            <a:ext cx="8414657" cy="4351338"/>
          </a:xfrm>
          <a:prstGeom prst="rect">
            <a:avLst/>
          </a:prstGeom>
        </p:spPr>
      </p:pic>
    </p:spTree>
    <p:extLst>
      <p:ext uri="{BB962C8B-B14F-4D97-AF65-F5344CB8AC3E}">
        <p14:creationId xmlns:p14="http://schemas.microsoft.com/office/powerpoint/2010/main" val="40528488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464DE9-329E-88CE-BF48-B16E2AEC18EA}"/>
              </a:ext>
            </a:extLst>
          </p:cNvPr>
          <p:cNvSpPr>
            <a:spLocks noGrp="1"/>
          </p:cNvSpPr>
          <p:nvPr>
            <p:ph idx="1"/>
          </p:nvPr>
        </p:nvSpPr>
        <p:spPr>
          <a:xfrm>
            <a:off x="968829" y="758824"/>
            <a:ext cx="10515600" cy="5228319"/>
          </a:xfrm>
        </p:spPr>
        <p:txBody>
          <a:bodyPr/>
          <a:lstStyle/>
          <a:p>
            <a:pPr marL="0" indent="0">
              <a:lnSpc>
                <a:spcPct val="100000"/>
              </a:lnSpc>
              <a:buNone/>
            </a:pPr>
            <a:r>
              <a:rPr lang="en-IN" b="1" dirty="0"/>
              <a:t>Stage 6: Deployment</a:t>
            </a:r>
          </a:p>
          <a:p>
            <a:pPr>
              <a:lnSpc>
                <a:spcPct val="100000"/>
              </a:lnSpc>
            </a:pPr>
            <a:endParaRPr lang="en-IN" b="1" dirty="0"/>
          </a:p>
          <a:p>
            <a:pPr>
              <a:lnSpc>
                <a:spcPct val="100000"/>
              </a:lnSpc>
            </a:pPr>
            <a:r>
              <a:rPr lang="en-IN" dirty="0"/>
              <a:t>The </a:t>
            </a:r>
            <a:r>
              <a:rPr lang="en-IN" b="1" dirty="0"/>
              <a:t>Deployment</a:t>
            </a:r>
            <a:r>
              <a:rPr lang="en-IN" dirty="0"/>
              <a:t> phase is the </a:t>
            </a:r>
            <a:r>
              <a:rPr lang="en-IN" b="1" dirty="0"/>
              <a:t>sixth stage of the Software Development Life Cycle (SDLC)</a:t>
            </a:r>
            <a:r>
              <a:rPr lang="en-IN" dirty="0"/>
              <a:t>. In this stage, the </a:t>
            </a:r>
            <a:r>
              <a:rPr lang="en-IN" b="1" dirty="0"/>
              <a:t>tested software is released to the production environment</a:t>
            </a:r>
            <a:r>
              <a:rPr lang="en-IN" dirty="0"/>
              <a:t> so that end users can use it.</a:t>
            </a:r>
          </a:p>
          <a:p>
            <a:pPr marL="0" indent="0">
              <a:lnSpc>
                <a:spcPct val="100000"/>
              </a:lnSpc>
              <a:buNone/>
            </a:pPr>
            <a:endParaRPr lang="en-IN" dirty="0"/>
          </a:p>
          <a:p>
            <a:pPr>
              <a:lnSpc>
                <a:spcPct val="100000"/>
              </a:lnSpc>
            </a:pPr>
            <a:r>
              <a:rPr lang="en-IN" b="1" dirty="0"/>
              <a:t>Definition</a:t>
            </a:r>
          </a:p>
          <a:p>
            <a:pPr>
              <a:lnSpc>
                <a:spcPct val="100000"/>
              </a:lnSpc>
            </a:pPr>
            <a:r>
              <a:rPr lang="en-IN" b="1" dirty="0"/>
              <a:t>Deployment</a:t>
            </a:r>
            <a:r>
              <a:rPr lang="en-IN" dirty="0"/>
              <a:t> is the process of installing, configuring, and releasing the software into the production environment for users.</a:t>
            </a:r>
          </a:p>
          <a:p>
            <a:pPr>
              <a:lnSpc>
                <a:spcPct val="100000"/>
              </a:lnSpc>
            </a:pPr>
            <a:endParaRPr lang="en-IN" dirty="0"/>
          </a:p>
        </p:txBody>
      </p:sp>
    </p:spTree>
    <p:extLst>
      <p:ext uri="{BB962C8B-B14F-4D97-AF65-F5344CB8AC3E}">
        <p14:creationId xmlns:p14="http://schemas.microsoft.com/office/powerpoint/2010/main" val="3099192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B62EAC-5498-7320-AE12-8B170397A326}"/>
              </a:ext>
            </a:extLst>
          </p:cNvPr>
          <p:cNvSpPr>
            <a:spLocks noGrp="1"/>
          </p:cNvSpPr>
          <p:nvPr>
            <p:ph idx="1"/>
          </p:nvPr>
        </p:nvSpPr>
        <p:spPr>
          <a:xfrm>
            <a:off x="838200" y="878568"/>
            <a:ext cx="10515600" cy="4351338"/>
          </a:xfrm>
        </p:spPr>
        <p:txBody>
          <a:bodyPr/>
          <a:lstStyle/>
          <a:p>
            <a:pPr marL="0" indent="0">
              <a:lnSpc>
                <a:spcPct val="150000"/>
              </a:lnSpc>
              <a:buNone/>
            </a:pPr>
            <a:r>
              <a:rPr lang="en-IN" b="1" dirty="0"/>
              <a:t>Stage 7: Maintenance</a:t>
            </a:r>
          </a:p>
          <a:p>
            <a:pPr>
              <a:lnSpc>
                <a:spcPct val="150000"/>
              </a:lnSpc>
            </a:pPr>
            <a:r>
              <a:rPr lang="en-IN" dirty="0"/>
              <a:t>The </a:t>
            </a:r>
            <a:r>
              <a:rPr lang="en-IN" b="1" dirty="0"/>
              <a:t>Maintenance</a:t>
            </a:r>
            <a:r>
              <a:rPr lang="en-IN" dirty="0"/>
              <a:t> phase is the </a:t>
            </a:r>
            <a:r>
              <a:rPr lang="en-IN" b="1" dirty="0"/>
              <a:t>final stage of the Software Development Life Cycle (SDLC)</a:t>
            </a:r>
            <a:r>
              <a:rPr lang="en-IN" dirty="0"/>
              <a:t>. After the software is deployed, it is continuously monitored, updated, and improved to ensure it remains reliable, secure, and useful for users.</a:t>
            </a:r>
          </a:p>
          <a:p>
            <a:pPr>
              <a:lnSpc>
                <a:spcPct val="150000"/>
              </a:lnSpc>
            </a:pPr>
            <a:endParaRPr lang="en-IN" dirty="0"/>
          </a:p>
        </p:txBody>
      </p:sp>
    </p:spTree>
    <p:extLst>
      <p:ext uri="{BB962C8B-B14F-4D97-AF65-F5344CB8AC3E}">
        <p14:creationId xmlns:p14="http://schemas.microsoft.com/office/powerpoint/2010/main" val="7967709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63A303-0DA2-1469-ACAC-81D9D66A532C}"/>
              </a:ext>
            </a:extLst>
          </p:cNvPr>
          <p:cNvSpPr>
            <a:spLocks noGrp="1"/>
          </p:cNvSpPr>
          <p:nvPr>
            <p:ph idx="1"/>
          </p:nvPr>
        </p:nvSpPr>
        <p:spPr>
          <a:xfrm>
            <a:off x="838200" y="1273629"/>
            <a:ext cx="10515600" cy="4903334"/>
          </a:xfrm>
        </p:spPr>
        <p:txBody>
          <a:bodyPr/>
          <a:lstStyle/>
          <a:p>
            <a:pPr fontAlgn="base"/>
            <a:r>
              <a:rPr lang="en-IN" b="1" dirty="0"/>
              <a:t>Importance of SDLC</a:t>
            </a:r>
          </a:p>
          <a:p>
            <a:pPr marL="0" indent="0" fontAlgn="base">
              <a:buNone/>
            </a:pPr>
            <a:endParaRPr lang="en-IN" b="1" dirty="0"/>
          </a:p>
          <a:p>
            <a:pPr fontAlgn="base"/>
            <a:r>
              <a:rPr lang="en-IN" dirty="0"/>
              <a:t>Provides a clear and organized development framework.</a:t>
            </a:r>
          </a:p>
          <a:p>
            <a:pPr fontAlgn="base"/>
            <a:r>
              <a:rPr lang="en-IN" dirty="0"/>
              <a:t>Improves planning, cost control, and project management.</a:t>
            </a:r>
          </a:p>
          <a:p>
            <a:pPr fontAlgn="base"/>
            <a:r>
              <a:rPr lang="en-IN" dirty="0"/>
              <a:t>Ensures better quality through defined testing phases.</a:t>
            </a:r>
          </a:p>
          <a:p>
            <a:pPr fontAlgn="base"/>
            <a:r>
              <a:rPr lang="en-IN" dirty="0"/>
              <a:t>Helps deliver software that meets user and business needs</a:t>
            </a:r>
          </a:p>
          <a:p>
            <a:endParaRPr lang="en-IN" dirty="0"/>
          </a:p>
        </p:txBody>
      </p:sp>
    </p:spTree>
    <p:extLst>
      <p:ext uri="{BB962C8B-B14F-4D97-AF65-F5344CB8AC3E}">
        <p14:creationId xmlns:p14="http://schemas.microsoft.com/office/powerpoint/2010/main" val="20584780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324EA-5801-FA47-463A-FA788AB94BD5}"/>
              </a:ext>
            </a:extLst>
          </p:cNvPr>
          <p:cNvSpPr>
            <a:spLocks noGrp="1"/>
          </p:cNvSpPr>
          <p:nvPr>
            <p:ph type="title"/>
          </p:nvPr>
        </p:nvSpPr>
        <p:spPr/>
        <p:txBody>
          <a:bodyPr>
            <a:normAutofit/>
          </a:bodyPr>
          <a:lstStyle/>
          <a:p>
            <a:r>
              <a:rPr lang="en-IN" sz="3200" dirty="0"/>
              <a:t>Example: Online Library Management System</a:t>
            </a:r>
          </a:p>
        </p:txBody>
      </p:sp>
      <p:sp>
        <p:nvSpPr>
          <p:cNvPr id="3" name="Content Placeholder 2">
            <a:extLst>
              <a:ext uri="{FF2B5EF4-FFF2-40B4-BE49-F238E27FC236}">
                <a16:creationId xmlns:a16="http://schemas.microsoft.com/office/drawing/2014/main" id="{11A94783-313C-8391-F332-9B2587858EE6}"/>
              </a:ext>
            </a:extLst>
          </p:cNvPr>
          <p:cNvSpPr>
            <a:spLocks noGrp="1"/>
          </p:cNvSpPr>
          <p:nvPr>
            <p:ph idx="1"/>
          </p:nvPr>
        </p:nvSpPr>
        <p:spPr/>
        <p:txBody>
          <a:bodyPr/>
          <a:lstStyle/>
          <a:p>
            <a:r>
              <a:rPr lang="en-IN" b="1" dirty="0"/>
              <a:t>1. Planning &amp; Feasibility Analysis</a:t>
            </a:r>
          </a:p>
          <a:p>
            <a:r>
              <a:rPr lang="en-IN" dirty="0"/>
              <a:t>The college decides to develop an </a:t>
            </a:r>
            <a:r>
              <a:rPr lang="en-IN" b="1" dirty="0"/>
              <a:t>Online Library Management System</a:t>
            </a:r>
            <a:r>
              <a:rPr lang="en-IN" dirty="0"/>
              <a:t>. </a:t>
            </a:r>
          </a:p>
          <a:p>
            <a:r>
              <a:rPr lang="en-IN" dirty="0"/>
              <a:t>The team checks whether the project is technically, financially, and operationally feasible. </a:t>
            </a:r>
          </a:p>
          <a:p>
            <a:r>
              <a:rPr lang="en-IN" b="1" dirty="0"/>
              <a:t>Output:</a:t>
            </a:r>
            <a:r>
              <a:rPr lang="en-IN" dirty="0"/>
              <a:t> Project plan and feasibility report.</a:t>
            </a:r>
          </a:p>
          <a:p>
            <a:endParaRPr lang="en-IN" dirty="0"/>
          </a:p>
        </p:txBody>
      </p:sp>
    </p:spTree>
    <p:extLst>
      <p:ext uri="{BB962C8B-B14F-4D97-AF65-F5344CB8AC3E}">
        <p14:creationId xmlns:p14="http://schemas.microsoft.com/office/powerpoint/2010/main" val="42146774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07FCA6-4C74-5D30-5C57-DAF96BDEDD49}"/>
              </a:ext>
            </a:extLst>
          </p:cNvPr>
          <p:cNvSpPr>
            <a:spLocks noGrp="1"/>
          </p:cNvSpPr>
          <p:nvPr>
            <p:ph idx="1"/>
          </p:nvPr>
        </p:nvSpPr>
        <p:spPr>
          <a:xfrm>
            <a:off x="838200" y="696686"/>
            <a:ext cx="10515600" cy="5480277"/>
          </a:xfrm>
        </p:spPr>
        <p:txBody>
          <a:bodyPr/>
          <a:lstStyle/>
          <a:p>
            <a:pPr marL="0" indent="0">
              <a:buNone/>
            </a:pPr>
            <a:r>
              <a:rPr lang="en-IN" b="1" dirty="0"/>
              <a:t>2. Requirement Specification (SRS)</a:t>
            </a:r>
          </a:p>
          <a:p>
            <a:r>
              <a:rPr lang="en-IN" dirty="0"/>
              <a:t>Requirements are collected from the librarian, students, and college management. </a:t>
            </a:r>
          </a:p>
          <a:p>
            <a:r>
              <a:rPr lang="en-IN" b="1" dirty="0"/>
              <a:t>Functional Requirements:</a:t>
            </a:r>
            <a:r>
              <a:rPr lang="en-IN" dirty="0"/>
              <a:t> </a:t>
            </a:r>
          </a:p>
          <a:p>
            <a:pPr lvl="1"/>
            <a:r>
              <a:rPr lang="en-IN" dirty="0"/>
              <a:t>User login </a:t>
            </a:r>
          </a:p>
          <a:p>
            <a:pPr lvl="1"/>
            <a:r>
              <a:rPr lang="en-IN" dirty="0"/>
              <a:t>Search books </a:t>
            </a:r>
          </a:p>
          <a:p>
            <a:pPr lvl="1"/>
            <a:r>
              <a:rPr lang="en-IN" dirty="0"/>
              <a:t>Issue and return books </a:t>
            </a:r>
          </a:p>
          <a:p>
            <a:pPr lvl="1"/>
            <a:r>
              <a:rPr lang="en-IN" dirty="0"/>
              <a:t>Fine calculation </a:t>
            </a:r>
          </a:p>
          <a:p>
            <a:r>
              <a:rPr lang="en-IN" b="1" dirty="0"/>
              <a:t>Non-Functional Requirements:</a:t>
            </a:r>
            <a:r>
              <a:rPr lang="en-IN" dirty="0"/>
              <a:t> </a:t>
            </a:r>
          </a:p>
          <a:p>
            <a:pPr lvl="1"/>
            <a:r>
              <a:rPr lang="en-IN" dirty="0"/>
              <a:t>Fast response time </a:t>
            </a:r>
          </a:p>
          <a:p>
            <a:pPr lvl="1"/>
            <a:r>
              <a:rPr lang="en-IN" dirty="0"/>
              <a:t>Secure login </a:t>
            </a:r>
          </a:p>
          <a:p>
            <a:pPr lvl="1"/>
            <a:r>
              <a:rPr lang="en-IN" dirty="0"/>
              <a:t>Easy-to-use interface</a:t>
            </a:r>
          </a:p>
          <a:p>
            <a:endParaRPr lang="en-IN" dirty="0"/>
          </a:p>
        </p:txBody>
      </p:sp>
    </p:spTree>
    <p:extLst>
      <p:ext uri="{BB962C8B-B14F-4D97-AF65-F5344CB8AC3E}">
        <p14:creationId xmlns:p14="http://schemas.microsoft.com/office/powerpoint/2010/main" val="28829215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97BF28-3292-D437-ADE3-D3FDA42587D5}"/>
              </a:ext>
            </a:extLst>
          </p:cNvPr>
          <p:cNvSpPr>
            <a:spLocks noGrp="1"/>
          </p:cNvSpPr>
          <p:nvPr>
            <p:ph idx="1"/>
          </p:nvPr>
        </p:nvSpPr>
        <p:spPr>
          <a:xfrm>
            <a:off x="838200" y="293914"/>
            <a:ext cx="10515600" cy="5883049"/>
          </a:xfrm>
        </p:spPr>
        <p:txBody>
          <a:bodyPr>
            <a:normAutofit/>
          </a:bodyPr>
          <a:lstStyle/>
          <a:p>
            <a:pPr marL="0" indent="0">
              <a:buNone/>
            </a:pPr>
            <a:r>
              <a:rPr lang="en-IN" b="1" dirty="0"/>
              <a:t>3. System Design</a:t>
            </a:r>
          </a:p>
          <a:p>
            <a:r>
              <a:rPr lang="en-IN" dirty="0"/>
              <a:t>The system architecture, database, and modules are designed. </a:t>
            </a:r>
          </a:p>
          <a:p>
            <a:r>
              <a:rPr lang="en-IN" b="1" dirty="0"/>
              <a:t>HLD:</a:t>
            </a:r>
            <a:r>
              <a:rPr lang="en-IN" dirty="0"/>
              <a:t> User Management, Book Management, Issue/Return, Reports. </a:t>
            </a:r>
          </a:p>
          <a:p>
            <a:r>
              <a:rPr lang="en-IN" b="1" dirty="0"/>
              <a:t>LLD:</a:t>
            </a:r>
            <a:r>
              <a:rPr lang="en-IN" dirty="0"/>
              <a:t> Login logic, database tables, APIs, workflows.</a:t>
            </a:r>
          </a:p>
          <a:p>
            <a:pPr marL="0" indent="0">
              <a:buNone/>
            </a:pPr>
            <a:endParaRPr lang="en-IN" dirty="0"/>
          </a:p>
          <a:p>
            <a:pPr marL="0" indent="0">
              <a:buNone/>
            </a:pPr>
            <a:r>
              <a:rPr lang="en-IN" b="1" dirty="0"/>
              <a:t>4. Development (Coding)</a:t>
            </a:r>
          </a:p>
          <a:p>
            <a:r>
              <a:rPr lang="en-IN" dirty="0"/>
              <a:t>Developers write the source code. </a:t>
            </a:r>
          </a:p>
          <a:p>
            <a:r>
              <a:rPr lang="en-IN" dirty="0"/>
              <a:t>Frontend developers create the user interface. </a:t>
            </a:r>
          </a:p>
          <a:p>
            <a:r>
              <a:rPr lang="en-IN" dirty="0"/>
              <a:t>Backend developers develop the database and APIs.</a:t>
            </a:r>
          </a:p>
          <a:p>
            <a:pPr marL="0" indent="0">
              <a:buNone/>
            </a:pPr>
            <a:endParaRPr lang="en-IN" dirty="0"/>
          </a:p>
          <a:p>
            <a:endParaRPr lang="en-IN" dirty="0"/>
          </a:p>
        </p:txBody>
      </p:sp>
    </p:spTree>
    <p:extLst>
      <p:ext uri="{BB962C8B-B14F-4D97-AF65-F5344CB8AC3E}">
        <p14:creationId xmlns:p14="http://schemas.microsoft.com/office/powerpoint/2010/main" val="3357866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5563-5909-8739-DDBC-013ECBBDE637}"/>
              </a:ext>
            </a:extLst>
          </p:cNvPr>
          <p:cNvSpPr>
            <a:spLocks noGrp="1"/>
          </p:cNvSpPr>
          <p:nvPr>
            <p:ph type="title"/>
          </p:nvPr>
        </p:nvSpPr>
        <p:spPr>
          <a:xfrm>
            <a:off x="838200" y="365126"/>
            <a:ext cx="10515600" cy="571046"/>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5646C122-6876-F82A-0DD3-1839600D8E02}"/>
              </a:ext>
            </a:extLst>
          </p:cNvPr>
          <p:cNvSpPr>
            <a:spLocks noGrp="1"/>
          </p:cNvSpPr>
          <p:nvPr>
            <p:ph idx="1"/>
          </p:nvPr>
        </p:nvSpPr>
        <p:spPr/>
        <p:txBody>
          <a:bodyPr/>
          <a:lstStyle/>
          <a:p>
            <a:pPr marL="0" indent="0">
              <a:buNone/>
            </a:pPr>
            <a:r>
              <a:rPr lang="en-IN" b="1" dirty="0"/>
              <a:t>5. Testing</a:t>
            </a:r>
          </a:p>
          <a:p>
            <a:r>
              <a:rPr lang="en-IN" dirty="0"/>
              <a:t>The software is tested for defects. </a:t>
            </a:r>
          </a:p>
          <a:p>
            <a:r>
              <a:rPr lang="en-IN" b="1" dirty="0"/>
              <a:t>Unit Testing:</a:t>
            </a:r>
            <a:r>
              <a:rPr lang="en-IN" dirty="0"/>
              <a:t> Test the login module. </a:t>
            </a:r>
          </a:p>
          <a:p>
            <a:r>
              <a:rPr lang="en-IN" b="1" dirty="0"/>
              <a:t>Integration Testing:</a:t>
            </a:r>
            <a:r>
              <a:rPr lang="en-IN" dirty="0"/>
              <a:t> Check communication between modules. </a:t>
            </a:r>
          </a:p>
          <a:p>
            <a:r>
              <a:rPr lang="en-IN" b="1" dirty="0"/>
              <a:t>System Testing:</a:t>
            </a:r>
            <a:r>
              <a:rPr lang="en-IN" dirty="0"/>
              <a:t> Test the complete library system. </a:t>
            </a:r>
          </a:p>
          <a:p>
            <a:r>
              <a:rPr lang="en-IN" b="1" dirty="0"/>
              <a:t>UAT:</a:t>
            </a:r>
            <a:r>
              <a:rPr lang="en-IN" dirty="0"/>
              <a:t> Librarians and students verify the software.</a:t>
            </a:r>
          </a:p>
          <a:p>
            <a:endParaRPr lang="en-IN" dirty="0"/>
          </a:p>
        </p:txBody>
      </p:sp>
    </p:spTree>
    <p:extLst>
      <p:ext uri="{BB962C8B-B14F-4D97-AF65-F5344CB8AC3E}">
        <p14:creationId xmlns:p14="http://schemas.microsoft.com/office/powerpoint/2010/main" val="14263763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AAE559-F677-C6A5-9D63-FC3DA081C57D}"/>
              </a:ext>
            </a:extLst>
          </p:cNvPr>
          <p:cNvSpPr>
            <a:spLocks noGrp="1"/>
          </p:cNvSpPr>
          <p:nvPr>
            <p:ph idx="1"/>
          </p:nvPr>
        </p:nvSpPr>
        <p:spPr>
          <a:xfrm>
            <a:off x="838200" y="1001486"/>
            <a:ext cx="10515600" cy="5175477"/>
          </a:xfrm>
        </p:spPr>
        <p:txBody>
          <a:bodyPr/>
          <a:lstStyle/>
          <a:p>
            <a:pPr marL="0" indent="0">
              <a:buNone/>
            </a:pPr>
            <a:r>
              <a:rPr lang="en-IN" b="1" dirty="0"/>
              <a:t>6. Deployment</a:t>
            </a:r>
          </a:p>
          <a:p>
            <a:r>
              <a:rPr lang="en-IN" dirty="0"/>
              <a:t>The application is installed on the college server. </a:t>
            </a:r>
          </a:p>
          <a:p>
            <a:r>
              <a:rPr lang="en-IN" dirty="0"/>
              <a:t>Smoke testing ensures the main features work correctly.</a:t>
            </a:r>
          </a:p>
          <a:p>
            <a:pPr marL="0" indent="0">
              <a:buNone/>
            </a:pPr>
            <a:endParaRPr lang="en-IN" dirty="0"/>
          </a:p>
          <a:p>
            <a:pPr marL="0" indent="0">
              <a:buNone/>
            </a:pPr>
            <a:r>
              <a:rPr lang="en-IN" b="1" dirty="0"/>
              <a:t>7. Maintenance</a:t>
            </a:r>
          </a:p>
          <a:p>
            <a:r>
              <a:rPr lang="en-IN" dirty="0"/>
              <a:t>Bugs are fixed after deployment. </a:t>
            </a:r>
          </a:p>
          <a:p>
            <a:r>
              <a:rPr lang="en-IN" dirty="0"/>
              <a:t>New features such as </a:t>
            </a:r>
            <a:r>
              <a:rPr lang="en-IN" b="1" dirty="0"/>
              <a:t>online book reservation</a:t>
            </a:r>
            <a:r>
              <a:rPr lang="en-IN" dirty="0"/>
              <a:t> are added. </a:t>
            </a:r>
          </a:p>
          <a:p>
            <a:r>
              <a:rPr lang="en-IN" dirty="0"/>
              <a:t>Security updates and performance improvements are provided.</a:t>
            </a:r>
          </a:p>
          <a:p>
            <a:pPr marL="0" indent="0">
              <a:buNone/>
            </a:pPr>
            <a:endParaRPr lang="en-IN" dirty="0"/>
          </a:p>
        </p:txBody>
      </p:sp>
    </p:spTree>
    <p:extLst>
      <p:ext uri="{BB962C8B-B14F-4D97-AF65-F5344CB8AC3E}">
        <p14:creationId xmlns:p14="http://schemas.microsoft.com/office/powerpoint/2010/main" val="22868823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DFE428-E029-1555-2926-7B5276D0B17F}"/>
              </a:ext>
            </a:extLst>
          </p:cNvPr>
          <p:cNvSpPr>
            <a:spLocks noGrp="1"/>
          </p:cNvSpPr>
          <p:nvPr>
            <p:ph idx="1"/>
          </p:nvPr>
        </p:nvSpPr>
        <p:spPr>
          <a:xfrm>
            <a:off x="838200" y="805543"/>
            <a:ext cx="10515600" cy="5371420"/>
          </a:xfrm>
        </p:spPr>
        <p:txBody>
          <a:bodyPr/>
          <a:lstStyle/>
          <a:p>
            <a:pPr marL="0" indent="0" fontAlgn="base">
              <a:buNone/>
            </a:pPr>
            <a:r>
              <a:rPr lang="en-IN" b="1" dirty="0"/>
              <a:t>Common Models</a:t>
            </a:r>
          </a:p>
          <a:p>
            <a:pPr marL="0" indent="0" fontAlgn="base">
              <a:buNone/>
            </a:pPr>
            <a:endParaRPr lang="en-IN" b="1" dirty="0"/>
          </a:p>
          <a:p>
            <a:pPr fontAlgn="base"/>
            <a:r>
              <a:rPr lang="en-IN" u="sng" dirty="0">
                <a:hlinkClick r:id="rId2"/>
              </a:rPr>
              <a:t>Waterfall Model</a:t>
            </a:r>
            <a:endParaRPr lang="en-IN" dirty="0"/>
          </a:p>
          <a:p>
            <a:pPr fontAlgn="base"/>
            <a:r>
              <a:rPr lang="en-IN" u="sng" dirty="0">
                <a:hlinkClick r:id="rId3"/>
              </a:rPr>
              <a:t>Agile Model</a:t>
            </a:r>
            <a:endParaRPr lang="en-IN" dirty="0"/>
          </a:p>
          <a:p>
            <a:pPr fontAlgn="base"/>
            <a:r>
              <a:rPr lang="en-IN" u="sng" dirty="0">
                <a:hlinkClick r:id="rId4"/>
              </a:rPr>
              <a:t>V-Model</a:t>
            </a:r>
            <a:endParaRPr lang="en-IN" dirty="0"/>
          </a:p>
          <a:p>
            <a:pPr fontAlgn="base"/>
            <a:r>
              <a:rPr lang="en-IN" u="sng" dirty="0">
                <a:hlinkClick r:id="rId5"/>
              </a:rPr>
              <a:t>Spiral Model</a:t>
            </a:r>
            <a:endParaRPr lang="en-IN" dirty="0"/>
          </a:p>
          <a:p>
            <a:pPr fontAlgn="base"/>
            <a:r>
              <a:rPr lang="en-IN" u="sng" dirty="0">
                <a:hlinkClick r:id="rId6"/>
              </a:rPr>
              <a:t>Incremental Model</a:t>
            </a:r>
            <a:endParaRPr lang="en-IN" dirty="0"/>
          </a:p>
          <a:p>
            <a:pPr fontAlgn="base"/>
            <a:r>
              <a:rPr lang="en-IN" u="sng" dirty="0">
                <a:hlinkClick r:id="rId7"/>
              </a:rPr>
              <a:t>RAD Model</a:t>
            </a:r>
            <a:endParaRPr lang="en-IN" dirty="0"/>
          </a:p>
          <a:p>
            <a:endParaRPr lang="en-IN" dirty="0"/>
          </a:p>
        </p:txBody>
      </p:sp>
    </p:spTree>
    <p:extLst>
      <p:ext uri="{BB962C8B-B14F-4D97-AF65-F5344CB8AC3E}">
        <p14:creationId xmlns:p14="http://schemas.microsoft.com/office/powerpoint/2010/main" val="40519259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3431</TotalTime>
  <Words>3094</Words>
  <Application>Microsoft Office PowerPoint</Application>
  <PresentationFormat>Widescreen</PresentationFormat>
  <Paragraphs>366</Paragraphs>
  <Slides>72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72</vt:i4>
      </vt:variant>
    </vt:vector>
  </HeadingPairs>
  <TitlesOfParts>
    <vt:vector size="76" baseType="lpstr">
      <vt:lpstr>Aptos</vt:lpstr>
      <vt:lpstr>Aptos Display</vt:lpstr>
      <vt:lpstr>Arial</vt:lpstr>
      <vt:lpstr>Office Theme</vt:lpstr>
      <vt:lpstr>Software Engineering</vt:lpstr>
      <vt:lpstr>PowerPoint Presentation</vt:lpstr>
      <vt:lpstr>Software Engineering</vt:lpstr>
      <vt:lpstr>Need of Software Engineering </vt:lpstr>
      <vt:lpstr>PowerPoint Presentation</vt:lpstr>
      <vt:lpstr>PowerPoint Presentation</vt:lpstr>
      <vt:lpstr>PowerPoint Presentation</vt:lpstr>
      <vt:lpstr>Software Crisis and Myths, </vt:lpstr>
      <vt:lpstr>PowerPoint Presentation</vt:lpstr>
      <vt:lpstr>PowerPoint Presentation</vt:lpstr>
      <vt:lpstr>PowerPoint Presentation</vt:lpstr>
      <vt:lpstr>PowerPoint Presentation</vt:lpstr>
      <vt:lpstr>PowerPoint Presentation</vt:lpstr>
      <vt:lpstr>Software Myths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Software Quality Attributes,</vt:lpstr>
      <vt:lpstr>PowerPoint Presentation</vt:lpstr>
      <vt:lpstr>PowerPoint Presentation</vt:lpstr>
      <vt:lpstr>PowerPoint Presentation</vt:lpstr>
      <vt:lpstr>PowerPoint Presentation</vt:lpstr>
      <vt:lpstr>PowerPoint Presentation</vt:lpstr>
      <vt:lpstr>PowerPoint Presentation</vt:lpstr>
      <vt:lpstr>Software Process and development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Software life cycle and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Online Library Management System</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rani korde</dc:creator>
  <cp:lastModifiedBy>rani korde</cp:lastModifiedBy>
  <cp:revision>33</cp:revision>
  <dcterms:created xsi:type="dcterms:W3CDTF">2026-07-15T05:40:56Z</dcterms:created>
  <dcterms:modified xsi:type="dcterms:W3CDTF">2026-07-21T09:57:58Z</dcterms:modified>
</cp:coreProperties>
</file>